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11" r:id="rId4"/>
    <p:sldId id="305" r:id="rId5"/>
    <p:sldId id="306" r:id="rId6"/>
    <p:sldId id="307" r:id="rId7"/>
    <p:sldId id="308" r:id="rId8"/>
    <p:sldId id="304" r:id="rId9"/>
    <p:sldId id="309" r:id="rId10"/>
    <p:sldId id="281" r:id="rId11"/>
    <p:sldId id="310" r:id="rId12"/>
    <p:sldId id="287" r:id="rId13"/>
    <p:sldId id="29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09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Jie" userId="7be6526a-30ba-445c-b3a9-aabf2c8f5828" providerId="ADAL" clId="{DEC740C7-2239-4DCB-A2EC-28D5B021DFB5}"/>
    <pc:docChg chg="modSld">
      <pc:chgData name="Zhao, Jie" userId="7be6526a-30ba-445c-b3a9-aabf2c8f5828" providerId="ADAL" clId="{DEC740C7-2239-4DCB-A2EC-28D5B021DFB5}" dt="2026-02-24T20:37:09.310" v="9" actId="20577"/>
      <pc:docMkLst>
        <pc:docMk/>
      </pc:docMkLst>
      <pc:sldChg chg="modSp mod">
        <pc:chgData name="Zhao, Jie" userId="7be6526a-30ba-445c-b3a9-aabf2c8f5828" providerId="ADAL" clId="{DEC740C7-2239-4DCB-A2EC-28D5B021DFB5}" dt="2026-02-24T20:37:09.310" v="9" actId="20577"/>
        <pc:sldMkLst>
          <pc:docMk/>
          <pc:sldMk cId="2199995263" sldId="256"/>
        </pc:sldMkLst>
        <pc:spChg chg="mod">
          <ac:chgData name="Zhao, Jie" userId="7be6526a-30ba-445c-b3a9-aabf2c8f5828" providerId="ADAL" clId="{DEC740C7-2239-4DCB-A2EC-28D5B021DFB5}" dt="2026-02-24T20:37:09.310" v="9" actId="20577"/>
          <ac:spMkLst>
            <pc:docMk/>
            <pc:sldMk cId="2199995263" sldId="256"/>
            <ac:spMk id="3" creationId="{2C5DF914-4B40-4A23-8AAC-9CFE7F215A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4F02-DFE8-47F5-999D-4D065381BD9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532FC-0C26-41ED-91C4-2A1C58AE2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CFA-34B8-4985-9EBD-3480D5E1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33D6D-E622-4C3B-9F70-ED49553B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9800-BBE3-43F3-954C-1BE89C9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448D-A783-4933-8C87-202B908B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A539E-77FB-4784-8F48-40A6E10C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774-D8FB-4609-AAE6-9DFB9337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C86-19DE-433A-AC72-8E6E8A93B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EAE9-538F-4540-99B2-F94BBB0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FA06-A552-48E9-984C-063D235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B287-478F-4020-BBF4-AE2612E4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5F8E-D378-48F1-982D-606B316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4D5D-2E6F-4291-B1C6-BBFC0323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AFD2-28C6-455D-AE60-B9D7248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756-894F-46FE-B4D3-4C37074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601B-7763-446C-9DC5-9ACF5E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5D5-4A70-4523-8C56-7A2F630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0669-8B6D-4573-A65D-5723BE7B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26AA6-27C3-4956-B4F9-B51F02240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ADE07-F788-4954-AC59-F7BCCAD8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EA43F-F602-40EE-B21F-DC7E68CD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1C2A-9F62-4A54-96AE-3DAD4823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93E4-29D2-4052-9C0C-2B12FB9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864E-EDC6-4F4B-90E2-73414CC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8338-D4D6-46C1-A40B-EBAFA058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6AB0C-3D87-4B28-A144-FBE1D0F6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39F3-6EB4-4B92-AE38-D411C1AA3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005A4-0514-429B-9362-4434E79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49C01-7B53-435D-82F7-A1316279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674F3-601B-4FAC-913E-6356AB82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F530-2DDE-4090-B9BA-4E706FE8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B356-E78B-4416-98FE-2C17AE15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593D8-810C-4035-B5ED-80F9BF0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5571-D054-48D1-8803-ADE847A6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E268-32AF-41F1-B9BF-7644477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81429-1463-423B-A364-3007974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6839-CB05-4AB6-92C3-597FE9B6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436-DB2A-48F1-B027-49BF16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BF08-10D0-4FEE-BD95-9FDFBA2F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EEA-BC06-42DA-89F3-9E0D2161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DFBF-2A0A-4BBC-A7A2-C761EAFD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2EE-DBDF-4DD6-B09C-98EFBA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F9592-0DF4-4888-A204-38DA63D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96FA-1210-4D0E-9505-D51795E0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255D6-880E-44DA-919F-3FCF13B5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7E01-C6FB-46A7-A74A-898E5820E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34C9-0AC3-43C3-A654-3FC0164A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480-0FFC-41C2-88A2-0A21C72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4567-0817-4CF6-BD05-B1BDEA7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9-FC21-406B-B5FA-B60B7DC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6599-23BC-425D-8BD9-EE0D324D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C455-686D-48B4-8DAB-D94E33E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1942-3ED0-4931-A8CE-6D984F83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5B99-3A43-477C-B42A-3C08D02D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3F515-C31F-4273-9268-3D1EF4F6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F6F7-9F34-4BB4-8961-A8EDC9D8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CB1-7397-4C82-89C9-0693FB29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C97-2278-43A9-BE35-0AD6126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34C-7180-46A6-9627-AECEF8D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26403-82E5-42A1-9D17-51FB8924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3246-0D43-4E66-B320-0671607B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5B71-0150-43A3-94BD-2B7D0897C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B579-BE22-4365-9624-3AE1F352F1A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B45D-F9D5-470F-9240-ABDE82EA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5F-DBFF-493F-8D4A-16FE923E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nstruction_set_architecture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syksphinz-self.github.io/riscv-isadoc/#_addi" TargetMode="External"/><Relationship Id="rId2" Type="http://schemas.openxmlformats.org/officeDocument/2006/relationships/hyperlink" Target="https://en.wikipedia.org/wiki/Instruction_set_architectur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34" y="465935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Topic: </a:t>
            </a:r>
            <a:r>
              <a:rPr lang="fr-FR" dirty="0"/>
              <a:t>Memory </a:t>
            </a:r>
            <a:r>
              <a:rPr lang="fr-FR" dirty="0" err="1"/>
              <a:t>Address</a:t>
            </a:r>
            <a:r>
              <a:rPr lang="fr-FR" dirty="0"/>
              <a:t> Translation</a:t>
            </a:r>
            <a:endParaRPr lang="en-US" dirty="0"/>
          </a:p>
          <a:p>
            <a:r>
              <a:rPr lang="en-US" dirty="0"/>
              <a:t>Lecture: Dr. Zhao Jie</a:t>
            </a:r>
          </a:p>
          <a:p>
            <a:r>
              <a:rPr lang="en-US" dirty="0"/>
              <a:t>Date: 02/25/2026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0897-8669-4C6A-9213-A875ED322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7202"/>
            <a:ext cx="996796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9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Reading Assignment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l-PL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apter 15</a:t>
            </a:r>
            <a:endParaRPr lang="pl-PL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00F48-9DB0-08EA-42CE-D4E5E667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9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E8632-DC73-A495-C375-7AD615AD8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BD19-0883-9CC6-C93C-2D48167D5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Agenda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68F55F-021E-5242-CD6E-A91B65C6A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51075"/>
            <a:ext cx="9144000" cy="2221008"/>
          </a:xfrm>
        </p:spPr>
        <p:txBody>
          <a:bodyPr numCol="2">
            <a:noAutofit/>
          </a:bodyPr>
          <a:lstStyle/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Assembling language</a:t>
            </a:r>
          </a:p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ISA</a:t>
            </a:r>
          </a:p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Instruction in memory</a:t>
            </a:r>
          </a:p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Virtual and physical addresses</a:t>
            </a:r>
          </a:p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Base and bound</a:t>
            </a:r>
          </a:p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Address translation</a:t>
            </a:r>
          </a:p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pl-PL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964D0-AE53-45E3-FCB5-EB92F422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47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4785-3527-820B-0915-4AD0800B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2773-BD92-0210-F97C-EC28DC43D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Assumptions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F8FD4-AE56-695E-7588-C47251318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718" y="1577707"/>
            <a:ext cx="10518564" cy="3702585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make memory virtualized, there are three assumptions:</a:t>
            </a:r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Specifically, we will assume for now that the user’s address space must be placed contiguously in physical memory. </a:t>
            </a:r>
          </a:p>
          <a:p>
            <a:pPr lvl="1" algn="l"/>
            <a:endParaRPr lang="en-US" dirty="0"/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We will also assume, for simplicity, that the size of the address space is not too big; specifically, that it is less than the size of physical memory. </a:t>
            </a:r>
          </a:p>
          <a:p>
            <a:pPr lvl="1" algn="l"/>
            <a:endParaRPr lang="en-US" dirty="0"/>
          </a:p>
          <a:p>
            <a:pPr marL="800100" lvl="1" indent="-342900" algn="l">
              <a:buFont typeface="Courier New" panose="02070309020205020404" pitchFamily="49" charset="0"/>
              <a:buChar char="o"/>
            </a:pPr>
            <a:r>
              <a:rPr lang="en-US" dirty="0"/>
              <a:t>Finally, we will also assume that each address space is the same size.</a:t>
            </a:r>
          </a:p>
          <a:p>
            <a:pPr lvl="1" algn="l">
              <a:lnSpc>
                <a:spcPct val="150000"/>
              </a:lnSpc>
            </a:pPr>
            <a:endParaRPr lang="en-US" sz="2400" dirty="0"/>
          </a:p>
          <a:p>
            <a:pPr lvl="1" algn="l">
              <a:lnSpc>
                <a:spcPct val="150000"/>
              </a:lnSpc>
            </a:pPr>
            <a:endParaRPr lang="en-US" sz="2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51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E096-1964-6358-2DAF-883604E71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53C0D-9215-1322-6D29-EE52E6A8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An example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38124-E459-A0BC-EDC5-F1DC2728F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2" y="1399210"/>
            <a:ext cx="10046068" cy="4664946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Consider a simple C function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is compiled as follows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marL="0" lvl="1" algn="l">
              <a:lnSpc>
                <a:spcPct val="150000"/>
              </a:lnSpc>
              <a:spcBef>
                <a:spcPts val="1000"/>
              </a:spcBef>
            </a:pPr>
            <a:endParaRPr lang="en-US" sz="2400" dirty="0"/>
          </a:p>
          <a:p>
            <a:pPr marL="342900" lvl="1" indent="-34290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Notification</a:t>
            </a:r>
          </a:p>
          <a:p>
            <a:pPr marL="457200" lvl="2" algn="l">
              <a:lnSpc>
                <a:spcPct val="150000"/>
              </a:lnSpc>
              <a:spcBef>
                <a:spcPts val="1000"/>
              </a:spcBef>
            </a:pPr>
            <a:r>
              <a:rPr lang="en-US" dirty="0"/>
              <a:t>The number of statements of the program is not the same as the number of instructions. </a:t>
            </a:r>
          </a:p>
          <a:p>
            <a:pPr marL="0" lvl="1" algn="l">
              <a:lnSpc>
                <a:spcPct val="150000"/>
              </a:lnSpc>
              <a:spcBef>
                <a:spcPts val="1000"/>
              </a:spcBef>
            </a:pPr>
            <a:endParaRPr lang="en-US" dirty="0"/>
          </a:p>
          <a:p>
            <a:pPr lvl="1"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D16A89-CD00-FA08-06B1-E02CCB55D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092" y="2052148"/>
            <a:ext cx="1839816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126DFD-82A0-0FEB-C4B5-7110C50E2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705" y="3619486"/>
            <a:ext cx="3316589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9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99D7B-5D0D-7410-0A02-C17C13BE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D709-FDE5-A5B2-12FF-7A1ADCC0E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Instruction set architecture (ISA) [1]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0F19F-979E-CFCE-99C9-DB89B30E3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8619" y="1255534"/>
            <a:ext cx="10046068" cy="4617554"/>
          </a:xfrm>
        </p:spPr>
        <p:txBody>
          <a:bodyPr>
            <a:normAutofit lnSpcReduction="10000"/>
          </a:bodyPr>
          <a:lstStyle/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 instruction set architecture (ISA) is an abstract model that defines the programmable interface of the CPU of a computer, and how software can control a computer.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 general, an ISA defines the instructions, data types, registers, the hardware support for managing main memory,[clarification needed] fundamental features (such as the memory consistency, addressing modes, virtual memory), and the input/output model of the programmable interface.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 instruction set architecture is distinguished from a microarchitecture, which is the set of processor design techniques used, in a particular processor, to implement the instruction set.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E8C43-9BF1-438F-BFEE-3C1A71674375}"/>
              </a:ext>
            </a:extLst>
          </p:cNvPr>
          <p:cNvSpPr txBox="1"/>
          <p:nvPr/>
        </p:nvSpPr>
        <p:spPr>
          <a:xfrm>
            <a:off x="2193552" y="5959522"/>
            <a:ext cx="8502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[1]. </a:t>
            </a:r>
            <a:r>
              <a:rPr lang="en-US" sz="1400" dirty="0">
                <a:hlinkClick r:id="rId2"/>
              </a:rPr>
              <a:t>https://en.wikipedia.org/wiki/Instruction_set_architecture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601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4872E-CCB7-893E-D184-D9CBA9EB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3872-7524-F125-AA3F-58CA4D314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Instruction set architecture example [1,2]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A3570-3598-CBB3-9BB9-527613A6F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8619" y="1180121"/>
            <a:ext cx="10046068" cy="3211834"/>
          </a:xfrm>
        </p:spPr>
        <p:txBody>
          <a:bodyPr>
            <a:normAutofit/>
          </a:bodyPr>
          <a:lstStyle/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Practice: What is the functionality of the following instruction?</a:t>
            </a:r>
          </a:p>
          <a:p>
            <a:pPr lvl="1" algn="l">
              <a:lnSpc>
                <a:spcPct val="150000"/>
              </a:lnSpc>
            </a:pPr>
            <a:endParaRPr lang="en-US" dirty="0">
              <a:solidFill>
                <a:srgbClr val="C00000"/>
              </a:solidFill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  <a:p>
            <a:pPr lvl="1" algn="l">
              <a:lnSpc>
                <a:spcPct val="150000"/>
              </a:lnSpc>
            </a:pPr>
            <a:endParaRPr lang="en-US" dirty="0">
              <a:solidFill>
                <a:srgbClr val="C00000"/>
              </a:solidFill>
            </a:endParaRPr>
          </a:p>
          <a:p>
            <a:pPr lvl="1" algn="l">
              <a:lnSpc>
                <a:spcPct val="150000"/>
              </a:lnSpc>
            </a:pPr>
            <a:endParaRPr lang="en-US" dirty="0">
              <a:solidFill>
                <a:srgbClr val="C00000"/>
              </a:solidFill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Syntax [2]</a:t>
            </a:r>
          </a:p>
          <a:p>
            <a:pPr lvl="1" algn="l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43CD4-FEEA-95DD-4B4C-163E8B225EBB}"/>
              </a:ext>
            </a:extLst>
          </p:cNvPr>
          <p:cNvSpPr txBox="1"/>
          <p:nvPr/>
        </p:nvSpPr>
        <p:spPr>
          <a:xfrm>
            <a:off x="2306674" y="5916424"/>
            <a:ext cx="8502555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[1]. </a:t>
            </a:r>
            <a:r>
              <a:rPr lang="en-US" sz="1400" dirty="0">
                <a:hlinkClick r:id="rId2"/>
              </a:rPr>
              <a:t>https://en.wikipedia.org/wiki/Instruction_set_architecture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[2]. </a:t>
            </a:r>
            <a:r>
              <a:rPr lang="en-US" sz="1400" dirty="0">
                <a:hlinkClick r:id="rId3"/>
              </a:rPr>
              <a:t>https://msyksphinz-self.github.io/riscv-isadoc/#_addi</a:t>
            </a:r>
            <a:r>
              <a:rPr lang="en-US" sz="1400" dirty="0"/>
              <a:t> 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BFA5E7-87B6-7F4B-1592-FA3A4E5E5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830" y="1909046"/>
            <a:ext cx="50800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8537A6-F7C4-D5D1-2553-2D69BC004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0850" y="4959668"/>
            <a:ext cx="10518327" cy="5029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5BB92F-2A01-6D8D-4480-0FB83A46C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338" y="4381569"/>
            <a:ext cx="10391694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47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7147" y="329749"/>
            <a:ext cx="8154084" cy="742228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The example with memory consideration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1" y="1399210"/>
            <a:ext cx="8344647" cy="1971788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example instructions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How to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5D36B2-6133-BC74-41AC-EBB8F66AC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295" y="109182"/>
            <a:ext cx="2100262" cy="6400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3DB8F2-0BE6-72D5-7842-03E40D892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705" y="2149029"/>
            <a:ext cx="3316589" cy="7315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7B8CAA-1F98-2C31-A634-02FD3B469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071" y="6565938"/>
            <a:ext cx="3591559" cy="1828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B080C1-9484-B077-BBD4-BCC68616A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5983" y="3569160"/>
            <a:ext cx="5511802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07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37877-B760-C331-0630-C08D891B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8683-8D76-4D0C-5D38-465765A88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522789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Dynamic Relocation(why so called?)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DDF281A-031C-FB9A-B24F-D0ED6A469DD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89242" y="928398"/>
                <a:ext cx="10518564" cy="5244939"/>
              </a:xfrm>
            </p:spPr>
            <p:txBody>
              <a:bodyPr>
                <a:no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Virtual address 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sz="1800" dirty="0"/>
                  <a:t>Each memory reference generated by the process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Base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sz="1800" dirty="0"/>
                  <a:t>When a program starts running, the OS decides where in physical memory it should be loaded and sets the base register to that value.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Bound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sz="1800" dirty="0"/>
                  <a:t>The bounds register is designed to provide protection. Specifically, the processor will first verify that the memory reference is within bounds to ensure it is legal.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Base and bound – address translation</a:t>
                </a: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𝑝h𝑦𝑠𝑖𝑐𝑎𝑙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𝑎𝑑𝑑𝑟𝑒𝑠𝑠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𝑣𝑖𝑟𝑡𝑢𝑎𝑙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𝑎𝑑𝑑𝑟𝑒𝑠𝑠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𝑏𝑎𝑠𝑒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DDF281A-031C-FB9A-B24F-D0ED6A469D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89242" y="928398"/>
                <a:ext cx="10518564" cy="5244939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228052B-8595-9A4D-AB21-BC5EC75D6B84}"/>
              </a:ext>
            </a:extLst>
          </p:cNvPr>
          <p:cNvSpPr/>
          <p:nvPr/>
        </p:nvSpPr>
        <p:spPr>
          <a:xfrm>
            <a:off x="3885063" y="5531893"/>
            <a:ext cx="4549253" cy="2820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36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Address Translation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C5DF914-4B40-4A23-8AAC-9CFE7F215AC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03524" y="1321552"/>
                <a:ext cx="6469381" cy="3587093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example instruction 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example of base</a:t>
                </a:r>
              </a:p>
              <a:p>
                <a:pPr lvl="1"/>
                <a:r>
                  <a:rPr lang="en-US" sz="1800" dirty="0"/>
                  <a:t>32 KB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/>
                  <a:t>The example of Bound</a:t>
                </a:r>
                <a:endParaRPr lang="en-US" sz="2000" dirty="0"/>
              </a:p>
              <a:p>
                <a:pPr lvl="1"/>
                <a:r>
                  <a:rPr lang="en-US" sz="1800" dirty="0"/>
                  <a:t>16 KB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Physical address</a:t>
                </a: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128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+32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𝐾𝐵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(32768 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C5DF914-4B40-4A23-8AAC-9CFE7F215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03524" y="1321552"/>
                <a:ext cx="6469381" cy="3587093"/>
              </a:xfrm>
              <a:blipFill>
                <a:blip r:embed="rId2"/>
                <a:stretch>
                  <a:fillRect l="-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A6BD919-C908-E8EC-1999-49B5FB69B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589" y="2006281"/>
            <a:ext cx="2055988" cy="320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7EFD8E-035B-A93B-4098-0F77BAAED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4380" y="133828"/>
            <a:ext cx="2100262" cy="6400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AB7080-36D4-868C-B666-6E385F383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905" y="6546567"/>
            <a:ext cx="5070770" cy="2286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D5AFBE-B87B-CB72-8812-F3F10230014F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9665577" y="239697"/>
            <a:ext cx="912167" cy="336678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7B481D-12D8-28BC-6B3D-EF0691CB4C7F}"/>
              </a:ext>
            </a:extLst>
          </p:cNvPr>
          <p:cNvCxnSpPr/>
          <p:nvPr/>
        </p:nvCxnSpPr>
        <p:spPr>
          <a:xfrm flipH="1" flipV="1">
            <a:off x="9494668" y="4447713"/>
            <a:ext cx="1096392" cy="19042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2C7047E-F3C1-BBB2-0ECC-918DF7372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8218" y="1411365"/>
            <a:ext cx="313754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05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B09E3-E038-E3F2-B7C5-D153E99F3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F492D-721D-60CF-2581-302D0FE61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Address Translation - 2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7E824-8632-71DA-F806-B82C8D68A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405" y="1477441"/>
            <a:ext cx="6469381" cy="487453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Practice: Given the dialog on the right, what are the physical addresses for the following two instructions? (Before calculation, please decide the base and bound first. 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Example 1: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Example 2: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Example 3:             </a:t>
            </a:r>
            <a:r>
              <a:rPr lang="en-US" sz="1800" dirty="0"/>
              <a:t>VA: 16,500 (B)</a:t>
            </a:r>
          </a:p>
          <a:p>
            <a:pPr algn="l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5A76B6-C704-C9A7-15E9-04931B4CC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589" y="2006281"/>
            <a:ext cx="2055988" cy="320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A944B3-F608-60BC-53EE-2CEAA0F48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380" y="133828"/>
            <a:ext cx="2100262" cy="6400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12B391-5EA7-850A-F6D5-153814C42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905" y="6546567"/>
            <a:ext cx="5070770" cy="2286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4607E4-1BE9-584B-02E6-31AA059826B8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9665577" y="239697"/>
            <a:ext cx="912167" cy="336678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BE997EB-8A20-D721-9754-907CB04DCD00}"/>
              </a:ext>
            </a:extLst>
          </p:cNvPr>
          <p:cNvCxnSpPr/>
          <p:nvPr/>
        </p:nvCxnSpPr>
        <p:spPr>
          <a:xfrm flipH="1" flipV="1">
            <a:off x="9494668" y="4447713"/>
            <a:ext cx="1096392" cy="19042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79E15E4-58CF-10B9-41B1-DAF26BF44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2318" y="3569055"/>
            <a:ext cx="3117282" cy="228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F79483-9DA2-93BF-D030-F214F8467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6960" y="4246181"/>
            <a:ext cx="3047997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26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801" y="317597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Role of hardware in translation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7815" y="1617625"/>
            <a:ext cx="10601726" cy="2817897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CPU provides the privileged mode of execution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Instruction set has the privileged instructions to set translation information (e.g., base, bound)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Hardware(MMU) uses this information to perform translation on every memory access.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MMU generates faults and traps to the OS when access is illegal. (e.g., VA is out of bound)</a:t>
            </a:r>
          </a:p>
          <a:p>
            <a:pPr lvl="1"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algn="l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411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Role of OS in translation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1363096"/>
            <a:ext cx="9391836" cy="3627436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OS maintains a free list of memory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Allocates space to process during creation(and when asked) and cleans up when done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Maintains information on where space is allocated to each process (in PCB)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Set address translation information (e.g., base &amp; bound) in hardware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Updates this information upon a context switch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Handle traps due to illegal memory access</a:t>
            </a:r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algn="l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4639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662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Reading Assignment</vt:lpstr>
      <vt:lpstr>Agenda</vt:lpstr>
      <vt:lpstr>Assumptions</vt:lpstr>
      <vt:lpstr>An example </vt:lpstr>
      <vt:lpstr>Instruction set architecture (ISA) [1]</vt:lpstr>
      <vt:lpstr>Instruction set architecture example [1,2]</vt:lpstr>
      <vt:lpstr>The example with memory consideration</vt:lpstr>
      <vt:lpstr>Dynamic Relocation(why so called?)</vt:lpstr>
      <vt:lpstr>Address Translation - 1</vt:lpstr>
      <vt:lpstr>Address Translation - 2</vt:lpstr>
      <vt:lpstr>Role of hardware in translation</vt:lpstr>
      <vt:lpstr>Role of OS in translation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Zhao</dc:creator>
  <cp:lastModifiedBy>Zhao, Jie</cp:lastModifiedBy>
  <cp:revision>7</cp:revision>
  <dcterms:created xsi:type="dcterms:W3CDTF">2023-08-19T20:44:10Z</dcterms:created>
  <dcterms:modified xsi:type="dcterms:W3CDTF">2026-02-24T20:37:18Z</dcterms:modified>
</cp:coreProperties>
</file>