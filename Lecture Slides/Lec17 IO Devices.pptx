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60" r:id="rId4"/>
    <p:sldId id="322" r:id="rId5"/>
    <p:sldId id="349" r:id="rId6"/>
    <p:sldId id="350" r:id="rId7"/>
    <p:sldId id="351" r:id="rId8"/>
    <p:sldId id="359" r:id="rId9"/>
    <p:sldId id="353" r:id="rId10"/>
    <p:sldId id="354" r:id="rId11"/>
    <p:sldId id="355" r:id="rId12"/>
    <p:sldId id="356" r:id="rId13"/>
    <p:sldId id="357" r:id="rId14"/>
    <p:sldId id="3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9" autoAdjust="0"/>
    <p:restoredTop sz="77123" autoAdjust="0"/>
  </p:normalViewPr>
  <p:slideViewPr>
    <p:cSldViewPr snapToGrid="0">
      <p:cViewPr varScale="1">
        <p:scale>
          <a:sx n="64" d="100"/>
          <a:sy n="64" d="100"/>
        </p:scale>
        <p:origin x="98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custSel modSld">
      <pc:chgData name="Zhao, Jie" userId="7be6526a-30ba-445c-b3a9-aabf2c8f5828" providerId="ADAL" clId="{DEC740C7-2239-4DCB-A2EC-28D5B021DFB5}" dt="2026-04-19T18:55:49.332" v="1117" actId="20577"/>
      <pc:docMkLst>
        <pc:docMk/>
      </pc:docMkLst>
      <pc:sldChg chg="modSp mod">
        <pc:chgData name="Zhao, Jie" userId="7be6526a-30ba-445c-b3a9-aabf2c8f5828" providerId="ADAL" clId="{DEC740C7-2239-4DCB-A2EC-28D5B021DFB5}" dt="2026-04-19T18:55:49.332" v="1117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4-19T18:55:49.332" v="1117" actId="20577"/>
          <ac:spMkLst>
            <pc:docMk/>
            <pc:sldMk cId="2199995263" sldId="256"/>
            <ac:spMk id="3" creationId="{2C5DF914-4B40-4A23-8AAC-9CFE7F215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understand the difference between polling and interruption, let me take an example. If </a:t>
            </a:r>
            <a:r>
              <a:rPr lang="en-US" dirty="0" err="1"/>
              <a:t>stu</a:t>
            </a:r>
            <a:r>
              <a:rPr lang="en-US" dirty="0"/>
              <a:t> A wants to use the study room that </a:t>
            </a:r>
            <a:r>
              <a:rPr lang="en-US" dirty="0" err="1"/>
              <a:t>stu</a:t>
            </a:r>
            <a:r>
              <a:rPr lang="en-US" dirty="0"/>
              <a:t> B has been using now. Polling means </a:t>
            </a:r>
            <a:r>
              <a:rPr lang="en-US" dirty="0" err="1"/>
              <a:t>stu</a:t>
            </a:r>
            <a:r>
              <a:rPr lang="en-US" dirty="0"/>
              <a:t> A will check the use of the study room from time to time, and the interruption means </a:t>
            </a:r>
            <a:r>
              <a:rPr lang="en-US" dirty="0" err="1"/>
              <a:t>stu</a:t>
            </a:r>
            <a:r>
              <a:rPr lang="en-US" dirty="0"/>
              <a:t> A will request the use of the study room, and he or she will get response </a:t>
            </a:r>
            <a:r>
              <a:rPr lang="en-US"/>
              <a:t>when it </a:t>
            </a:r>
            <a:r>
              <a:rPr lang="en-US" dirty="0"/>
              <a:t>is ready. The interruption allows </a:t>
            </a:r>
            <a:r>
              <a:rPr lang="en-US" dirty="0" err="1"/>
              <a:t>stu</a:t>
            </a:r>
            <a:r>
              <a:rPr lang="en-US" dirty="0"/>
              <a:t> A can do other tasks while waiting for the use of the study room and this is efficient work for </a:t>
            </a:r>
            <a:r>
              <a:rPr lang="en-US" dirty="0" err="1"/>
              <a:t>stu</a:t>
            </a:r>
            <a:r>
              <a:rPr lang="en-US" dirty="0"/>
              <a:t> 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41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IO Devices</a:t>
            </a:r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</a:t>
            </a:r>
            <a:r>
              <a:rPr lang="en-US"/>
              <a:t>: 04/20/2026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Chapters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36</a:t>
            </a:r>
            <a:endParaRPr lang="pl-PL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0F48-9DB0-08EA-42CE-D4E5E667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9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1974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Agenda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8261" y="2305678"/>
            <a:ext cx="7035478" cy="2792971"/>
          </a:xfrm>
        </p:spPr>
        <p:txBody>
          <a:bodyPr>
            <a:normAutofit/>
          </a:bodyPr>
          <a:lstStyle/>
          <a:p>
            <a:pPr marL="342900" marR="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ea typeface="DengXian" panose="02010600030101010101" pitchFamily="2" charset="-122"/>
              </a:rPr>
              <a:t>Combination of interface and internal</a:t>
            </a:r>
          </a:p>
          <a:p>
            <a:pPr marL="342900" marR="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ea typeface="DengXian" panose="02010600030101010101" pitchFamily="2" charset="-122"/>
              </a:rPr>
              <a:t>Lowering CPU overhead with interrupts </a:t>
            </a:r>
          </a:p>
          <a:p>
            <a:pPr marL="342900" marR="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ea typeface="DengXian" panose="02010600030101010101" pitchFamily="2" charset="-122"/>
              </a:rPr>
              <a:t>Case Study - a simple IDE disk driver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0F48-9DB0-08EA-42CE-D4E5E667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45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Traditional system architecture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953586"/>
            <a:ext cx="10096859" cy="107777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Principle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Components that demand high performance (like the graphics card) are nearer the CPU.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9D99CD-4EC5-07AE-75AF-5ECCD0E7D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00" y="2127687"/>
            <a:ext cx="497319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591027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Traditional system architecture - 2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617922"/>
            <a:ext cx="10096859" cy="149446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Principle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The graphics card directly communicates with the CPU. The CPU use I/O chips to communicate with other I/O devices.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9E8F3-276B-8F13-ED70-3131C2273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299" y="2245489"/>
            <a:ext cx="4887402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32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A canonical device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918862"/>
            <a:ext cx="10096859" cy="1754889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Combination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Interface/protocol: software, like UI, to communicate with the external.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Internal: hardware to implement functionality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0FD77-27B0-D5A5-8D57-62B09BED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157" y="3007360"/>
            <a:ext cx="712934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7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A canonical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918862"/>
            <a:ext cx="10096859" cy="541249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Combination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State: Register, which can be read to see the current status of the device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Data: Register to read from or write to the device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Command: Register to tell the device to perform a task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Implementation (by polling)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3078EB-C21B-24C4-CD55-7319239A5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675" y="4010615"/>
            <a:ext cx="7214650" cy="1828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1881A2-4CF8-9EBC-C920-8EBC745775D6}"/>
              </a:ext>
            </a:extLst>
          </p:cNvPr>
          <p:cNvSpPr/>
          <p:nvPr/>
        </p:nvSpPr>
        <p:spPr>
          <a:xfrm>
            <a:off x="2320724" y="3819646"/>
            <a:ext cx="7598780" cy="2210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59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608389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Lowering CPU overhead with interrupts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722096"/>
            <a:ext cx="10096859" cy="602087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Polling: Repeatedly read the state register until the device is ready to receive a command.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Implementation (by polling)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Check the device state by polling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Send the data to the data register.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Write the command to the command register.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Wait for the complement by polling.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Implementation (by interrupt)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A hardware interrupt will be raised. 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The calling process will go to sleep.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The context switch works to another task.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Comparison and Contrast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Polling is inefficient. So, the interrupt is proposed.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53265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271289"/>
            <a:ext cx="10452740" cy="602601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Lowering CPU overhead with interrupts - 2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073" y="908611"/>
            <a:ext cx="10096859" cy="532435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Compare using polling or interrupt; which one is more efficient?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r">
              <a:lnSpc>
                <a:spcPct val="100000"/>
              </a:lnSpc>
            </a:pPr>
            <a:r>
              <a:rPr lang="en-US" sz="2000" dirty="0"/>
              <a:t>P: polling/spins</a:t>
            </a:r>
          </a:p>
          <a:p>
            <a:pPr algn="r">
              <a:lnSpc>
                <a:spcPct val="100000"/>
              </a:lnSpc>
            </a:pPr>
            <a:r>
              <a:rPr lang="en-US" sz="2000" dirty="0"/>
              <a:t>1: Process 1</a:t>
            </a:r>
          </a:p>
          <a:p>
            <a:pPr algn="r">
              <a:lnSpc>
                <a:spcPct val="100000"/>
              </a:lnSpc>
            </a:pPr>
            <a:r>
              <a:rPr lang="en-US" sz="2000" dirty="0"/>
              <a:t>2: Process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122A1-154D-A858-7856-4DA6B96F7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857" y="1713413"/>
            <a:ext cx="9153938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9A7ED7-65A6-C920-6FCB-84EA77A57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16" y="3366549"/>
            <a:ext cx="945642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50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43967"/>
            <a:ext cx="10452740" cy="602601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More efficient data movement with DMA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570" y="667092"/>
            <a:ext cx="10096859" cy="182880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DMA (Direct Memory Access)</a:t>
            </a:r>
          </a:p>
          <a:p>
            <a:pPr lvl="1" algn="l">
              <a:lnSpc>
                <a:spcPct val="100000"/>
              </a:lnSpc>
            </a:pPr>
            <a:r>
              <a:rPr lang="en-US" dirty="0"/>
              <a:t>A device allows data to be accessed between the device and the main memory without the CPU intervention. 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Compare with/without using the DMA; which one is more efficient?</a:t>
            </a:r>
          </a:p>
          <a:p>
            <a:pPr algn="l">
              <a:lnSpc>
                <a:spcPct val="10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C7793-9991-D007-847D-358750224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033" y="2963117"/>
            <a:ext cx="7353594" cy="109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81FF6E-2725-05CA-D2C8-1A918DC90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014" y="4176912"/>
            <a:ext cx="7409632" cy="1645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B91259-092C-E72B-E3CE-BC89B5363F04}"/>
              </a:ext>
            </a:extLst>
          </p:cNvPr>
          <p:cNvSpPr txBox="1"/>
          <p:nvPr/>
        </p:nvSpPr>
        <p:spPr>
          <a:xfrm>
            <a:off x="10075762" y="5497975"/>
            <a:ext cx="97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C: CPU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FF5B4-8AE6-7BE5-12DD-49DE0234BC63}"/>
              </a:ext>
            </a:extLst>
          </p:cNvPr>
          <p:cNvSpPr txBox="1"/>
          <p:nvPr/>
        </p:nvSpPr>
        <p:spPr>
          <a:xfrm>
            <a:off x="10075761" y="5867307"/>
            <a:ext cx="159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1&amp;2: Processes</a:t>
            </a:r>
          </a:p>
        </p:txBody>
      </p:sp>
    </p:spTree>
    <p:extLst>
      <p:ext uri="{BB962C8B-B14F-4D97-AF65-F5344CB8AC3E}">
        <p14:creationId xmlns:p14="http://schemas.microsoft.com/office/powerpoint/2010/main" val="20034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427547"/>
            <a:ext cx="10452740" cy="602601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Fitting into the OS: the device driver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073" y="1145891"/>
            <a:ext cx="10392013" cy="159152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Device driver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OS interacts with different devices and uses a general protocol, abstraction.</a:t>
            </a:r>
          </a:p>
          <a:p>
            <a:pPr marL="800100" lvl="1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device driver, a piece of software in the OS, specifies interaction with different devices.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4051A-0022-E326-3C67-15687151D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05" y="2873032"/>
            <a:ext cx="68008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30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427547"/>
            <a:ext cx="10452740" cy="602601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Case Study: a simple IDE disk driver 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073" y="1145891"/>
            <a:ext cx="10392013" cy="602601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Example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4FB8D-9BB7-86D7-FF46-67D6E0103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90" y="1215341"/>
            <a:ext cx="688968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54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427547"/>
            <a:ext cx="10452740" cy="602601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Case Study: a simple IDE disk driver </a:t>
            </a:r>
            <a:r>
              <a:rPr lang="en-US" sz="4200">
                <a:solidFill>
                  <a:srgbClr val="C00000"/>
                </a:solidFill>
              </a:rPr>
              <a:t>- 2</a:t>
            </a:r>
            <a:endParaRPr lang="en-US" sz="4200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073" y="1145891"/>
            <a:ext cx="10392013" cy="4844008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Implementation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Waiting for the driver to be ready. Read the Status register(0x1F7).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Write parameters to command registers, including the sector count, logical block address(LBA), and driver number.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Start the I/O. Write READ/WRITE command to command register(0x1F7)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Data transfer (for writes). Wait until the drive status is READY and DRQ(drive request data); write the data to the data port.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Handle interrupts. Remember, interrupts help boost CPU capability.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Error handling. After running, check the status register.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22615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99082"/>
            <a:ext cx="9755080" cy="737510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The xv6 IDE disk driver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EF623-1318-1983-8592-3A33F47F4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56" y="1244279"/>
            <a:ext cx="5132515" cy="29606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EF1D37-A25D-4062-531F-714DB64E2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822" y="1244279"/>
            <a:ext cx="5801286" cy="4572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40829A-6396-1E46-2B24-693E9127C0EC}"/>
              </a:ext>
            </a:extLst>
          </p:cNvPr>
          <p:cNvSpPr/>
          <p:nvPr/>
        </p:nvSpPr>
        <p:spPr>
          <a:xfrm>
            <a:off x="133109" y="1111170"/>
            <a:ext cx="11840901" cy="50812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5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621</Words>
  <Application>Microsoft Office PowerPoint</Application>
  <PresentationFormat>Widescreen</PresentationFormat>
  <Paragraphs>84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Reading Assignment</vt:lpstr>
      <vt:lpstr>Agenda</vt:lpstr>
      <vt:lpstr>Traditional system architecture - 1</vt:lpstr>
      <vt:lpstr>Traditional system architecture - 2</vt:lpstr>
      <vt:lpstr>A canonical device</vt:lpstr>
      <vt:lpstr>A canonical protocol</vt:lpstr>
      <vt:lpstr>Lowering CPU overhead with interrupts - 1</vt:lpstr>
      <vt:lpstr>Lowering CPU overhead with interrupts - 2</vt:lpstr>
      <vt:lpstr>More efficient data movement with DMA</vt:lpstr>
      <vt:lpstr>Fitting into the OS: the device driver</vt:lpstr>
      <vt:lpstr>Case Study: a simple IDE disk driver -1</vt:lpstr>
      <vt:lpstr>Case Study: a simple IDE disk driver - 2</vt:lpstr>
      <vt:lpstr>The xv6 IDE disk driver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7</cp:revision>
  <dcterms:created xsi:type="dcterms:W3CDTF">2023-08-19T20:44:10Z</dcterms:created>
  <dcterms:modified xsi:type="dcterms:W3CDTF">2026-04-19T18:55:50Z</dcterms:modified>
</cp:coreProperties>
</file>