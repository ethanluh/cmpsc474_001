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0"/>
  </p:notesMasterIdLst>
  <p:sldIdLst>
    <p:sldId id="256" r:id="rId2"/>
    <p:sldId id="257" r:id="rId3"/>
    <p:sldId id="305" r:id="rId4"/>
    <p:sldId id="285" r:id="rId5"/>
    <p:sldId id="300" r:id="rId6"/>
    <p:sldId id="301" r:id="rId7"/>
    <p:sldId id="302" r:id="rId8"/>
    <p:sldId id="303" r:id="rId9"/>
    <p:sldId id="304" r:id="rId10"/>
    <p:sldId id="293" r:id="rId11"/>
    <p:sldId id="287" r:id="rId12"/>
    <p:sldId id="290" r:id="rId13"/>
    <p:sldId id="296" r:id="rId14"/>
    <p:sldId id="306" r:id="rId15"/>
    <p:sldId id="295" r:id="rId16"/>
    <p:sldId id="297" r:id="rId17"/>
    <p:sldId id="298" r:id="rId18"/>
    <p:sldId id="299"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014" autoAdjust="0"/>
    <p:restoredTop sz="80965" autoAdjust="0"/>
  </p:normalViewPr>
  <p:slideViewPr>
    <p:cSldViewPr snapToGrid="0">
      <p:cViewPr varScale="1">
        <p:scale>
          <a:sx n="68" d="100"/>
          <a:sy n="68" d="100"/>
        </p:scale>
        <p:origin x="818" y="2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Zhao, Jie" userId="7be6526a-30ba-445c-b3a9-aabf2c8f5828" providerId="ADAL" clId="{DEC740C7-2239-4DCB-A2EC-28D5B021DFB5}"/>
    <pc:docChg chg="modSld">
      <pc:chgData name="Zhao, Jie" userId="7be6526a-30ba-445c-b3a9-aabf2c8f5828" providerId="ADAL" clId="{DEC740C7-2239-4DCB-A2EC-28D5B021DFB5}" dt="2026-01-31T19:18:51.337" v="5" actId="20577"/>
      <pc:docMkLst>
        <pc:docMk/>
      </pc:docMkLst>
      <pc:sldChg chg="modSp mod">
        <pc:chgData name="Zhao, Jie" userId="7be6526a-30ba-445c-b3a9-aabf2c8f5828" providerId="ADAL" clId="{DEC740C7-2239-4DCB-A2EC-28D5B021DFB5}" dt="2026-01-31T19:18:51.337" v="5" actId="20577"/>
        <pc:sldMkLst>
          <pc:docMk/>
          <pc:sldMk cId="2199995263" sldId="256"/>
        </pc:sldMkLst>
        <pc:spChg chg="mod">
          <ac:chgData name="Zhao, Jie" userId="7be6526a-30ba-445c-b3a9-aabf2c8f5828" providerId="ADAL" clId="{DEC740C7-2239-4DCB-A2EC-28D5B021DFB5}" dt="2026-01-31T19:18:51.337" v="5" actId="20577"/>
          <ac:spMkLst>
            <pc:docMk/>
            <pc:sldMk cId="2199995263" sldId="256"/>
            <ac:spMk id="3" creationId="{2C5DF914-4B40-4A23-8AAC-9CFE7F215ACD}"/>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AE94F02-DFE8-47F5-999D-4D065381BD97}" type="datetimeFigureOut">
              <a:rPr lang="en-US" smtClean="0"/>
              <a:t>1/31/2026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B9532FC-0C26-41ED-91C4-2A1C58AE2C83}" type="slidenum">
              <a:rPr lang="en-US" smtClean="0"/>
              <a:t>‹#›</a:t>
            </a:fld>
            <a:endParaRPr lang="en-US"/>
          </a:p>
        </p:txBody>
      </p:sp>
    </p:spTree>
    <p:extLst>
      <p:ext uri="{BB962C8B-B14F-4D97-AF65-F5344CB8AC3E}">
        <p14:creationId xmlns:p14="http://schemas.microsoft.com/office/powerpoint/2010/main" val="16530071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B9532FC-0C26-41ED-91C4-2A1C58AE2C83}" type="slidenum">
              <a:rPr lang="en-US" smtClean="0"/>
              <a:t>4</a:t>
            </a:fld>
            <a:endParaRPr lang="en-US"/>
          </a:p>
        </p:txBody>
      </p:sp>
    </p:spTree>
    <p:extLst>
      <p:ext uri="{BB962C8B-B14F-4D97-AF65-F5344CB8AC3E}">
        <p14:creationId xmlns:p14="http://schemas.microsoft.com/office/powerpoint/2010/main" val="2073974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8F3DEC-C274-F0DE-F1D1-65385047AFA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255C6C-FD88-47FA-8E6D-1352F769C1A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915B72C-1E1E-E542-6451-A2D0601203B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CE1C723-D3EB-33B6-9310-DF1B60590CE9}"/>
              </a:ext>
            </a:extLst>
          </p:cNvPr>
          <p:cNvSpPr>
            <a:spLocks noGrp="1"/>
          </p:cNvSpPr>
          <p:nvPr>
            <p:ph type="sldNum" sz="quarter" idx="5"/>
          </p:nvPr>
        </p:nvSpPr>
        <p:spPr/>
        <p:txBody>
          <a:bodyPr/>
          <a:lstStyle/>
          <a:p>
            <a:fld id="{7B9532FC-0C26-41ED-91C4-2A1C58AE2C83}" type="slidenum">
              <a:rPr lang="en-US" smtClean="0"/>
              <a:t>5</a:t>
            </a:fld>
            <a:endParaRPr lang="en-US"/>
          </a:p>
        </p:txBody>
      </p:sp>
    </p:spTree>
    <p:extLst>
      <p:ext uri="{BB962C8B-B14F-4D97-AF65-F5344CB8AC3E}">
        <p14:creationId xmlns:p14="http://schemas.microsoft.com/office/powerpoint/2010/main" val="9167385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1377B5-76BF-8004-E697-8B4577D4201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D42FA33-1582-1272-E0CE-8CA22BA94DF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9BC7361-F917-ACB7-7202-F4715B7ADD3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0B667CE-6423-F2CB-E4BD-A1CE31ECB4C9}"/>
              </a:ext>
            </a:extLst>
          </p:cNvPr>
          <p:cNvSpPr>
            <a:spLocks noGrp="1"/>
          </p:cNvSpPr>
          <p:nvPr>
            <p:ph type="sldNum" sz="quarter" idx="5"/>
          </p:nvPr>
        </p:nvSpPr>
        <p:spPr/>
        <p:txBody>
          <a:bodyPr/>
          <a:lstStyle/>
          <a:p>
            <a:fld id="{7B9532FC-0C26-41ED-91C4-2A1C58AE2C83}" type="slidenum">
              <a:rPr lang="en-US" smtClean="0"/>
              <a:t>6</a:t>
            </a:fld>
            <a:endParaRPr lang="en-US"/>
          </a:p>
        </p:txBody>
      </p:sp>
    </p:spTree>
    <p:extLst>
      <p:ext uri="{BB962C8B-B14F-4D97-AF65-F5344CB8AC3E}">
        <p14:creationId xmlns:p14="http://schemas.microsoft.com/office/powerpoint/2010/main" val="31289592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D5A432-9AAB-CAB4-DE25-C2071083524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24D03DB-114B-FD59-DB7E-51D0A67EE64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05CDA8F-4E3A-DAB5-F5BC-7EA90BDCFE5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71DD0EC-C9FE-3644-8D42-0C4D9BE71FED}"/>
              </a:ext>
            </a:extLst>
          </p:cNvPr>
          <p:cNvSpPr>
            <a:spLocks noGrp="1"/>
          </p:cNvSpPr>
          <p:nvPr>
            <p:ph type="sldNum" sz="quarter" idx="5"/>
          </p:nvPr>
        </p:nvSpPr>
        <p:spPr/>
        <p:txBody>
          <a:bodyPr/>
          <a:lstStyle/>
          <a:p>
            <a:fld id="{7B9532FC-0C26-41ED-91C4-2A1C58AE2C83}" type="slidenum">
              <a:rPr lang="en-US" smtClean="0"/>
              <a:t>7</a:t>
            </a:fld>
            <a:endParaRPr lang="en-US"/>
          </a:p>
        </p:txBody>
      </p:sp>
    </p:spTree>
    <p:extLst>
      <p:ext uri="{BB962C8B-B14F-4D97-AF65-F5344CB8AC3E}">
        <p14:creationId xmlns:p14="http://schemas.microsoft.com/office/powerpoint/2010/main" val="52189278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3E09E0-D969-6FC6-AED4-F9CDE9C18D5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AEC13E-9CC3-CC4F-9E05-0A4B7172B80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A3572F3-F353-0E1E-89CA-641C1DD7B11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7B629F3-99F0-7343-AB5A-A9F5139276F6}"/>
              </a:ext>
            </a:extLst>
          </p:cNvPr>
          <p:cNvSpPr>
            <a:spLocks noGrp="1"/>
          </p:cNvSpPr>
          <p:nvPr>
            <p:ph type="sldNum" sz="quarter" idx="5"/>
          </p:nvPr>
        </p:nvSpPr>
        <p:spPr/>
        <p:txBody>
          <a:bodyPr/>
          <a:lstStyle/>
          <a:p>
            <a:fld id="{7B9532FC-0C26-41ED-91C4-2A1C58AE2C83}" type="slidenum">
              <a:rPr lang="en-US" smtClean="0"/>
              <a:t>8</a:t>
            </a:fld>
            <a:endParaRPr lang="en-US"/>
          </a:p>
        </p:txBody>
      </p:sp>
    </p:spTree>
    <p:extLst>
      <p:ext uri="{BB962C8B-B14F-4D97-AF65-F5344CB8AC3E}">
        <p14:creationId xmlns:p14="http://schemas.microsoft.com/office/powerpoint/2010/main" val="18515746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833451-8451-9685-93B9-9A96075DCD6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8660BD-8453-4E25-3E38-F2935106FE5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F183EB6-D4CF-B60D-D57F-41E76827B80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C3942BA-8F4B-783B-E9EE-CE153D6A11CD}"/>
              </a:ext>
            </a:extLst>
          </p:cNvPr>
          <p:cNvSpPr>
            <a:spLocks noGrp="1"/>
          </p:cNvSpPr>
          <p:nvPr>
            <p:ph type="sldNum" sz="quarter" idx="5"/>
          </p:nvPr>
        </p:nvSpPr>
        <p:spPr/>
        <p:txBody>
          <a:bodyPr/>
          <a:lstStyle/>
          <a:p>
            <a:fld id="{7B9532FC-0C26-41ED-91C4-2A1C58AE2C83}" type="slidenum">
              <a:rPr lang="en-US" smtClean="0"/>
              <a:t>9</a:t>
            </a:fld>
            <a:endParaRPr lang="en-US"/>
          </a:p>
        </p:txBody>
      </p:sp>
    </p:spTree>
    <p:extLst>
      <p:ext uri="{BB962C8B-B14F-4D97-AF65-F5344CB8AC3E}">
        <p14:creationId xmlns:p14="http://schemas.microsoft.com/office/powerpoint/2010/main" val="844441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B9532FC-0C26-41ED-91C4-2A1C58AE2C83}" type="slidenum">
              <a:rPr lang="en-US" smtClean="0"/>
              <a:t>11</a:t>
            </a:fld>
            <a:endParaRPr lang="en-US"/>
          </a:p>
        </p:txBody>
      </p:sp>
    </p:spTree>
    <p:extLst>
      <p:ext uri="{BB962C8B-B14F-4D97-AF65-F5344CB8AC3E}">
        <p14:creationId xmlns:p14="http://schemas.microsoft.com/office/powerpoint/2010/main" val="293422117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Q1: The fork() could be called at time 4. </a:t>
            </a:r>
          </a:p>
          <a:p>
            <a:r>
              <a:rPr lang="en-US" dirty="0"/>
              <a:t>Q2: The exit() is called at time 8.</a:t>
            </a:r>
          </a:p>
        </p:txBody>
      </p:sp>
      <p:sp>
        <p:nvSpPr>
          <p:cNvPr id="4" name="Slide Number Placeholder 3"/>
          <p:cNvSpPr>
            <a:spLocks noGrp="1"/>
          </p:cNvSpPr>
          <p:nvPr>
            <p:ph type="sldNum" sz="quarter" idx="5"/>
          </p:nvPr>
        </p:nvSpPr>
        <p:spPr/>
        <p:txBody>
          <a:bodyPr/>
          <a:lstStyle/>
          <a:p>
            <a:fld id="{7B9532FC-0C26-41ED-91C4-2A1C58AE2C83}" type="slidenum">
              <a:rPr lang="en-US" smtClean="0"/>
              <a:t>15</a:t>
            </a:fld>
            <a:endParaRPr lang="en-US"/>
          </a:p>
        </p:txBody>
      </p:sp>
    </p:spTree>
    <p:extLst>
      <p:ext uri="{BB962C8B-B14F-4D97-AF65-F5344CB8AC3E}">
        <p14:creationId xmlns:p14="http://schemas.microsoft.com/office/powerpoint/2010/main" val="196918073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B9532FC-0C26-41ED-91C4-2A1C58AE2C83}" type="slidenum">
              <a:rPr lang="en-US" smtClean="0"/>
              <a:t>17</a:t>
            </a:fld>
            <a:endParaRPr lang="en-US"/>
          </a:p>
        </p:txBody>
      </p:sp>
    </p:spTree>
    <p:extLst>
      <p:ext uri="{BB962C8B-B14F-4D97-AF65-F5344CB8AC3E}">
        <p14:creationId xmlns:p14="http://schemas.microsoft.com/office/powerpoint/2010/main" val="82310695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Q1: There are two programs. To make two programs run efficiently, a time interruption is necessary. </a:t>
            </a:r>
          </a:p>
        </p:txBody>
      </p:sp>
      <p:sp>
        <p:nvSpPr>
          <p:cNvPr id="4" name="Slide Number Placeholder 3"/>
          <p:cNvSpPr>
            <a:spLocks noGrp="1"/>
          </p:cNvSpPr>
          <p:nvPr>
            <p:ph type="sldNum" sz="quarter" idx="5"/>
          </p:nvPr>
        </p:nvSpPr>
        <p:spPr/>
        <p:txBody>
          <a:bodyPr/>
          <a:lstStyle/>
          <a:p>
            <a:fld id="{7B9532FC-0C26-41ED-91C4-2A1C58AE2C83}" type="slidenum">
              <a:rPr lang="en-US" smtClean="0"/>
              <a:t>18</a:t>
            </a:fld>
            <a:endParaRPr lang="en-US"/>
          </a:p>
        </p:txBody>
      </p:sp>
    </p:spTree>
    <p:extLst>
      <p:ext uri="{BB962C8B-B14F-4D97-AF65-F5344CB8AC3E}">
        <p14:creationId xmlns:p14="http://schemas.microsoft.com/office/powerpoint/2010/main" val="31897614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F58CFA-34B8-4985-9EBD-3480D5E1D8D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A433D6D-E622-4C3B-9F70-ED49553B91F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45B9800-BBE3-43F3-954C-1BE89C95AF77}"/>
              </a:ext>
            </a:extLst>
          </p:cNvPr>
          <p:cNvSpPr>
            <a:spLocks noGrp="1"/>
          </p:cNvSpPr>
          <p:nvPr>
            <p:ph type="dt" sz="half" idx="10"/>
          </p:nvPr>
        </p:nvSpPr>
        <p:spPr/>
        <p:txBody>
          <a:bodyPr/>
          <a:lstStyle/>
          <a:p>
            <a:fld id="{5701B579-BE22-4365-9624-3AE1F352F1A7}" type="datetimeFigureOut">
              <a:rPr lang="en-US" smtClean="0"/>
              <a:t>1/31/2026</a:t>
            </a:fld>
            <a:endParaRPr lang="en-US"/>
          </a:p>
        </p:txBody>
      </p:sp>
      <p:sp>
        <p:nvSpPr>
          <p:cNvPr id="5" name="Footer Placeholder 4">
            <a:extLst>
              <a:ext uri="{FF2B5EF4-FFF2-40B4-BE49-F238E27FC236}">
                <a16:creationId xmlns:a16="http://schemas.microsoft.com/office/drawing/2014/main" id="{4549448D-A783-4933-8C87-202B908B199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57A539E-77FB-4784-8F48-40A6E10C521F}"/>
              </a:ext>
            </a:extLst>
          </p:cNvPr>
          <p:cNvSpPr>
            <a:spLocks noGrp="1"/>
          </p:cNvSpPr>
          <p:nvPr>
            <p:ph type="sldNum" sz="quarter" idx="12"/>
          </p:nvPr>
        </p:nvSpPr>
        <p:spPr/>
        <p:txBody>
          <a:bodyPr/>
          <a:lstStyle/>
          <a:p>
            <a:fld id="{07D7EF8F-CC04-49FF-99A7-DBE4E5B3B38F}" type="slidenum">
              <a:rPr lang="en-US" smtClean="0"/>
              <a:t>‹#›</a:t>
            </a:fld>
            <a:endParaRPr lang="en-US"/>
          </a:p>
        </p:txBody>
      </p:sp>
    </p:spTree>
    <p:extLst>
      <p:ext uri="{BB962C8B-B14F-4D97-AF65-F5344CB8AC3E}">
        <p14:creationId xmlns:p14="http://schemas.microsoft.com/office/powerpoint/2010/main" val="27656185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245774-D8FB-4609-AAE6-9DFB9337B95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D28BC86-19DE-433A-AC72-8E6E8A93B79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6DFEAE9-538F-4540-99B2-F94BBB0C3D78}"/>
              </a:ext>
            </a:extLst>
          </p:cNvPr>
          <p:cNvSpPr>
            <a:spLocks noGrp="1"/>
          </p:cNvSpPr>
          <p:nvPr>
            <p:ph type="dt" sz="half" idx="10"/>
          </p:nvPr>
        </p:nvSpPr>
        <p:spPr/>
        <p:txBody>
          <a:bodyPr/>
          <a:lstStyle/>
          <a:p>
            <a:fld id="{5701B579-BE22-4365-9624-3AE1F352F1A7}" type="datetimeFigureOut">
              <a:rPr lang="en-US" smtClean="0"/>
              <a:t>1/31/2026</a:t>
            </a:fld>
            <a:endParaRPr lang="en-US"/>
          </a:p>
        </p:txBody>
      </p:sp>
      <p:sp>
        <p:nvSpPr>
          <p:cNvPr id="5" name="Footer Placeholder 4">
            <a:extLst>
              <a:ext uri="{FF2B5EF4-FFF2-40B4-BE49-F238E27FC236}">
                <a16:creationId xmlns:a16="http://schemas.microsoft.com/office/drawing/2014/main" id="{0A00FA06-A552-48E9-984C-063D2352914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81CB287-478F-4020-BBF4-AE2612E417F8}"/>
              </a:ext>
            </a:extLst>
          </p:cNvPr>
          <p:cNvSpPr>
            <a:spLocks noGrp="1"/>
          </p:cNvSpPr>
          <p:nvPr>
            <p:ph type="sldNum" sz="quarter" idx="12"/>
          </p:nvPr>
        </p:nvSpPr>
        <p:spPr/>
        <p:txBody>
          <a:bodyPr/>
          <a:lstStyle/>
          <a:p>
            <a:fld id="{07D7EF8F-CC04-49FF-99A7-DBE4E5B3B38F}" type="slidenum">
              <a:rPr lang="en-US" smtClean="0"/>
              <a:t>‹#›</a:t>
            </a:fld>
            <a:endParaRPr lang="en-US"/>
          </a:p>
        </p:txBody>
      </p:sp>
    </p:spTree>
    <p:extLst>
      <p:ext uri="{BB962C8B-B14F-4D97-AF65-F5344CB8AC3E}">
        <p14:creationId xmlns:p14="http://schemas.microsoft.com/office/powerpoint/2010/main" val="18975822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C65F8E-D378-48F1-982D-606B3160FF4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2194D5D-2E6F-4291-B1C6-BBFC0323C95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C1AAFD2-28C6-455D-AE60-B9D724863CD9}"/>
              </a:ext>
            </a:extLst>
          </p:cNvPr>
          <p:cNvSpPr>
            <a:spLocks noGrp="1"/>
          </p:cNvSpPr>
          <p:nvPr>
            <p:ph type="dt" sz="half" idx="10"/>
          </p:nvPr>
        </p:nvSpPr>
        <p:spPr/>
        <p:txBody>
          <a:bodyPr/>
          <a:lstStyle/>
          <a:p>
            <a:fld id="{5701B579-BE22-4365-9624-3AE1F352F1A7}" type="datetimeFigureOut">
              <a:rPr lang="en-US" smtClean="0"/>
              <a:t>1/31/2026</a:t>
            </a:fld>
            <a:endParaRPr lang="en-US"/>
          </a:p>
        </p:txBody>
      </p:sp>
      <p:sp>
        <p:nvSpPr>
          <p:cNvPr id="5" name="Footer Placeholder 4">
            <a:extLst>
              <a:ext uri="{FF2B5EF4-FFF2-40B4-BE49-F238E27FC236}">
                <a16:creationId xmlns:a16="http://schemas.microsoft.com/office/drawing/2014/main" id="{7F662756-894F-46FE-B4D3-4C370744016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95C601B-7763-446C-9DC5-9ACF5EE9B233}"/>
              </a:ext>
            </a:extLst>
          </p:cNvPr>
          <p:cNvSpPr>
            <a:spLocks noGrp="1"/>
          </p:cNvSpPr>
          <p:nvPr>
            <p:ph type="sldNum" sz="quarter" idx="12"/>
          </p:nvPr>
        </p:nvSpPr>
        <p:spPr/>
        <p:txBody>
          <a:bodyPr/>
          <a:lstStyle/>
          <a:p>
            <a:fld id="{07D7EF8F-CC04-49FF-99A7-DBE4E5B3B38F}" type="slidenum">
              <a:rPr lang="en-US" smtClean="0"/>
              <a:t>‹#›</a:t>
            </a:fld>
            <a:endParaRPr lang="en-US"/>
          </a:p>
        </p:txBody>
      </p:sp>
    </p:spTree>
    <p:extLst>
      <p:ext uri="{BB962C8B-B14F-4D97-AF65-F5344CB8AC3E}">
        <p14:creationId xmlns:p14="http://schemas.microsoft.com/office/powerpoint/2010/main" val="27599833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6285D5-4A70-4523-8C56-7A2F63097DE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6B50669-8B6D-4573-A65D-5723BE7B812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7926AA6-27C3-4956-B4F9-B51F02240F9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FCADE07-F788-4954-AC59-F7BCCAD825DE}"/>
              </a:ext>
            </a:extLst>
          </p:cNvPr>
          <p:cNvSpPr>
            <a:spLocks noGrp="1"/>
          </p:cNvSpPr>
          <p:nvPr>
            <p:ph type="dt" sz="half" idx="10"/>
          </p:nvPr>
        </p:nvSpPr>
        <p:spPr/>
        <p:txBody>
          <a:bodyPr/>
          <a:lstStyle/>
          <a:p>
            <a:fld id="{5701B579-BE22-4365-9624-3AE1F352F1A7}" type="datetimeFigureOut">
              <a:rPr lang="en-US" smtClean="0"/>
              <a:t>1/31/2026</a:t>
            </a:fld>
            <a:endParaRPr lang="en-US"/>
          </a:p>
        </p:txBody>
      </p:sp>
      <p:sp>
        <p:nvSpPr>
          <p:cNvPr id="6" name="Footer Placeholder 5">
            <a:extLst>
              <a:ext uri="{FF2B5EF4-FFF2-40B4-BE49-F238E27FC236}">
                <a16:creationId xmlns:a16="http://schemas.microsoft.com/office/drawing/2014/main" id="{D4CEA43F-F602-40EE-B21F-DC7E68CD6E7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13D1C2A-9F62-4A54-96AE-3DAD48234391}"/>
              </a:ext>
            </a:extLst>
          </p:cNvPr>
          <p:cNvSpPr>
            <a:spLocks noGrp="1"/>
          </p:cNvSpPr>
          <p:nvPr>
            <p:ph type="sldNum" sz="quarter" idx="12"/>
          </p:nvPr>
        </p:nvSpPr>
        <p:spPr/>
        <p:txBody>
          <a:bodyPr/>
          <a:lstStyle/>
          <a:p>
            <a:fld id="{07D7EF8F-CC04-49FF-99A7-DBE4E5B3B38F}" type="slidenum">
              <a:rPr lang="en-US" smtClean="0"/>
              <a:t>‹#›</a:t>
            </a:fld>
            <a:endParaRPr lang="en-US"/>
          </a:p>
        </p:txBody>
      </p:sp>
    </p:spTree>
    <p:extLst>
      <p:ext uri="{BB962C8B-B14F-4D97-AF65-F5344CB8AC3E}">
        <p14:creationId xmlns:p14="http://schemas.microsoft.com/office/powerpoint/2010/main" val="15783751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0693E4-29D2-4052-9C0C-2B12FB9F04A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DA1864E-EDC6-4F4B-90E2-73414CCE860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2208338-D4D6-46C1-A40B-EBAFA05859F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076AB0C-3D87-4B28-A144-FBE1D0F6FE4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00639F3-6EB4-4B92-AE38-D411C1AA3AB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21005A4-0514-429B-9362-4434E7932694}"/>
              </a:ext>
            </a:extLst>
          </p:cNvPr>
          <p:cNvSpPr>
            <a:spLocks noGrp="1"/>
          </p:cNvSpPr>
          <p:nvPr>
            <p:ph type="dt" sz="half" idx="10"/>
          </p:nvPr>
        </p:nvSpPr>
        <p:spPr/>
        <p:txBody>
          <a:bodyPr/>
          <a:lstStyle/>
          <a:p>
            <a:fld id="{5701B579-BE22-4365-9624-3AE1F352F1A7}" type="datetimeFigureOut">
              <a:rPr lang="en-US" smtClean="0"/>
              <a:t>1/31/2026</a:t>
            </a:fld>
            <a:endParaRPr lang="en-US"/>
          </a:p>
        </p:txBody>
      </p:sp>
      <p:sp>
        <p:nvSpPr>
          <p:cNvPr id="8" name="Footer Placeholder 7">
            <a:extLst>
              <a:ext uri="{FF2B5EF4-FFF2-40B4-BE49-F238E27FC236}">
                <a16:creationId xmlns:a16="http://schemas.microsoft.com/office/drawing/2014/main" id="{41B49C01-7B53-435D-82F7-A1316279CD4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52674F3-601B-4FAC-913E-6356AB82DE52}"/>
              </a:ext>
            </a:extLst>
          </p:cNvPr>
          <p:cNvSpPr>
            <a:spLocks noGrp="1"/>
          </p:cNvSpPr>
          <p:nvPr>
            <p:ph type="sldNum" sz="quarter" idx="12"/>
          </p:nvPr>
        </p:nvSpPr>
        <p:spPr/>
        <p:txBody>
          <a:bodyPr/>
          <a:lstStyle/>
          <a:p>
            <a:fld id="{07D7EF8F-CC04-49FF-99A7-DBE4E5B3B38F}" type="slidenum">
              <a:rPr lang="en-US" smtClean="0"/>
              <a:t>‹#›</a:t>
            </a:fld>
            <a:endParaRPr lang="en-US"/>
          </a:p>
        </p:txBody>
      </p:sp>
    </p:spTree>
    <p:extLst>
      <p:ext uri="{BB962C8B-B14F-4D97-AF65-F5344CB8AC3E}">
        <p14:creationId xmlns:p14="http://schemas.microsoft.com/office/powerpoint/2010/main" val="837460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58F530-2DDE-4090-B9BA-4E706FE890E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B24B356-E78B-4416-98FE-2C17AE157F2B}"/>
              </a:ext>
            </a:extLst>
          </p:cNvPr>
          <p:cNvSpPr>
            <a:spLocks noGrp="1"/>
          </p:cNvSpPr>
          <p:nvPr>
            <p:ph type="dt" sz="half" idx="10"/>
          </p:nvPr>
        </p:nvSpPr>
        <p:spPr/>
        <p:txBody>
          <a:bodyPr/>
          <a:lstStyle/>
          <a:p>
            <a:fld id="{5701B579-BE22-4365-9624-3AE1F352F1A7}" type="datetimeFigureOut">
              <a:rPr lang="en-US" smtClean="0"/>
              <a:t>1/31/2026</a:t>
            </a:fld>
            <a:endParaRPr lang="en-US"/>
          </a:p>
        </p:txBody>
      </p:sp>
      <p:sp>
        <p:nvSpPr>
          <p:cNvPr id="4" name="Footer Placeholder 3">
            <a:extLst>
              <a:ext uri="{FF2B5EF4-FFF2-40B4-BE49-F238E27FC236}">
                <a16:creationId xmlns:a16="http://schemas.microsoft.com/office/drawing/2014/main" id="{C15593D8-810C-4035-B5ED-80F9BF0D3A7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DF55571-D054-48D1-8803-ADE847A65361}"/>
              </a:ext>
            </a:extLst>
          </p:cNvPr>
          <p:cNvSpPr>
            <a:spLocks noGrp="1"/>
          </p:cNvSpPr>
          <p:nvPr>
            <p:ph type="sldNum" sz="quarter" idx="12"/>
          </p:nvPr>
        </p:nvSpPr>
        <p:spPr/>
        <p:txBody>
          <a:bodyPr/>
          <a:lstStyle/>
          <a:p>
            <a:fld id="{07D7EF8F-CC04-49FF-99A7-DBE4E5B3B38F}" type="slidenum">
              <a:rPr lang="en-US" smtClean="0"/>
              <a:t>‹#›</a:t>
            </a:fld>
            <a:endParaRPr lang="en-US"/>
          </a:p>
        </p:txBody>
      </p:sp>
    </p:spTree>
    <p:extLst>
      <p:ext uri="{BB962C8B-B14F-4D97-AF65-F5344CB8AC3E}">
        <p14:creationId xmlns:p14="http://schemas.microsoft.com/office/powerpoint/2010/main" val="34538476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37BE268-32AF-41F1-B9BF-76444776383A}"/>
              </a:ext>
            </a:extLst>
          </p:cNvPr>
          <p:cNvSpPr>
            <a:spLocks noGrp="1"/>
          </p:cNvSpPr>
          <p:nvPr>
            <p:ph type="dt" sz="half" idx="10"/>
          </p:nvPr>
        </p:nvSpPr>
        <p:spPr/>
        <p:txBody>
          <a:bodyPr/>
          <a:lstStyle/>
          <a:p>
            <a:fld id="{5701B579-BE22-4365-9624-3AE1F352F1A7}" type="datetimeFigureOut">
              <a:rPr lang="en-US" smtClean="0"/>
              <a:t>1/31/2026</a:t>
            </a:fld>
            <a:endParaRPr lang="en-US"/>
          </a:p>
        </p:txBody>
      </p:sp>
      <p:sp>
        <p:nvSpPr>
          <p:cNvPr id="3" name="Footer Placeholder 2">
            <a:extLst>
              <a:ext uri="{FF2B5EF4-FFF2-40B4-BE49-F238E27FC236}">
                <a16:creationId xmlns:a16="http://schemas.microsoft.com/office/drawing/2014/main" id="{CF581429-1463-423B-A364-30079742801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51A6839-CB05-4AB6-92C3-597FE9B6E568}"/>
              </a:ext>
            </a:extLst>
          </p:cNvPr>
          <p:cNvSpPr>
            <a:spLocks noGrp="1"/>
          </p:cNvSpPr>
          <p:nvPr>
            <p:ph type="sldNum" sz="quarter" idx="12"/>
          </p:nvPr>
        </p:nvSpPr>
        <p:spPr/>
        <p:txBody>
          <a:bodyPr/>
          <a:lstStyle/>
          <a:p>
            <a:fld id="{07D7EF8F-CC04-49FF-99A7-DBE4E5B3B38F}" type="slidenum">
              <a:rPr lang="en-US" smtClean="0"/>
              <a:t>‹#›</a:t>
            </a:fld>
            <a:endParaRPr lang="en-US"/>
          </a:p>
        </p:txBody>
      </p:sp>
    </p:spTree>
    <p:extLst>
      <p:ext uri="{BB962C8B-B14F-4D97-AF65-F5344CB8AC3E}">
        <p14:creationId xmlns:p14="http://schemas.microsoft.com/office/powerpoint/2010/main" val="8762071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670436-DB2A-48F1-B027-49BF16EC768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7E8BF08-10D0-4FEE-BD95-9FDFBA2FF0B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3AA3EEA-BC06-42DA-89F3-9E0D2161B0C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C35DFBF-2A0A-4BBC-A7A2-C761EAFD3E8C}"/>
              </a:ext>
            </a:extLst>
          </p:cNvPr>
          <p:cNvSpPr>
            <a:spLocks noGrp="1"/>
          </p:cNvSpPr>
          <p:nvPr>
            <p:ph type="dt" sz="half" idx="10"/>
          </p:nvPr>
        </p:nvSpPr>
        <p:spPr/>
        <p:txBody>
          <a:bodyPr/>
          <a:lstStyle/>
          <a:p>
            <a:fld id="{5701B579-BE22-4365-9624-3AE1F352F1A7}" type="datetimeFigureOut">
              <a:rPr lang="en-US" smtClean="0"/>
              <a:t>1/31/2026</a:t>
            </a:fld>
            <a:endParaRPr lang="en-US"/>
          </a:p>
        </p:txBody>
      </p:sp>
      <p:sp>
        <p:nvSpPr>
          <p:cNvPr id="6" name="Footer Placeholder 5">
            <a:extLst>
              <a:ext uri="{FF2B5EF4-FFF2-40B4-BE49-F238E27FC236}">
                <a16:creationId xmlns:a16="http://schemas.microsoft.com/office/drawing/2014/main" id="{34E032EE-DBDF-4DD6-B09C-98EFBACD07A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70F9592-0DF4-4888-A204-38DA63D36B25}"/>
              </a:ext>
            </a:extLst>
          </p:cNvPr>
          <p:cNvSpPr>
            <a:spLocks noGrp="1"/>
          </p:cNvSpPr>
          <p:nvPr>
            <p:ph type="sldNum" sz="quarter" idx="12"/>
          </p:nvPr>
        </p:nvSpPr>
        <p:spPr/>
        <p:txBody>
          <a:bodyPr/>
          <a:lstStyle/>
          <a:p>
            <a:fld id="{07D7EF8F-CC04-49FF-99A7-DBE4E5B3B38F}" type="slidenum">
              <a:rPr lang="en-US" smtClean="0"/>
              <a:t>‹#›</a:t>
            </a:fld>
            <a:endParaRPr lang="en-US"/>
          </a:p>
        </p:txBody>
      </p:sp>
    </p:spTree>
    <p:extLst>
      <p:ext uri="{BB962C8B-B14F-4D97-AF65-F5344CB8AC3E}">
        <p14:creationId xmlns:p14="http://schemas.microsoft.com/office/powerpoint/2010/main" val="12538369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8C96FA-1210-4D0E-9505-D51795E0722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5A255D6-880E-44DA-919F-3FCF13B52C8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3FC7E01-C6FB-46A7-A74A-898E5820E26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E4E34C9-0AC3-43C3-A654-3FC0164AC92B}"/>
              </a:ext>
            </a:extLst>
          </p:cNvPr>
          <p:cNvSpPr>
            <a:spLocks noGrp="1"/>
          </p:cNvSpPr>
          <p:nvPr>
            <p:ph type="dt" sz="half" idx="10"/>
          </p:nvPr>
        </p:nvSpPr>
        <p:spPr/>
        <p:txBody>
          <a:bodyPr/>
          <a:lstStyle/>
          <a:p>
            <a:fld id="{5701B579-BE22-4365-9624-3AE1F352F1A7}" type="datetimeFigureOut">
              <a:rPr lang="en-US" smtClean="0"/>
              <a:t>1/31/2026</a:t>
            </a:fld>
            <a:endParaRPr lang="en-US"/>
          </a:p>
        </p:txBody>
      </p:sp>
      <p:sp>
        <p:nvSpPr>
          <p:cNvPr id="6" name="Footer Placeholder 5">
            <a:extLst>
              <a:ext uri="{FF2B5EF4-FFF2-40B4-BE49-F238E27FC236}">
                <a16:creationId xmlns:a16="http://schemas.microsoft.com/office/drawing/2014/main" id="{23447480-0FFC-41C2-88A2-0A21C726359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60F4567-0817-4CF6-BD05-B1BDEA799552}"/>
              </a:ext>
            </a:extLst>
          </p:cNvPr>
          <p:cNvSpPr>
            <a:spLocks noGrp="1"/>
          </p:cNvSpPr>
          <p:nvPr>
            <p:ph type="sldNum" sz="quarter" idx="12"/>
          </p:nvPr>
        </p:nvSpPr>
        <p:spPr/>
        <p:txBody>
          <a:bodyPr/>
          <a:lstStyle/>
          <a:p>
            <a:fld id="{07D7EF8F-CC04-49FF-99A7-DBE4E5B3B38F}" type="slidenum">
              <a:rPr lang="en-US" smtClean="0"/>
              <a:t>‹#›</a:t>
            </a:fld>
            <a:endParaRPr lang="en-US"/>
          </a:p>
        </p:txBody>
      </p:sp>
    </p:spTree>
    <p:extLst>
      <p:ext uri="{BB962C8B-B14F-4D97-AF65-F5344CB8AC3E}">
        <p14:creationId xmlns:p14="http://schemas.microsoft.com/office/powerpoint/2010/main" val="27851177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6300B9-FC21-406B-B5FA-B60B7DC900B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1496599-23BC-425D-8BD9-EE0D324D68A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E89C455-686D-48B4-8DAB-D94E33E0608A}"/>
              </a:ext>
            </a:extLst>
          </p:cNvPr>
          <p:cNvSpPr>
            <a:spLocks noGrp="1"/>
          </p:cNvSpPr>
          <p:nvPr>
            <p:ph type="dt" sz="half" idx="10"/>
          </p:nvPr>
        </p:nvSpPr>
        <p:spPr/>
        <p:txBody>
          <a:bodyPr/>
          <a:lstStyle/>
          <a:p>
            <a:fld id="{5701B579-BE22-4365-9624-3AE1F352F1A7}" type="datetimeFigureOut">
              <a:rPr lang="en-US" smtClean="0"/>
              <a:t>1/31/2026</a:t>
            </a:fld>
            <a:endParaRPr lang="en-US"/>
          </a:p>
        </p:txBody>
      </p:sp>
      <p:sp>
        <p:nvSpPr>
          <p:cNvPr id="5" name="Footer Placeholder 4">
            <a:extLst>
              <a:ext uri="{FF2B5EF4-FFF2-40B4-BE49-F238E27FC236}">
                <a16:creationId xmlns:a16="http://schemas.microsoft.com/office/drawing/2014/main" id="{63AD1942-3ED0-4931-A8CE-6D984F8390B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2AB5B99-3A43-477C-B42A-3C08D02D7574}"/>
              </a:ext>
            </a:extLst>
          </p:cNvPr>
          <p:cNvSpPr>
            <a:spLocks noGrp="1"/>
          </p:cNvSpPr>
          <p:nvPr>
            <p:ph type="sldNum" sz="quarter" idx="12"/>
          </p:nvPr>
        </p:nvSpPr>
        <p:spPr/>
        <p:txBody>
          <a:bodyPr/>
          <a:lstStyle/>
          <a:p>
            <a:fld id="{07D7EF8F-CC04-49FF-99A7-DBE4E5B3B38F}" type="slidenum">
              <a:rPr lang="en-US" smtClean="0"/>
              <a:t>‹#›</a:t>
            </a:fld>
            <a:endParaRPr lang="en-US"/>
          </a:p>
        </p:txBody>
      </p:sp>
    </p:spTree>
    <p:extLst>
      <p:ext uri="{BB962C8B-B14F-4D97-AF65-F5344CB8AC3E}">
        <p14:creationId xmlns:p14="http://schemas.microsoft.com/office/powerpoint/2010/main" val="19568637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923F515-C31F-4273-9268-3D1EF4F6FB3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E4BF6F7-9F34-4BB4-8961-A8EDC9D82C8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F259CB1-7397-4C82-89C9-0693FB2910E9}"/>
              </a:ext>
            </a:extLst>
          </p:cNvPr>
          <p:cNvSpPr>
            <a:spLocks noGrp="1"/>
          </p:cNvSpPr>
          <p:nvPr>
            <p:ph type="dt" sz="half" idx="10"/>
          </p:nvPr>
        </p:nvSpPr>
        <p:spPr/>
        <p:txBody>
          <a:bodyPr/>
          <a:lstStyle/>
          <a:p>
            <a:fld id="{5701B579-BE22-4365-9624-3AE1F352F1A7}" type="datetimeFigureOut">
              <a:rPr lang="en-US" smtClean="0"/>
              <a:t>1/31/2026</a:t>
            </a:fld>
            <a:endParaRPr lang="en-US"/>
          </a:p>
        </p:txBody>
      </p:sp>
      <p:sp>
        <p:nvSpPr>
          <p:cNvPr id="5" name="Footer Placeholder 4">
            <a:extLst>
              <a:ext uri="{FF2B5EF4-FFF2-40B4-BE49-F238E27FC236}">
                <a16:creationId xmlns:a16="http://schemas.microsoft.com/office/drawing/2014/main" id="{5F201C97-2278-43A9-BE35-0AD6126551F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F15134C-7180-46A6-9627-AECEF8DCC93D}"/>
              </a:ext>
            </a:extLst>
          </p:cNvPr>
          <p:cNvSpPr>
            <a:spLocks noGrp="1"/>
          </p:cNvSpPr>
          <p:nvPr>
            <p:ph type="sldNum" sz="quarter" idx="12"/>
          </p:nvPr>
        </p:nvSpPr>
        <p:spPr/>
        <p:txBody>
          <a:bodyPr/>
          <a:lstStyle/>
          <a:p>
            <a:fld id="{07D7EF8F-CC04-49FF-99A7-DBE4E5B3B38F}" type="slidenum">
              <a:rPr lang="en-US" smtClean="0"/>
              <a:t>‹#›</a:t>
            </a:fld>
            <a:endParaRPr lang="en-US"/>
          </a:p>
        </p:txBody>
      </p:sp>
    </p:spTree>
    <p:extLst>
      <p:ext uri="{BB962C8B-B14F-4D97-AF65-F5344CB8AC3E}">
        <p14:creationId xmlns:p14="http://schemas.microsoft.com/office/powerpoint/2010/main" val="16373118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8F26403-82E5-42A1-9D17-51FB8924CA8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60F3246-0D43-4E66-B320-0671607BF3D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7F15B71-0150-43A3-94BD-2B7D0897C00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701B579-BE22-4365-9624-3AE1F352F1A7}" type="datetimeFigureOut">
              <a:rPr lang="en-US" smtClean="0"/>
              <a:t>1/31/2026</a:t>
            </a:fld>
            <a:endParaRPr lang="en-US"/>
          </a:p>
        </p:txBody>
      </p:sp>
      <p:sp>
        <p:nvSpPr>
          <p:cNvPr id="5" name="Footer Placeholder 4">
            <a:extLst>
              <a:ext uri="{FF2B5EF4-FFF2-40B4-BE49-F238E27FC236}">
                <a16:creationId xmlns:a16="http://schemas.microsoft.com/office/drawing/2014/main" id="{E979B45D-F9D5-470F-9240-ABDE82EA299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B7AC585F-DBFF-493F-8D4A-16FE923EEA4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7D7EF8F-CC04-49FF-99A7-DBE4E5B3B38F}" type="slidenum">
              <a:rPr lang="en-US" smtClean="0"/>
              <a:t>‹#›</a:t>
            </a:fld>
            <a:endParaRPr lang="en-US"/>
          </a:p>
        </p:txBody>
      </p:sp>
    </p:spTree>
    <p:extLst>
      <p:ext uri="{BB962C8B-B14F-4D97-AF65-F5344CB8AC3E}">
        <p14:creationId xmlns:p14="http://schemas.microsoft.com/office/powerpoint/2010/main" val="184808305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hyperlink" Target="https://www.geeksforgeeks.org/operating-systems/formation-of-process-from-program/"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hyperlink" Target="https://www.geeksforgeeks.org/operating-systems/formation-of-process-from-program/" TargetMode="External"/><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hyperlink" Target="https://www.geeksforgeeks.org/operating-systems/formation-of-process-from-program/" TargetMode="Externa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hyperlink" Target="https://www.geeksforgeeks.org/operating-systems/formation-of-process-from-program/" TargetMode="External"/></Relationships>
</file>

<file path=ppt/slides/_rels/slide8.xml.rels><?xml version="1.0" encoding="UTF-8" standalone="yes"?>
<Relationships xmlns="http://schemas.openxmlformats.org/package/2006/relationships"><Relationship Id="rId3" Type="http://schemas.openxmlformats.org/officeDocument/2006/relationships/hyperlink" Target="https://www.geeksforgeeks.org/operating-systems/formation-of-process-from-program/" TargetMode="External"/><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hyperlink" Target="https://www.geeksforgeeks.org/operating-systems/formation-of-process-from-program/" TargetMode="Externa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2C5DF914-4B40-4A23-8AAC-9CFE7F215ACD}"/>
              </a:ext>
            </a:extLst>
          </p:cNvPr>
          <p:cNvSpPr>
            <a:spLocks noGrp="1"/>
          </p:cNvSpPr>
          <p:nvPr>
            <p:ph type="subTitle" idx="1"/>
          </p:nvPr>
        </p:nvSpPr>
        <p:spPr>
          <a:xfrm>
            <a:off x="1726434" y="4659359"/>
            <a:ext cx="9144000" cy="1655762"/>
          </a:xfrm>
        </p:spPr>
        <p:txBody>
          <a:bodyPr>
            <a:normAutofit/>
          </a:bodyPr>
          <a:lstStyle/>
          <a:p>
            <a:r>
              <a:rPr lang="en-US" dirty="0"/>
              <a:t>Topic: Mechanism of Process Execution</a:t>
            </a:r>
          </a:p>
          <a:p>
            <a:r>
              <a:rPr lang="en-US" dirty="0"/>
              <a:t>Lecture: Dr. Zhao Jie</a:t>
            </a:r>
          </a:p>
          <a:p>
            <a:r>
              <a:rPr lang="en-US" dirty="0"/>
              <a:t>Date</a:t>
            </a:r>
            <a:r>
              <a:rPr lang="en-US"/>
              <a:t>: 02/02/2025</a:t>
            </a:r>
            <a:endParaRPr lang="en-US" dirty="0"/>
          </a:p>
        </p:txBody>
      </p:sp>
      <p:pic>
        <p:nvPicPr>
          <p:cNvPr id="5" name="Picture 4">
            <a:extLst>
              <a:ext uri="{FF2B5EF4-FFF2-40B4-BE49-F238E27FC236}">
                <a16:creationId xmlns:a16="http://schemas.microsoft.com/office/drawing/2014/main" id="{22F60897-8669-4C6A-9213-A875ED3223C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14450" y="237202"/>
            <a:ext cx="9967968" cy="4572000"/>
          </a:xfrm>
          <a:prstGeom prst="rect">
            <a:avLst/>
          </a:prstGeom>
        </p:spPr>
      </p:pic>
    </p:spTree>
    <p:extLst>
      <p:ext uri="{BB962C8B-B14F-4D97-AF65-F5344CB8AC3E}">
        <p14:creationId xmlns:p14="http://schemas.microsoft.com/office/powerpoint/2010/main" val="21999952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848F5-1552-4316-ADB3-4EE4924B6477}"/>
              </a:ext>
            </a:extLst>
          </p:cNvPr>
          <p:cNvSpPr>
            <a:spLocks noGrp="1"/>
          </p:cNvSpPr>
          <p:nvPr>
            <p:ph type="ctrTitle"/>
          </p:nvPr>
        </p:nvSpPr>
        <p:spPr>
          <a:xfrm>
            <a:off x="1524000" y="1122363"/>
            <a:ext cx="9144000" cy="1079299"/>
          </a:xfrm>
        </p:spPr>
        <p:txBody>
          <a:bodyPr/>
          <a:lstStyle/>
          <a:p>
            <a:r>
              <a:rPr lang="en-US" b="0" i="0" dirty="0">
                <a:solidFill>
                  <a:srgbClr val="000000"/>
                </a:solidFill>
                <a:effectLst/>
                <a:latin typeface="Arial" panose="020B0604020202020204" pitchFamily="34" charset="0"/>
              </a:rPr>
              <a:t>Reading Assignment</a:t>
            </a:r>
            <a:endParaRPr lang="en-US" dirty="0"/>
          </a:p>
        </p:txBody>
      </p:sp>
      <p:sp>
        <p:nvSpPr>
          <p:cNvPr id="3" name="Subtitle 2">
            <a:extLst>
              <a:ext uri="{FF2B5EF4-FFF2-40B4-BE49-F238E27FC236}">
                <a16:creationId xmlns:a16="http://schemas.microsoft.com/office/drawing/2014/main" id="{2C5DF914-4B40-4A23-8AAC-9CFE7F215ACD}"/>
              </a:ext>
            </a:extLst>
          </p:cNvPr>
          <p:cNvSpPr>
            <a:spLocks noGrp="1"/>
          </p:cNvSpPr>
          <p:nvPr>
            <p:ph type="subTitle" idx="1"/>
          </p:nvPr>
        </p:nvSpPr>
        <p:spPr/>
        <p:txBody>
          <a:bodyPr>
            <a:normAutofit/>
          </a:bodyPr>
          <a:lstStyle/>
          <a:p>
            <a:r>
              <a:rPr lang="en-US" b="0" i="0" dirty="0">
                <a:solidFill>
                  <a:srgbClr val="000000"/>
                </a:solidFill>
                <a:effectLst/>
                <a:latin typeface="Arial" panose="020B0604020202020204" pitchFamily="34" charset="0"/>
              </a:rPr>
              <a:t>Reading Assignment: Ch. 6</a:t>
            </a:r>
          </a:p>
          <a:p>
            <a:endParaRPr lang="en-US" dirty="0"/>
          </a:p>
        </p:txBody>
      </p:sp>
    </p:spTree>
    <p:extLst>
      <p:ext uri="{BB962C8B-B14F-4D97-AF65-F5344CB8AC3E}">
        <p14:creationId xmlns:p14="http://schemas.microsoft.com/office/powerpoint/2010/main" val="40387979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E37A4D-EB4D-BA79-C71C-B3A16BA958D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95D0DD3-41F6-9B31-A009-570453B806DA}"/>
              </a:ext>
            </a:extLst>
          </p:cNvPr>
          <p:cNvSpPr>
            <a:spLocks noGrp="1"/>
          </p:cNvSpPr>
          <p:nvPr>
            <p:ph type="ctrTitle"/>
          </p:nvPr>
        </p:nvSpPr>
        <p:spPr>
          <a:xfrm>
            <a:off x="1524000" y="1122363"/>
            <a:ext cx="9144000" cy="1079299"/>
          </a:xfrm>
        </p:spPr>
        <p:txBody>
          <a:bodyPr/>
          <a:lstStyle/>
          <a:p>
            <a:r>
              <a:rPr lang="en-US" b="0" i="0" dirty="0">
                <a:solidFill>
                  <a:srgbClr val="000000"/>
                </a:solidFill>
                <a:effectLst/>
                <a:latin typeface="Arial" panose="020B0604020202020204" pitchFamily="34" charset="0"/>
              </a:rPr>
              <a:t>Agenda</a:t>
            </a:r>
            <a:endParaRPr lang="en-US" dirty="0"/>
          </a:p>
        </p:txBody>
      </p:sp>
      <p:sp>
        <p:nvSpPr>
          <p:cNvPr id="3" name="Subtitle 2">
            <a:extLst>
              <a:ext uri="{FF2B5EF4-FFF2-40B4-BE49-F238E27FC236}">
                <a16:creationId xmlns:a16="http://schemas.microsoft.com/office/drawing/2014/main" id="{8ACC67F6-64F3-5127-5C97-3C69972BF5D7}"/>
              </a:ext>
            </a:extLst>
          </p:cNvPr>
          <p:cNvSpPr>
            <a:spLocks noGrp="1"/>
          </p:cNvSpPr>
          <p:nvPr>
            <p:ph type="subTitle" idx="1"/>
          </p:nvPr>
        </p:nvSpPr>
        <p:spPr>
          <a:xfrm>
            <a:off x="1524000" y="2440998"/>
            <a:ext cx="9144000" cy="3095890"/>
          </a:xfrm>
        </p:spPr>
        <p:txBody>
          <a:bodyPr>
            <a:normAutofit/>
          </a:bodyPr>
          <a:lstStyle/>
          <a:p>
            <a:pPr marL="800100" lvl="1" indent="-342900" algn="l">
              <a:lnSpc>
                <a:spcPct val="150000"/>
              </a:lnSpc>
              <a:buFont typeface="Arial" panose="020B0604020202020204" pitchFamily="34" charset="0"/>
              <a:buChar char="•"/>
            </a:pPr>
            <a:r>
              <a:rPr lang="en-US" sz="2200" b="0" i="0" dirty="0">
                <a:solidFill>
                  <a:srgbClr val="000000"/>
                </a:solidFill>
                <a:effectLst/>
                <a:latin typeface="Arial" panose="020B0604020202020204" pitchFamily="34" charset="0"/>
              </a:rPr>
              <a:t>Formation of a process from a program</a:t>
            </a:r>
          </a:p>
          <a:p>
            <a:pPr marL="800100" lvl="1" indent="-342900" algn="l">
              <a:lnSpc>
                <a:spcPct val="150000"/>
              </a:lnSpc>
              <a:buFont typeface="Arial" panose="020B0604020202020204" pitchFamily="34" charset="0"/>
              <a:buChar char="•"/>
            </a:pPr>
            <a:r>
              <a:rPr lang="en-US" sz="2200" dirty="0">
                <a:solidFill>
                  <a:srgbClr val="000000"/>
                </a:solidFill>
                <a:latin typeface="Arial" panose="020B0604020202020204" pitchFamily="34" charset="0"/>
              </a:rPr>
              <a:t>Direct execution</a:t>
            </a:r>
          </a:p>
          <a:p>
            <a:pPr marL="800100" lvl="1" indent="-342900" algn="l">
              <a:lnSpc>
                <a:spcPct val="150000"/>
              </a:lnSpc>
              <a:buFont typeface="Arial" panose="020B0604020202020204" pitchFamily="34" charset="0"/>
              <a:buChar char="•"/>
            </a:pPr>
            <a:r>
              <a:rPr lang="en-US" sz="2200" dirty="0">
                <a:solidFill>
                  <a:srgbClr val="000000"/>
                </a:solidFill>
                <a:latin typeface="Arial" panose="020B0604020202020204" pitchFamily="34" charset="0"/>
              </a:rPr>
              <a:t>Restrict execution</a:t>
            </a:r>
          </a:p>
          <a:p>
            <a:pPr marL="800100" lvl="1" indent="-342900" algn="l">
              <a:lnSpc>
                <a:spcPct val="150000"/>
              </a:lnSpc>
              <a:buFont typeface="Arial" panose="020B0604020202020204" pitchFamily="34" charset="0"/>
              <a:buChar char="•"/>
            </a:pPr>
            <a:r>
              <a:rPr lang="en-US" sz="2200" dirty="0">
                <a:solidFill>
                  <a:srgbClr val="000000"/>
                </a:solidFill>
                <a:latin typeface="Arial" panose="020B0604020202020204" pitchFamily="34" charset="0"/>
              </a:rPr>
              <a:t>System call execution</a:t>
            </a:r>
          </a:p>
          <a:p>
            <a:pPr marL="800100" lvl="1" indent="-342900" algn="l">
              <a:lnSpc>
                <a:spcPct val="150000"/>
              </a:lnSpc>
              <a:buFont typeface="Arial" panose="020B0604020202020204" pitchFamily="34" charset="0"/>
              <a:buChar char="•"/>
            </a:pPr>
            <a:r>
              <a:rPr lang="en-US" sz="2200" dirty="0">
                <a:solidFill>
                  <a:srgbClr val="000000"/>
                </a:solidFill>
                <a:latin typeface="Arial" panose="020B0604020202020204" pitchFamily="34" charset="0"/>
              </a:rPr>
              <a:t>Timer interruption</a:t>
            </a:r>
          </a:p>
          <a:p>
            <a:pPr marL="342900" indent="-342900">
              <a:lnSpc>
                <a:spcPct val="150000"/>
              </a:lnSpc>
              <a:buFont typeface="Arial" panose="020B0604020202020204" pitchFamily="34" charset="0"/>
              <a:buChar char="•"/>
            </a:pPr>
            <a:endParaRPr lang="en-US" dirty="0">
              <a:solidFill>
                <a:srgbClr val="000000"/>
              </a:solidFill>
              <a:latin typeface="Arial" panose="020B0604020202020204" pitchFamily="34" charset="0"/>
            </a:endParaRPr>
          </a:p>
          <a:p>
            <a:pPr marL="342900" indent="-342900">
              <a:lnSpc>
                <a:spcPct val="150000"/>
              </a:lnSpc>
              <a:buFont typeface="Arial" panose="020B0604020202020204" pitchFamily="34" charset="0"/>
              <a:buChar char="•"/>
            </a:pPr>
            <a:endParaRPr lang="en-US" b="0" i="0" dirty="0">
              <a:solidFill>
                <a:srgbClr val="000000"/>
              </a:solidFill>
              <a:effectLst/>
              <a:latin typeface="Arial" panose="020B0604020202020204" pitchFamily="34" charset="0"/>
            </a:endParaRPr>
          </a:p>
          <a:p>
            <a:pPr marL="342900" indent="-342900">
              <a:lnSpc>
                <a:spcPct val="150000"/>
              </a:lnSpc>
              <a:buFont typeface="Arial" panose="020B0604020202020204" pitchFamily="34" charset="0"/>
              <a:buChar char="•"/>
            </a:pPr>
            <a:endParaRPr lang="en-US" b="0" i="0" dirty="0">
              <a:solidFill>
                <a:srgbClr val="000000"/>
              </a:solidFill>
              <a:effectLst/>
              <a:latin typeface="Arial" panose="020B0604020202020204" pitchFamily="34" charset="0"/>
            </a:endParaRPr>
          </a:p>
          <a:p>
            <a:pPr>
              <a:lnSpc>
                <a:spcPct val="150000"/>
              </a:lnSpc>
            </a:pPr>
            <a:endParaRPr lang="en-US" dirty="0"/>
          </a:p>
        </p:txBody>
      </p:sp>
    </p:spTree>
    <p:extLst>
      <p:ext uri="{BB962C8B-B14F-4D97-AF65-F5344CB8AC3E}">
        <p14:creationId xmlns:p14="http://schemas.microsoft.com/office/powerpoint/2010/main" val="27648714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848F5-1552-4316-ADB3-4EE4924B6477}"/>
              </a:ext>
            </a:extLst>
          </p:cNvPr>
          <p:cNvSpPr>
            <a:spLocks noGrp="1"/>
          </p:cNvSpPr>
          <p:nvPr>
            <p:ph type="ctrTitle"/>
          </p:nvPr>
        </p:nvSpPr>
        <p:spPr>
          <a:xfrm>
            <a:off x="1218460" y="171907"/>
            <a:ext cx="10452740" cy="742228"/>
          </a:xfrm>
        </p:spPr>
        <p:txBody>
          <a:bodyPr>
            <a:noAutofit/>
          </a:bodyPr>
          <a:lstStyle/>
          <a:p>
            <a:r>
              <a:rPr lang="en-US" sz="3800" dirty="0">
                <a:solidFill>
                  <a:srgbClr val="C00000"/>
                </a:solidFill>
              </a:rPr>
              <a:t>Formation of Process from Program - 1 [1]</a:t>
            </a:r>
          </a:p>
        </p:txBody>
      </p:sp>
      <p:sp>
        <p:nvSpPr>
          <p:cNvPr id="3" name="Subtitle 2">
            <a:extLst>
              <a:ext uri="{FF2B5EF4-FFF2-40B4-BE49-F238E27FC236}">
                <a16:creationId xmlns:a16="http://schemas.microsoft.com/office/drawing/2014/main" id="{2C5DF914-4B40-4A23-8AAC-9CFE7F215ACD}"/>
              </a:ext>
            </a:extLst>
          </p:cNvPr>
          <p:cNvSpPr>
            <a:spLocks noGrp="1"/>
          </p:cNvSpPr>
          <p:nvPr>
            <p:ph type="subTitle" idx="1"/>
          </p:nvPr>
        </p:nvSpPr>
        <p:spPr>
          <a:xfrm>
            <a:off x="1400082" y="1270184"/>
            <a:ext cx="9391836" cy="4031092"/>
          </a:xfrm>
        </p:spPr>
        <p:txBody>
          <a:bodyPr>
            <a:normAutofit fontScale="92500"/>
          </a:bodyPr>
          <a:lstStyle/>
          <a:p>
            <a:pPr marL="342900" indent="-342900" algn="l">
              <a:lnSpc>
                <a:spcPct val="150000"/>
              </a:lnSpc>
              <a:buFont typeface="Arial" panose="020B0604020202020204" pitchFamily="34" charset="0"/>
              <a:buChar char="•"/>
            </a:pPr>
            <a:r>
              <a:rPr lang="en-US" sz="2600" dirty="0"/>
              <a:t>For a program to become a process, it must go through various actions:</a:t>
            </a:r>
          </a:p>
          <a:p>
            <a:pPr marL="914400" lvl="1" indent="-457200" algn="l">
              <a:lnSpc>
                <a:spcPct val="150000"/>
              </a:lnSpc>
              <a:buFont typeface="+mj-lt"/>
              <a:buAutoNum type="arabicParenR"/>
            </a:pPr>
            <a:r>
              <a:rPr lang="en-US" sz="2200" dirty="0"/>
              <a:t>Loading the program into memory.</a:t>
            </a:r>
          </a:p>
          <a:p>
            <a:pPr marL="914400" lvl="1" indent="-457200" algn="l">
              <a:lnSpc>
                <a:spcPct val="150000"/>
              </a:lnSpc>
              <a:buFont typeface="+mj-lt"/>
              <a:buAutoNum type="arabicParenR"/>
            </a:pPr>
            <a:r>
              <a:rPr lang="en-US" sz="2200" dirty="0"/>
              <a:t>Allocating memory for the process (code, data, stack, heap).</a:t>
            </a:r>
          </a:p>
          <a:p>
            <a:pPr marL="914400" lvl="1" indent="-457200" algn="l">
              <a:lnSpc>
                <a:spcPct val="150000"/>
              </a:lnSpc>
              <a:buFont typeface="+mj-lt"/>
              <a:buAutoNum type="arabicParenR"/>
            </a:pPr>
            <a:r>
              <a:rPr lang="en-US" sz="2200" dirty="0"/>
              <a:t>Creating a Process Control Block (PCB) to track the process.</a:t>
            </a:r>
          </a:p>
          <a:p>
            <a:pPr marL="914400" lvl="1" indent="-457200" algn="l">
              <a:lnSpc>
                <a:spcPct val="150000"/>
              </a:lnSpc>
              <a:buFont typeface="+mj-lt"/>
              <a:buAutoNum type="arabicParenR"/>
            </a:pPr>
            <a:r>
              <a:rPr lang="en-US" sz="2200" dirty="0"/>
              <a:t>Initializing the CPU context (registers, stack pointer, program counter, etc.), </a:t>
            </a:r>
          </a:p>
          <a:p>
            <a:pPr marL="914400" lvl="1" indent="-457200" algn="l">
              <a:lnSpc>
                <a:spcPct val="150000"/>
              </a:lnSpc>
              <a:buFont typeface="+mj-lt"/>
              <a:buAutoNum type="arabicParenR"/>
            </a:pPr>
            <a:r>
              <a:rPr lang="en-US" sz="2200" dirty="0"/>
              <a:t>Finally, putting the new process into the scheduler’s queue (transitioning it to the “ready” state, and eventually to “running”).</a:t>
            </a:r>
            <a:endParaRPr lang="en-US" dirty="0"/>
          </a:p>
        </p:txBody>
      </p:sp>
      <p:sp>
        <p:nvSpPr>
          <p:cNvPr id="4" name="TextBox 3">
            <a:extLst>
              <a:ext uri="{FF2B5EF4-FFF2-40B4-BE49-F238E27FC236}">
                <a16:creationId xmlns:a16="http://schemas.microsoft.com/office/drawing/2014/main" id="{2AC82F3D-4D0A-852A-BD31-CD4A9BEEEAA1}"/>
              </a:ext>
            </a:extLst>
          </p:cNvPr>
          <p:cNvSpPr txBox="1"/>
          <p:nvPr/>
        </p:nvSpPr>
        <p:spPr>
          <a:xfrm>
            <a:off x="1628802" y="6133011"/>
            <a:ext cx="9632055" cy="307777"/>
          </a:xfrm>
          <a:prstGeom prst="rect">
            <a:avLst/>
          </a:prstGeom>
          <a:noFill/>
        </p:spPr>
        <p:txBody>
          <a:bodyPr wrap="square" rtlCol="0">
            <a:spAutoFit/>
          </a:bodyPr>
          <a:lstStyle/>
          <a:p>
            <a:r>
              <a:rPr lang="en-US" sz="1400" dirty="0"/>
              <a:t>[1]</a:t>
            </a:r>
            <a:r>
              <a:rPr lang="en-US" sz="1400" b="1" dirty="0"/>
              <a:t> Formation of Process from Program </a:t>
            </a:r>
            <a:r>
              <a:rPr lang="en-US" sz="1400" dirty="0">
                <a:hlinkClick r:id="rId3"/>
              </a:rPr>
              <a:t>https://www.geeksforgeeks.org/operating-systems/formation-of-process-from-program/</a:t>
            </a:r>
            <a:r>
              <a:rPr lang="en-US" sz="1400" dirty="0"/>
              <a:t> </a:t>
            </a:r>
          </a:p>
        </p:txBody>
      </p:sp>
    </p:spTree>
    <p:extLst>
      <p:ext uri="{BB962C8B-B14F-4D97-AF65-F5344CB8AC3E}">
        <p14:creationId xmlns:p14="http://schemas.microsoft.com/office/powerpoint/2010/main" val="34756951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072E63-6C86-20C5-A1FC-185D6BD5574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69493BB-C951-04CF-7C36-1854CDC8521A}"/>
              </a:ext>
            </a:extLst>
          </p:cNvPr>
          <p:cNvSpPr>
            <a:spLocks noGrp="1"/>
          </p:cNvSpPr>
          <p:nvPr>
            <p:ph type="ctrTitle"/>
          </p:nvPr>
        </p:nvSpPr>
        <p:spPr>
          <a:xfrm>
            <a:off x="1218460" y="171907"/>
            <a:ext cx="10452740" cy="742228"/>
          </a:xfrm>
        </p:spPr>
        <p:txBody>
          <a:bodyPr>
            <a:noAutofit/>
          </a:bodyPr>
          <a:lstStyle/>
          <a:p>
            <a:r>
              <a:rPr lang="en-US" sz="3800" dirty="0">
                <a:solidFill>
                  <a:srgbClr val="C00000"/>
                </a:solidFill>
              </a:rPr>
              <a:t>Formation of Process from Program – 2 [1]</a:t>
            </a:r>
          </a:p>
        </p:txBody>
      </p:sp>
      <p:sp>
        <p:nvSpPr>
          <p:cNvPr id="3" name="Subtitle 2">
            <a:extLst>
              <a:ext uri="{FF2B5EF4-FFF2-40B4-BE49-F238E27FC236}">
                <a16:creationId xmlns:a16="http://schemas.microsoft.com/office/drawing/2014/main" id="{30B8DFAA-6D5A-4A1C-0B38-58553310B575}"/>
              </a:ext>
            </a:extLst>
          </p:cNvPr>
          <p:cNvSpPr>
            <a:spLocks noGrp="1"/>
          </p:cNvSpPr>
          <p:nvPr>
            <p:ph type="subTitle" idx="1"/>
          </p:nvPr>
        </p:nvSpPr>
        <p:spPr>
          <a:xfrm>
            <a:off x="1400082" y="1270183"/>
            <a:ext cx="9391836" cy="4491097"/>
          </a:xfrm>
        </p:spPr>
        <p:txBody>
          <a:bodyPr>
            <a:normAutofit fontScale="92500" lnSpcReduction="20000"/>
          </a:bodyPr>
          <a:lstStyle/>
          <a:p>
            <a:pPr algn="l">
              <a:lnSpc>
                <a:spcPct val="150000"/>
              </a:lnSpc>
            </a:pPr>
            <a:r>
              <a:rPr lang="en-US" sz="2600" dirty="0"/>
              <a:t>1. Program Loading (Loading the Executable into Memory):</a:t>
            </a:r>
          </a:p>
          <a:p>
            <a:pPr marL="914400" lvl="1" indent="-457200" algn="l">
              <a:lnSpc>
                <a:spcPct val="150000"/>
              </a:lnSpc>
              <a:buFont typeface="Arial" panose="020B0604020202020204" pitchFamily="34" charset="0"/>
              <a:buChar char="•"/>
            </a:pPr>
            <a:r>
              <a:rPr lang="en-US" sz="2200" dirty="0"/>
              <a:t>The first step is loading the program from disk into memory. The operating system’s loader is responsible for this. It locates the executable file on storage and reads its contents (the program’s machine code and static data) into memory.</a:t>
            </a:r>
          </a:p>
          <a:p>
            <a:pPr marL="914400" lvl="1" indent="-457200" algn="l">
              <a:lnSpc>
                <a:spcPct val="150000"/>
              </a:lnSpc>
              <a:buFont typeface="Arial" panose="020B0604020202020204" pitchFamily="34" charset="0"/>
              <a:buChar char="•"/>
            </a:pPr>
            <a:r>
              <a:rPr lang="en-US" sz="2200" dirty="0"/>
              <a:t>In this stage, the OS typically creates a new address space for the process and begins populating it with the program’s code (text segment) and initialized data.</a:t>
            </a:r>
          </a:p>
          <a:p>
            <a:pPr marL="914400" lvl="1" indent="-457200" algn="l">
              <a:lnSpc>
                <a:spcPct val="150000"/>
              </a:lnSpc>
              <a:buFont typeface="Arial" panose="020B0604020202020204" pitchFamily="34" charset="0"/>
              <a:buChar char="•"/>
            </a:pPr>
            <a:r>
              <a:rPr lang="en-US" sz="2200" dirty="0"/>
              <a:t>During this loading phase, the OS also prepares basic memory structures for the process’s runtime, such as setting up an initial stack and heap region for the process.</a:t>
            </a:r>
            <a:endParaRPr lang="en-US" dirty="0"/>
          </a:p>
        </p:txBody>
      </p:sp>
      <p:sp>
        <p:nvSpPr>
          <p:cNvPr id="4" name="TextBox 3">
            <a:extLst>
              <a:ext uri="{FF2B5EF4-FFF2-40B4-BE49-F238E27FC236}">
                <a16:creationId xmlns:a16="http://schemas.microsoft.com/office/drawing/2014/main" id="{13B38A8D-5EC3-79EB-20B5-30BCD8F14E20}"/>
              </a:ext>
            </a:extLst>
          </p:cNvPr>
          <p:cNvSpPr txBox="1"/>
          <p:nvPr/>
        </p:nvSpPr>
        <p:spPr>
          <a:xfrm>
            <a:off x="1628802" y="6133011"/>
            <a:ext cx="9632055" cy="307777"/>
          </a:xfrm>
          <a:prstGeom prst="rect">
            <a:avLst/>
          </a:prstGeom>
          <a:noFill/>
        </p:spPr>
        <p:txBody>
          <a:bodyPr wrap="square" rtlCol="0">
            <a:spAutoFit/>
          </a:bodyPr>
          <a:lstStyle/>
          <a:p>
            <a:r>
              <a:rPr lang="en-US" sz="1400" dirty="0"/>
              <a:t>[1]</a:t>
            </a:r>
            <a:r>
              <a:rPr lang="en-US" sz="1400" b="1" dirty="0"/>
              <a:t> Formation of Process from Program </a:t>
            </a:r>
            <a:r>
              <a:rPr lang="en-US" sz="1400" dirty="0">
                <a:hlinkClick r:id="rId3"/>
              </a:rPr>
              <a:t>https://www.geeksforgeeks.org/operating-systems/formation-of-process-from-program/</a:t>
            </a:r>
            <a:r>
              <a:rPr lang="en-US" sz="1400" dirty="0"/>
              <a:t> </a:t>
            </a:r>
          </a:p>
        </p:txBody>
      </p:sp>
    </p:spTree>
    <p:extLst>
      <p:ext uri="{BB962C8B-B14F-4D97-AF65-F5344CB8AC3E}">
        <p14:creationId xmlns:p14="http://schemas.microsoft.com/office/powerpoint/2010/main" val="17725718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5869AC-0486-6713-19AD-A220FDD0E4E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B0BD85-29E1-6A9D-F38F-D7B9FF2EFD96}"/>
              </a:ext>
            </a:extLst>
          </p:cNvPr>
          <p:cNvSpPr>
            <a:spLocks noGrp="1"/>
          </p:cNvSpPr>
          <p:nvPr>
            <p:ph type="ctrTitle"/>
          </p:nvPr>
        </p:nvSpPr>
        <p:spPr>
          <a:xfrm>
            <a:off x="1218460" y="171907"/>
            <a:ext cx="10452740" cy="742228"/>
          </a:xfrm>
        </p:spPr>
        <p:txBody>
          <a:bodyPr>
            <a:noAutofit/>
          </a:bodyPr>
          <a:lstStyle/>
          <a:p>
            <a:r>
              <a:rPr lang="en-US" sz="3800" dirty="0">
                <a:solidFill>
                  <a:srgbClr val="C00000"/>
                </a:solidFill>
              </a:rPr>
              <a:t>Formation of Process from Program – 3 [1]</a:t>
            </a:r>
          </a:p>
        </p:txBody>
      </p:sp>
      <p:sp>
        <p:nvSpPr>
          <p:cNvPr id="3" name="Subtitle 2">
            <a:extLst>
              <a:ext uri="{FF2B5EF4-FFF2-40B4-BE49-F238E27FC236}">
                <a16:creationId xmlns:a16="http://schemas.microsoft.com/office/drawing/2014/main" id="{DC88A868-46E3-9440-6598-2EBE9EB40930}"/>
              </a:ext>
            </a:extLst>
          </p:cNvPr>
          <p:cNvSpPr>
            <a:spLocks noGrp="1"/>
          </p:cNvSpPr>
          <p:nvPr>
            <p:ph type="subTitle" idx="1"/>
          </p:nvPr>
        </p:nvSpPr>
        <p:spPr>
          <a:xfrm>
            <a:off x="1400082" y="1096280"/>
            <a:ext cx="9391836" cy="742228"/>
          </a:xfrm>
        </p:spPr>
        <p:txBody>
          <a:bodyPr>
            <a:normAutofit/>
          </a:bodyPr>
          <a:lstStyle/>
          <a:p>
            <a:pPr algn="l">
              <a:lnSpc>
                <a:spcPct val="150000"/>
              </a:lnSpc>
            </a:pPr>
            <a:r>
              <a:rPr lang="en-US" sz="2600" dirty="0"/>
              <a:t>2. Memory Allocation:</a:t>
            </a:r>
          </a:p>
        </p:txBody>
      </p:sp>
      <p:pic>
        <p:nvPicPr>
          <p:cNvPr id="6" name="Picture 5">
            <a:extLst>
              <a:ext uri="{FF2B5EF4-FFF2-40B4-BE49-F238E27FC236}">
                <a16:creationId xmlns:a16="http://schemas.microsoft.com/office/drawing/2014/main" id="{57552AAB-B5BC-E574-16D2-4611083F82BA}"/>
              </a:ext>
            </a:extLst>
          </p:cNvPr>
          <p:cNvPicPr>
            <a:picLocks noChangeAspect="1"/>
          </p:cNvPicPr>
          <p:nvPr/>
        </p:nvPicPr>
        <p:blipFill>
          <a:blip r:embed="rId3"/>
          <a:stretch>
            <a:fillRect/>
          </a:stretch>
        </p:blipFill>
        <p:spPr>
          <a:xfrm>
            <a:off x="2337004" y="1776799"/>
            <a:ext cx="8215651" cy="4114800"/>
          </a:xfrm>
          <a:prstGeom prst="rect">
            <a:avLst/>
          </a:prstGeom>
        </p:spPr>
      </p:pic>
      <p:sp>
        <p:nvSpPr>
          <p:cNvPr id="7" name="TextBox 6">
            <a:extLst>
              <a:ext uri="{FF2B5EF4-FFF2-40B4-BE49-F238E27FC236}">
                <a16:creationId xmlns:a16="http://schemas.microsoft.com/office/drawing/2014/main" id="{F67D91F6-A34B-52D7-3127-50635FF62F62}"/>
              </a:ext>
            </a:extLst>
          </p:cNvPr>
          <p:cNvSpPr txBox="1"/>
          <p:nvPr/>
        </p:nvSpPr>
        <p:spPr>
          <a:xfrm>
            <a:off x="1628802" y="6262037"/>
            <a:ext cx="9632055" cy="307777"/>
          </a:xfrm>
          <a:prstGeom prst="rect">
            <a:avLst/>
          </a:prstGeom>
          <a:noFill/>
        </p:spPr>
        <p:txBody>
          <a:bodyPr wrap="square" rtlCol="0">
            <a:spAutoFit/>
          </a:bodyPr>
          <a:lstStyle/>
          <a:p>
            <a:r>
              <a:rPr lang="en-US" sz="1400" dirty="0"/>
              <a:t>[1]</a:t>
            </a:r>
            <a:r>
              <a:rPr lang="en-US" sz="1400" b="1" dirty="0"/>
              <a:t> Formation of Process from Program </a:t>
            </a:r>
            <a:r>
              <a:rPr lang="en-US" sz="1400" dirty="0">
                <a:hlinkClick r:id="rId4"/>
              </a:rPr>
              <a:t>https://www.geeksforgeeks.org/operating-systems/formation-of-process-from-program/</a:t>
            </a:r>
            <a:r>
              <a:rPr lang="en-US" sz="1400" dirty="0"/>
              <a:t> </a:t>
            </a:r>
          </a:p>
        </p:txBody>
      </p:sp>
    </p:spTree>
    <p:extLst>
      <p:ext uri="{BB962C8B-B14F-4D97-AF65-F5344CB8AC3E}">
        <p14:creationId xmlns:p14="http://schemas.microsoft.com/office/powerpoint/2010/main" val="41666253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E4D3B9-5D4D-079D-CA9D-9D3219F957A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B02B815-C43C-B492-E3E9-30275837A79A}"/>
              </a:ext>
            </a:extLst>
          </p:cNvPr>
          <p:cNvSpPr>
            <a:spLocks noGrp="1"/>
          </p:cNvSpPr>
          <p:nvPr>
            <p:ph type="ctrTitle"/>
          </p:nvPr>
        </p:nvSpPr>
        <p:spPr>
          <a:xfrm>
            <a:off x="1218460" y="171907"/>
            <a:ext cx="10452740" cy="742228"/>
          </a:xfrm>
        </p:spPr>
        <p:txBody>
          <a:bodyPr>
            <a:noAutofit/>
          </a:bodyPr>
          <a:lstStyle/>
          <a:p>
            <a:r>
              <a:rPr lang="en-US" sz="3800" dirty="0">
                <a:solidFill>
                  <a:srgbClr val="C00000"/>
                </a:solidFill>
              </a:rPr>
              <a:t>Formation of Process from Program – 4 [1]</a:t>
            </a:r>
          </a:p>
        </p:txBody>
      </p:sp>
      <p:sp>
        <p:nvSpPr>
          <p:cNvPr id="3" name="Subtitle 2">
            <a:extLst>
              <a:ext uri="{FF2B5EF4-FFF2-40B4-BE49-F238E27FC236}">
                <a16:creationId xmlns:a16="http://schemas.microsoft.com/office/drawing/2014/main" id="{8036700C-5DCE-91A3-F8E0-9A4FE0D19183}"/>
              </a:ext>
            </a:extLst>
          </p:cNvPr>
          <p:cNvSpPr>
            <a:spLocks noGrp="1"/>
          </p:cNvSpPr>
          <p:nvPr>
            <p:ph type="subTitle" idx="1"/>
          </p:nvPr>
        </p:nvSpPr>
        <p:spPr>
          <a:xfrm>
            <a:off x="760563" y="1174816"/>
            <a:ext cx="8260021" cy="4653783"/>
          </a:xfrm>
        </p:spPr>
        <p:txBody>
          <a:bodyPr>
            <a:normAutofit fontScale="92500" lnSpcReduction="10000"/>
          </a:bodyPr>
          <a:lstStyle/>
          <a:p>
            <a:pPr algn="l">
              <a:lnSpc>
                <a:spcPct val="150000"/>
              </a:lnSpc>
            </a:pPr>
            <a:r>
              <a:rPr lang="en-US" sz="2600" dirty="0"/>
              <a:t>3. Creating the Process Control Block (PCB):</a:t>
            </a:r>
          </a:p>
          <a:p>
            <a:pPr marL="914400" lvl="1" indent="-457200" algn="l">
              <a:lnSpc>
                <a:spcPct val="150000"/>
              </a:lnSpc>
              <a:buFont typeface="+mj-lt"/>
              <a:buAutoNum type="arabicParenR"/>
            </a:pPr>
            <a:r>
              <a:rPr lang="en-US" sz="2200" dirty="0"/>
              <a:t>In parallel with establishing the memory, the OS creates a Process Control Block (PCB) for the new process. The PCB (sometimes called a process descriptor or task control block) is a data structure in the kernel that holds all the metadata about the process.</a:t>
            </a:r>
          </a:p>
          <a:p>
            <a:pPr marL="914400" lvl="1" indent="-457200" algn="l">
              <a:lnSpc>
                <a:spcPct val="150000"/>
              </a:lnSpc>
              <a:buFont typeface="+mj-lt"/>
              <a:buAutoNum type="arabicParenR"/>
            </a:pPr>
            <a:r>
              <a:rPr lang="en-US" sz="2200" dirty="0"/>
              <a:t>When the process is created, the OS assigns it a unique Process Identifier (PID) and adds an entry for the process in the system’s process table (an index of all active processes). Memory for the PCB itself is allocated (often as part of the kernel’s process table or a separate kernel memory area).</a:t>
            </a:r>
            <a:endParaRPr lang="en-US" dirty="0"/>
          </a:p>
        </p:txBody>
      </p:sp>
      <p:pic>
        <p:nvPicPr>
          <p:cNvPr id="5" name="Picture 4">
            <a:extLst>
              <a:ext uri="{FF2B5EF4-FFF2-40B4-BE49-F238E27FC236}">
                <a16:creationId xmlns:a16="http://schemas.microsoft.com/office/drawing/2014/main" id="{AC1C098A-D58D-18AE-46F6-1AEF9A95F5A7}"/>
              </a:ext>
            </a:extLst>
          </p:cNvPr>
          <p:cNvPicPr>
            <a:picLocks noChangeAspect="1"/>
          </p:cNvPicPr>
          <p:nvPr/>
        </p:nvPicPr>
        <p:blipFill>
          <a:blip r:embed="rId3"/>
          <a:stretch>
            <a:fillRect/>
          </a:stretch>
        </p:blipFill>
        <p:spPr>
          <a:xfrm>
            <a:off x="9285901" y="1326722"/>
            <a:ext cx="2248095" cy="4381880"/>
          </a:xfrm>
          <a:prstGeom prst="rect">
            <a:avLst/>
          </a:prstGeom>
        </p:spPr>
      </p:pic>
      <p:sp>
        <p:nvSpPr>
          <p:cNvPr id="6" name="TextBox 5">
            <a:extLst>
              <a:ext uri="{FF2B5EF4-FFF2-40B4-BE49-F238E27FC236}">
                <a16:creationId xmlns:a16="http://schemas.microsoft.com/office/drawing/2014/main" id="{D50F9AB1-6B9F-253C-9872-1F5172CC067A}"/>
              </a:ext>
            </a:extLst>
          </p:cNvPr>
          <p:cNvSpPr txBox="1"/>
          <p:nvPr/>
        </p:nvSpPr>
        <p:spPr>
          <a:xfrm>
            <a:off x="1628802" y="6133011"/>
            <a:ext cx="9632055" cy="307777"/>
          </a:xfrm>
          <a:prstGeom prst="rect">
            <a:avLst/>
          </a:prstGeom>
          <a:noFill/>
        </p:spPr>
        <p:txBody>
          <a:bodyPr wrap="square" rtlCol="0">
            <a:spAutoFit/>
          </a:bodyPr>
          <a:lstStyle/>
          <a:p>
            <a:r>
              <a:rPr lang="en-US" sz="1400" dirty="0"/>
              <a:t>[1]</a:t>
            </a:r>
            <a:r>
              <a:rPr lang="en-US" sz="1400" b="1" dirty="0"/>
              <a:t> Formation of Process from Program </a:t>
            </a:r>
            <a:r>
              <a:rPr lang="en-US" sz="1400" dirty="0">
                <a:hlinkClick r:id="rId4"/>
              </a:rPr>
              <a:t>https://www.geeksforgeeks.org/operating-systems/formation-of-process-from-program/</a:t>
            </a:r>
            <a:r>
              <a:rPr lang="en-US" sz="1400" dirty="0"/>
              <a:t> </a:t>
            </a:r>
          </a:p>
        </p:txBody>
      </p:sp>
    </p:spTree>
    <p:extLst>
      <p:ext uri="{BB962C8B-B14F-4D97-AF65-F5344CB8AC3E}">
        <p14:creationId xmlns:p14="http://schemas.microsoft.com/office/powerpoint/2010/main" val="30501404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A57100-17D2-B303-CDD4-DBFA23D9232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722765-14D0-A6D5-EE76-F8FFCB07C25F}"/>
              </a:ext>
            </a:extLst>
          </p:cNvPr>
          <p:cNvSpPr>
            <a:spLocks noGrp="1"/>
          </p:cNvSpPr>
          <p:nvPr>
            <p:ph type="ctrTitle"/>
          </p:nvPr>
        </p:nvSpPr>
        <p:spPr>
          <a:xfrm>
            <a:off x="1218460" y="171907"/>
            <a:ext cx="10452740" cy="742228"/>
          </a:xfrm>
        </p:spPr>
        <p:txBody>
          <a:bodyPr>
            <a:noAutofit/>
          </a:bodyPr>
          <a:lstStyle/>
          <a:p>
            <a:r>
              <a:rPr lang="en-US" sz="3800" dirty="0">
                <a:solidFill>
                  <a:srgbClr val="C00000"/>
                </a:solidFill>
              </a:rPr>
              <a:t>Formation of Process from Program – 5 [1]</a:t>
            </a:r>
          </a:p>
        </p:txBody>
      </p:sp>
      <p:sp>
        <p:nvSpPr>
          <p:cNvPr id="3" name="Subtitle 2">
            <a:extLst>
              <a:ext uri="{FF2B5EF4-FFF2-40B4-BE49-F238E27FC236}">
                <a16:creationId xmlns:a16="http://schemas.microsoft.com/office/drawing/2014/main" id="{C54F9B2D-AF61-2AD6-9094-2844CC809AF8}"/>
              </a:ext>
            </a:extLst>
          </p:cNvPr>
          <p:cNvSpPr>
            <a:spLocks noGrp="1"/>
          </p:cNvSpPr>
          <p:nvPr>
            <p:ph type="subTitle" idx="1"/>
          </p:nvPr>
        </p:nvSpPr>
        <p:spPr>
          <a:xfrm>
            <a:off x="810367" y="860666"/>
            <a:ext cx="10571265" cy="5673961"/>
          </a:xfrm>
        </p:spPr>
        <p:txBody>
          <a:bodyPr>
            <a:normAutofit fontScale="25000" lnSpcReduction="20000"/>
          </a:bodyPr>
          <a:lstStyle/>
          <a:p>
            <a:pPr algn="l">
              <a:lnSpc>
                <a:spcPct val="150000"/>
              </a:lnSpc>
            </a:pPr>
            <a:r>
              <a:rPr lang="en-US" sz="8000" dirty="0"/>
              <a:t>4. Setting Up the Execution Context:</a:t>
            </a:r>
          </a:p>
          <a:p>
            <a:pPr marL="1314450" lvl="1" indent="-857250" algn="l">
              <a:lnSpc>
                <a:spcPct val="150000"/>
              </a:lnSpc>
              <a:buFont typeface="Arial" panose="020B0604020202020204" pitchFamily="34" charset="0"/>
              <a:buChar char="•"/>
            </a:pPr>
            <a:r>
              <a:rPr lang="en-US" sz="6400" dirty="0"/>
              <a:t>Stack Initialization: The process’s stack region was allocated earlier; now the OS arranges the initial stack frame. This often includes placing the program’s command-line arguments and environment variables onto the stack or in a specific memory region, and setting the stack pointer accordingly.</a:t>
            </a:r>
          </a:p>
          <a:p>
            <a:pPr marL="1314450" lvl="1" indent="-857250" algn="l">
              <a:lnSpc>
                <a:spcPct val="150000"/>
              </a:lnSpc>
              <a:buFont typeface="Arial" panose="020B0604020202020204" pitchFamily="34" charset="0"/>
              <a:buChar char="•"/>
            </a:pPr>
            <a:r>
              <a:rPr lang="en-US" sz="6400" dirty="0"/>
              <a:t>Heap Setup: The heap segment is typically empty at start (no allocations done yet), but the OS establishes a pointer (or break value) that indicates the current end of the heap.  The OS ensures the process has the right to expand its heap up to some limit. In practice, nothing specific is placed in the heap at creation except setting its boundaries. </a:t>
            </a:r>
          </a:p>
          <a:p>
            <a:pPr marL="1314450" lvl="1" indent="-857250" algn="l">
              <a:lnSpc>
                <a:spcPct val="150000"/>
              </a:lnSpc>
              <a:buFont typeface="Arial" panose="020B0604020202020204" pitchFamily="34" charset="0"/>
              <a:buChar char="•"/>
            </a:pPr>
            <a:r>
              <a:rPr lang="en-US" sz="6400" dirty="0"/>
              <a:t>CPU Registers and Execution Start: The OS initializes the CPU register context for the new process so that it can start execution. This includes setting the instruction pointer (program counter) to the program’s entry point. It also sets the stack pointer register to the top of the stack segment that was set up, and may set other registers. Essentially, the OS prepares a context such that if the CPU were to switch to this process, it would start executing the new program from its beginning with a clean stack.</a:t>
            </a:r>
          </a:p>
          <a:p>
            <a:pPr marL="1314450" lvl="1" indent="-857250" algn="l">
              <a:lnSpc>
                <a:spcPct val="150000"/>
              </a:lnSpc>
              <a:buFont typeface="Arial" panose="020B0604020202020204" pitchFamily="34" charset="0"/>
              <a:buChar char="•"/>
            </a:pPr>
            <a:r>
              <a:rPr lang="en-US" sz="6400" dirty="0"/>
              <a:t>Kernel/Mode Context: The OS also sets up any needed kernel-mode context for the process. For example, it may allocate a kernel stack for the process/thread (used when the process transitions to kernel mode for system calls or interrupts).</a:t>
            </a:r>
          </a:p>
        </p:txBody>
      </p:sp>
      <p:sp>
        <p:nvSpPr>
          <p:cNvPr id="4" name="TextBox 3">
            <a:extLst>
              <a:ext uri="{FF2B5EF4-FFF2-40B4-BE49-F238E27FC236}">
                <a16:creationId xmlns:a16="http://schemas.microsoft.com/office/drawing/2014/main" id="{3D173E7D-2563-669A-10FA-2A40A0AA909F}"/>
              </a:ext>
            </a:extLst>
          </p:cNvPr>
          <p:cNvSpPr txBox="1"/>
          <p:nvPr/>
        </p:nvSpPr>
        <p:spPr>
          <a:xfrm>
            <a:off x="1628802" y="6492039"/>
            <a:ext cx="9632055" cy="307777"/>
          </a:xfrm>
          <a:prstGeom prst="rect">
            <a:avLst/>
          </a:prstGeom>
          <a:noFill/>
        </p:spPr>
        <p:txBody>
          <a:bodyPr wrap="square" rtlCol="0">
            <a:spAutoFit/>
          </a:bodyPr>
          <a:lstStyle/>
          <a:p>
            <a:r>
              <a:rPr lang="en-US" sz="1400" dirty="0"/>
              <a:t>[1]</a:t>
            </a:r>
            <a:r>
              <a:rPr lang="en-US" sz="1400" b="1" dirty="0"/>
              <a:t> Formation of Process from Program </a:t>
            </a:r>
            <a:r>
              <a:rPr lang="en-US" sz="1400" dirty="0">
                <a:hlinkClick r:id="rId3"/>
              </a:rPr>
              <a:t>https://www.geeksforgeeks.org/operating-systems/formation-of-process-from-program/</a:t>
            </a:r>
            <a:r>
              <a:rPr lang="en-US" sz="1400" dirty="0"/>
              <a:t> </a:t>
            </a:r>
          </a:p>
        </p:txBody>
      </p:sp>
    </p:spTree>
    <p:extLst>
      <p:ext uri="{BB962C8B-B14F-4D97-AF65-F5344CB8AC3E}">
        <p14:creationId xmlns:p14="http://schemas.microsoft.com/office/powerpoint/2010/main" val="16757821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C29296-06A4-BAD7-7570-76F1C7AC183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82732E2-C295-C5E8-3ED2-F0FBD5C0F9D8}"/>
              </a:ext>
            </a:extLst>
          </p:cNvPr>
          <p:cNvSpPr>
            <a:spLocks noGrp="1"/>
          </p:cNvSpPr>
          <p:nvPr>
            <p:ph type="ctrTitle"/>
          </p:nvPr>
        </p:nvSpPr>
        <p:spPr>
          <a:xfrm>
            <a:off x="1218460" y="171907"/>
            <a:ext cx="10452740" cy="742228"/>
          </a:xfrm>
        </p:spPr>
        <p:txBody>
          <a:bodyPr>
            <a:noAutofit/>
          </a:bodyPr>
          <a:lstStyle/>
          <a:p>
            <a:r>
              <a:rPr lang="en-US" sz="3800" dirty="0">
                <a:solidFill>
                  <a:srgbClr val="C00000"/>
                </a:solidFill>
              </a:rPr>
              <a:t>Formation of Process from Program – 6 [1]</a:t>
            </a:r>
          </a:p>
        </p:txBody>
      </p:sp>
      <p:sp>
        <p:nvSpPr>
          <p:cNvPr id="3" name="Subtitle 2">
            <a:extLst>
              <a:ext uri="{FF2B5EF4-FFF2-40B4-BE49-F238E27FC236}">
                <a16:creationId xmlns:a16="http://schemas.microsoft.com/office/drawing/2014/main" id="{39C249F8-F4B3-43DD-ED32-4054AE16F394}"/>
              </a:ext>
            </a:extLst>
          </p:cNvPr>
          <p:cNvSpPr>
            <a:spLocks noGrp="1"/>
          </p:cNvSpPr>
          <p:nvPr>
            <p:ph type="subTitle" idx="1"/>
          </p:nvPr>
        </p:nvSpPr>
        <p:spPr>
          <a:xfrm>
            <a:off x="1400082" y="1043161"/>
            <a:ext cx="9391836" cy="606125"/>
          </a:xfrm>
        </p:spPr>
        <p:txBody>
          <a:bodyPr>
            <a:normAutofit/>
          </a:bodyPr>
          <a:lstStyle/>
          <a:p>
            <a:pPr algn="l">
              <a:lnSpc>
                <a:spcPct val="150000"/>
              </a:lnSpc>
            </a:pPr>
            <a:r>
              <a:rPr lang="en-US" dirty="0"/>
              <a:t>5. Transition to Ready State and Scheduling:</a:t>
            </a:r>
          </a:p>
        </p:txBody>
      </p:sp>
      <p:pic>
        <p:nvPicPr>
          <p:cNvPr id="5" name="Picture 4">
            <a:extLst>
              <a:ext uri="{FF2B5EF4-FFF2-40B4-BE49-F238E27FC236}">
                <a16:creationId xmlns:a16="http://schemas.microsoft.com/office/drawing/2014/main" id="{110016CE-4EF1-842C-7C16-CFC51FC8D11F}"/>
              </a:ext>
            </a:extLst>
          </p:cNvPr>
          <p:cNvPicPr>
            <a:picLocks noChangeAspect="1"/>
          </p:cNvPicPr>
          <p:nvPr/>
        </p:nvPicPr>
        <p:blipFill>
          <a:blip r:embed="rId3"/>
          <a:stretch>
            <a:fillRect/>
          </a:stretch>
        </p:blipFill>
        <p:spPr>
          <a:xfrm>
            <a:off x="3000106" y="1948073"/>
            <a:ext cx="6191787" cy="3627434"/>
          </a:xfrm>
          <a:prstGeom prst="rect">
            <a:avLst/>
          </a:prstGeom>
        </p:spPr>
      </p:pic>
      <p:sp>
        <p:nvSpPr>
          <p:cNvPr id="6" name="TextBox 5">
            <a:extLst>
              <a:ext uri="{FF2B5EF4-FFF2-40B4-BE49-F238E27FC236}">
                <a16:creationId xmlns:a16="http://schemas.microsoft.com/office/drawing/2014/main" id="{6A8C90E6-EEC1-4C75-2FFF-46E511754023}"/>
              </a:ext>
            </a:extLst>
          </p:cNvPr>
          <p:cNvSpPr txBox="1"/>
          <p:nvPr/>
        </p:nvSpPr>
        <p:spPr>
          <a:xfrm>
            <a:off x="1628802" y="6133011"/>
            <a:ext cx="9632055" cy="307777"/>
          </a:xfrm>
          <a:prstGeom prst="rect">
            <a:avLst/>
          </a:prstGeom>
          <a:noFill/>
        </p:spPr>
        <p:txBody>
          <a:bodyPr wrap="square" rtlCol="0">
            <a:spAutoFit/>
          </a:bodyPr>
          <a:lstStyle/>
          <a:p>
            <a:r>
              <a:rPr lang="en-US" sz="1400" dirty="0"/>
              <a:t>[1]</a:t>
            </a:r>
            <a:r>
              <a:rPr lang="en-US" sz="1400" b="1" dirty="0"/>
              <a:t> Formation of Process from Program </a:t>
            </a:r>
            <a:r>
              <a:rPr lang="en-US" sz="1400" dirty="0">
                <a:hlinkClick r:id="rId4"/>
              </a:rPr>
              <a:t>https://www.geeksforgeeks.org/operating-systems/formation-of-process-from-program/</a:t>
            </a:r>
            <a:r>
              <a:rPr lang="en-US" sz="1400" dirty="0"/>
              <a:t> </a:t>
            </a:r>
          </a:p>
        </p:txBody>
      </p:sp>
    </p:spTree>
    <p:extLst>
      <p:ext uri="{BB962C8B-B14F-4D97-AF65-F5344CB8AC3E}">
        <p14:creationId xmlns:p14="http://schemas.microsoft.com/office/powerpoint/2010/main" val="38181982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848F5-1552-4316-ADB3-4EE4924B6477}"/>
              </a:ext>
            </a:extLst>
          </p:cNvPr>
          <p:cNvSpPr>
            <a:spLocks noGrp="1"/>
          </p:cNvSpPr>
          <p:nvPr>
            <p:ph type="ctrTitle"/>
          </p:nvPr>
        </p:nvSpPr>
        <p:spPr>
          <a:xfrm>
            <a:off x="1218460" y="194346"/>
            <a:ext cx="10452740" cy="591659"/>
          </a:xfrm>
        </p:spPr>
        <p:txBody>
          <a:bodyPr>
            <a:noAutofit/>
          </a:bodyPr>
          <a:lstStyle/>
          <a:p>
            <a:r>
              <a:rPr lang="en-US" sz="3800" dirty="0">
                <a:solidFill>
                  <a:srgbClr val="C00000"/>
                </a:solidFill>
              </a:rPr>
              <a:t>Direct execution</a:t>
            </a:r>
          </a:p>
        </p:txBody>
      </p:sp>
      <p:pic>
        <p:nvPicPr>
          <p:cNvPr id="10" name="Picture 9">
            <a:extLst>
              <a:ext uri="{FF2B5EF4-FFF2-40B4-BE49-F238E27FC236}">
                <a16:creationId xmlns:a16="http://schemas.microsoft.com/office/drawing/2014/main" id="{08C33326-1AAD-E2BE-1BFF-2722611C63A5}"/>
              </a:ext>
            </a:extLst>
          </p:cNvPr>
          <p:cNvPicPr>
            <a:picLocks noChangeAspect="1"/>
          </p:cNvPicPr>
          <p:nvPr/>
        </p:nvPicPr>
        <p:blipFill>
          <a:blip r:embed="rId2"/>
          <a:stretch>
            <a:fillRect/>
          </a:stretch>
        </p:blipFill>
        <p:spPr>
          <a:xfrm>
            <a:off x="1744042" y="1601426"/>
            <a:ext cx="9401575" cy="4572000"/>
          </a:xfrm>
          <a:prstGeom prst="rect">
            <a:avLst/>
          </a:prstGeom>
        </p:spPr>
      </p:pic>
      <p:sp>
        <p:nvSpPr>
          <p:cNvPr id="11" name="TextBox 10">
            <a:extLst>
              <a:ext uri="{FF2B5EF4-FFF2-40B4-BE49-F238E27FC236}">
                <a16:creationId xmlns:a16="http://schemas.microsoft.com/office/drawing/2014/main" id="{C5FC951F-3CEC-BC95-5B9D-089C5950B04E}"/>
              </a:ext>
            </a:extLst>
          </p:cNvPr>
          <p:cNvSpPr txBox="1"/>
          <p:nvPr/>
        </p:nvSpPr>
        <p:spPr>
          <a:xfrm>
            <a:off x="943998" y="3887426"/>
            <a:ext cx="812800" cy="369332"/>
          </a:xfrm>
          <a:prstGeom prst="rect">
            <a:avLst/>
          </a:prstGeom>
          <a:noFill/>
        </p:spPr>
        <p:txBody>
          <a:bodyPr wrap="square" rtlCol="0">
            <a:spAutoFit/>
          </a:bodyPr>
          <a:lstStyle/>
          <a:p>
            <a:r>
              <a:rPr lang="en-US" dirty="0">
                <a:highlight>
                  <a:srgbClr val="C0C0C0"/>
                </a:highlight>
              </a:rPr>
              <a:t>Time 2</a:t>
            </a:r>
          </a:p>
        </p:txBody>
      </p:sp>
      <p:sp>
        <p:nvSpPr>
          <p:cNvPr id="12" name="TextBox 11">
            <a:extLst>
              <a:ext uri="{FF2B5EF4-FFF2-40B4-BE49-F238E27FC236}">
                <a16:creationId xmlns:a16="http://schemas.microsoft.com/office/drawing/2014/main" id="{894D19AA-1991-75A3-CB24-F79AB77A3927}"/>
              </a:ext>
            </a:extLst>
          </p:cNvPr>
          <p:cNvSpPr txBox="1"/>
          <p:nvPr/>
        </p:nvSpPr>
        <p:spPr>
          <a:xfrm>
            <a:off x="943998" y="4665751"/>
            <a:ext cx="812800" cy="369332"/>
          </a:xfrm>
          <a:prstGeom prst="rect">
            <a:avLst/>
          </a:prstGeom>
          <a:noFill/>
        </p:spPr>
        <p:txBody>
          <a:bodyPr wrap="square" rtlCol="0">
            <a:spAutoFit/>
          </a:bodyPr>
          <a:lstStyle/>
          <a:p>
            <a:r>
              <a:rPr lang="en-US" dirty="0">
                <a:highlight>
                  <a:srgbClr val="C0C0C0"/>
                </a:highlight>
              </a:rPr>
              <a:t>Time 3</a:t>
            </a:r>
          </a:p>
        </p:txBody>
      </p:sp>
      <p:sp>
        <p:nvSpPr>
          <p:cNvPr id="13" name="TextBox 12">
            <a:extLst>
              <a:ext uri="{FF2B5EF4-FFF2-40B4-BE49-F238E27FC236}">
                <a16:creationId xmlns:a16="http://schemas.microsoft.com/office/drawing/2014/main" id="{8492B19B-A672-14F7-67FC-EF8F18FF3E84}"/>
              </a:ext>
            </a:extLst>
          </p:cNvPr>
          <p:cNvSpPr txBox="1"/>
          <p:nvPr/>
        </p:nvSpPr>
        <p:spPr>
          <a:xfrm>
            <a:off x="943998" y="2761071"/>
            <a:ext cx="812800" cy="369332"/>
          </a:xfrm>
          <a:prstGeom prst="rect">
            <a:avLst/>
          </a:prstGeom>
          <a:noFill/>
        </p:spPr>
        <p:txBody>
          <a:bodyPr wrap="square" rtlCol="0">
            <a:spAutoFit/>
          </a:bodyPr>
          <a:lstStyle/>
          <a:p>
            <a:r>
              <a:rPr lang="en-US" dirty="0">
                <a:highlight>
                  <a:srgbClr val="C0C0C0"/>
                </a:highlight>
              </a:rPr>
              <a:t>Time 1</a:t>
            </a:r>
          </a:p>
        </p:txBody>
      </p:sp>
      <p:sp>
        <p:nvSpPr>
          <p:cNvPr id="14" name="Arrow: Right 13">
            <a:extLst>
              <a:ext uri="{FF2B5EF4-FFF2-40B4-BE49-F238E27FC236}">
                <a16:creationId xmlns:a16="http://schemas.microsoft.com/office/drawing/2014/main" id="{76E76784-1F45-CAD2-F8DE-DF83CE126E29}"/>
              </a:ext>
            </a:extLst>
          </p:cNvPr>
          <p:cNvSpPr/>
          <p:nvPr/>
        </p:nvSpPr>
        <p:spPr>
          <a:xfrm>
            <a:off x="2366480" y="4025422"/>
            <a:ext cx="4576840" cy="4571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9165952E-1652-E724-9E2B-CAE6300633F0}"/>
              </a:ext>
            </a:extLst>
          </p:cNvPr>
          <p:cNvSpPr txBox="1"/>
          <p:nvPr/>
        </p:nvSpPr>
        <p:spPr>
          <a:xfrm>
            <a:off x="1350398" y="1024503"/>
            <a:ext cx="9020585" cy="430887"/>
          </a:xfrm>
          <a:prstGeom prst="rect">
            <a:avLst/>
          </a:prstGeom>
          <a:noFill/>
        </p:spPr>
        <p:txBody>
          <a:bodyPr wrap="square" rtlCol="0">
            <a:spAutoFit/>
          </a:bodyPr>
          <a:lstStyle/>
          <a:p>
            <a:pPr marL="342900" indent="-342900">
              <a:buFont typeface="Arial" panose="020B0604020202020204" pitchFamily="34" charset="0"/>
              <a:buChar char="•"/>
            </a:pPr>
            <a:r>
              <a:rPr lang="en-US" sz="2200" dirty="0"/>
              <a:t>“Direct execution”: runs the program directly on the CPU</a:t>
            </a:r>
          </a:p>
        </p:txBody>
      </p:sp>
    </p:spTree>
    <p:extLst>
      <p:ext uri="{BB962C8B-B14F-4D97-AF65-F5344CB8AC3E}">
        <p14:creationId xmlns:p14="http://schemas.microsoft.com/office/powerpoint/2010/main" val="16009430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848F5-1552-4316-ADB3-4EE4924B6477}"/>
              </a:ext>
            </a:extLst>
          </p:cNvPr>
          <p:cNvSpPr>
            <a:spLocks noGrp="1"/>
          </p:cNvSpPr>
          <p:nvPr>
            <p:ph type="ctrTitle"/>
          </p:nvPr>
        </p:nvSpPr>
        <p:spPr>
          <a:xfrm>
            <a:off x="1218460" y="256787"/>
            <a:ext cx="10452740" cy="742228"/>
          </a:xfrm>
        </p:spPr>
        <p:txBody>
          <a:bodyPr>
            <a:noAutofit/>
          </a:bodyPr>
          <a:lstStyle/>
          <a:p>
            <a:r>
              <a:rPr lang="en-US" sz="4200" dirty="0">
                <a:solidFill>
                  <a:srgbClr val="C00000"/>
                </a:solidFill>
              </a:rPr>
              <a:t>Restricted executions</a:t>
            </a:r>
          </a:p>
        </p:txBody>
      </p:sp>
      <p:sp>
        <p:nvSpPr>
          <p:cNvPr id="3" name="Subtitle 2">
            <a:extLst>
              <a:ext uri="{FF2B5EF4-FFF2-40B4-BE49-F238E27FC236}">
                <a16:creationId xmlns:a16="http://schemas.microsoft.com/office/drawing/2014/main" id="{2C5DF914-4B40-4A23-8AAC-9CFE7F215ACD}"/>
              </a:ext>
            </a:extLst>
          </p:cNvPr>
          <p:cNvSpPr>
            <a:spLocks noGrp="1"/>
          </p:cNvSpPr>
          <p:nvPr>
            <p:ph type="subTitle" idx="1"/>
          </p:nvPr>
        </p:nvSpPr>
        <p:spPr>
          <a:xfrm>
            <a:off x="1581704" y="1073048"/>
            <a:ext cx="9391836" cy="5022271"/>
          </a:xfrm>
        </p:spPr>
        <p:txBody>
          <a:bodyPr>
            <a:normAutofit/>
          </a:bodyPr>
          <a:lstStyle/>
          <a:p>
            <a:pPr marL="342900" indent="-342900" algn="l">
              <a:lnSpc>
                <a:spcPct val="150000"/>
              </a:lnSpc>
              <a:buFont typeface="Arial" panose="020B0604020202020204" pitchFamily="34" charset="0"/>
              <a:buChar char="•"/>
            </a:pPr>
            <a:r>
              <a:rPr lang="en-US" sz="2200" dirty="0"/>
              <a:t>Problem from direct execution</a:t>
            </a:r>
          </a:p>
          <a:p>
            <a:pPr marL="800100" lvl="1" indent="-342900" algn="l">
              <a:lnSpc>
                <a:spcPct val="150000"/>
              </a:lnSpc>
              <a:buFont typeface="Wingdings" panose="05000000000000000000" pitchFamily="2" charset="2"/>
              <a:buChar char="§"/>
            </a:pPr>
            <a:r>
              <a:rPr lang="en-US" sz="2200" dirty="0"/>
              <a:t> Might abuse CPU usage</a:t>
            </a:r>
          </a:p>
          <a:p>
            <a:pPr marL="800100" lvl="1" indent="-342900" algn="l">
              <a:lnSpc>
                <a:spcPct val="150000"/>
              </a:lnSpc>
              <a:buFont typeface="Wingdings" panose="05000000000000000000" pitchFamily="2" charset="2"/>
              <a:buChar char="§"/>
            </a:pPr>
            <a:r>
              <a:rPr lang="en-US" sz="2200" dirty="0"/>
              <a:t>Cannot protect hardware like I/</a:t>
            </a:r>
            <a:r>
              <a:rPr lang="en-US" sz="2200"/>
              <a:t>O requests.</a:t>
            </a:r>
            <a:endParaRPr lang="en-US" sz="2200" dirty="0"/>
          </a:p>
          <a:p>
            <a:pPr marL="342900" indent="-342900" algn="l">
              <a:lnSpc>
                <a:spcPct val="150000"/>
              </a:lnSpc>
              <a:buFont typeface="Arial" panose="020B0604020202020204" pitchFamily="34" charset="0"/>
              <a:buChar char="•"/>
            </a:pPr>
            <a:r>
              <a:rPr lang="en-US" sz="2200" dirty="0">
                <a:solidFill>
                  <a:srgbClr val="C00000"/>
                </a:solidFill>
              </a:rPr>
              <a:t>User mode</a:t>
            </a:r>
          </a:p>
          <a:p>
            <a:pPr marL="800100" lvl="1" indent="-342900" algn="l">
              <a:lnSpc>
                <a:spcPct val="150000"/>
              </a:lnSpc>
              <a:buFont typeface="Wingdings" panose="05000000000000000000" pitchFamily="2" charset="2"/>
              <a:buChar char="§"/>
            </a:pPr>
            <a:r>
              <a:rPr lang="en-US" sz="2200" dirty="0"/>
              <a:t>Restricted: Issuing I/O requests to the disk will cause an interruption</a:t>
            </a:r>
          </a:p>
          <a:p>
            <a:pPr marL="342900" indent="-342900" algn="l">
              <a:lnSpc>
                <a:spcPct val="150000"/>
              </a:lnSpc>
              <a:buFont typeface="Arial" panose="020B0604020202020204" pitchFamily="34" charset="0"/>
              <a:buChar char="•"/>
            </a:pPr>
            <a:r>
              <a:rPr lang="en-US" sz="2200" dirty="0">
                <a:solidFill>
                  <a:srgbClr val="C00000"/>
                </a:solidFill>
              </a:rPr>
              <a:t>Kernel mode</a:t>
            </a:r>
          </a:p>
          <a:p>
            <a:pPr marL="800100" lvl="1" indent="-342900" algn="l">
              <a:lnSpc>
                <a:spcPct val="150000"/>
              </a:lnSpc>
              <a:buFont typeface="Wingdings" panose="05000000000000000000" pitchFamily="2" charset="2"/>
              <a:buChar char="§"/>
            </a:pPr>
            <a:r>
              <a:rPr lang="en-US" sz="2200" dirty="0"/>
              <a:t>Higher privilege: enable to issue I/O requests to the disk</a:t>
            </a:r>
          </a:p>
        </p:txBody>
      </p:sp>
    </p:spTree>
    <p:extLst>
      <p:ext uri="{BB962C8B-B14F-4D97-AF65-F5344CB8AC3E}">
        <p14:creationId xmlns:p14="http://schemas.microsoft.com/office/powerpoint/2010/main" val="13441195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848F5-1552-4316-ADB3-4EE4924B6477}"/>
              </a:ext>
            </a:extLst>
          </p:cNvPr>
          <p:cNvSpPr>
            <a:spLocks noGrp="1"/>
          </p:cNvSpPr>
          <p:nvPr>
            <p:ph type="ctrTitle"/>
          </p:nvPr>
        </p:nvSpPr>
        <p:spPr>
          <a:xfrm>
            <a:off x="1218460" y="323372"/>
            <a:ext cx="10452740" cy="742228"/>
          </a:xfrm>
        </p:spPr>
        <p:txBody>
          <a:bodyPr>
            <a:noAutofit/>
          </a:bodyPr>
          <a:lstStyle/>
          <a:p>
            <a:r>
              <a:rPr lang="en-US" sz="4400" dirty="0">
                <a:solidFill>
                  <a:srgbClr val="C00000"/>
                </a:solidFill>
              </a:rPr>
              <a:t>System call execution</a:t>
            </a:r>
            <a:endParaRPr lang="en-US" sz="4200" dirty="0">
              <a:solidFill>
                <a:srgbClr val="C00000"/>
              </a:solidFill>
            </a:endParaRPr>
          </a:p>
        </p:txBody>
      </p:sp>
      <p:sp>
        <p:nvSpPr>
          <p:cNvPr id="3" name="Subtitle 2">
            <a:extLst>
              <a:ext uri="{FF2B5EF4-FFF2-40B4-BE49-F238E27FC236}">
                <a16:creationId xmlns:a16="http://schemas.microsoft.com/office/drawing/2014/main" id="{2C5DF914-4B40-4A23-8AAC-9CFE7F215ACD}"/>
              </a:ext>
            </a:extLst>
          </p:cNvPr>
          <p:cNvSpPr>
            <a:spLocks noGrp="1"/>
          </p:cNvSpPr>
          <p:nvPr>
            <p:ph type="subTitle" idx="1"/>
          </p:nvPr>
        </p:nvSpPr>
        <p:spPr>
          <a:xfrm>
            <a:off x="1581704" y="1267560"/>
            <a:ext cx="9391836" cy="4138941"/>
          </a:xfrm>
        </p:spPr>
        <p:txBody>
          <a:bodyPr>
            <a:normAutofit/>
          </a:bodyPr>
          <a:lstStyle/>
          <a:p>
            <a:pPr marL="342900" indent="-342900" algn="l">
              <a:lnSpc>
                <a:spcPct val="150000"/>
              </a:lnSpc>
              <a:buFont typeface="Arial" panose="020B0604020202020204" pitchFamily="34" charset="0"/>
              <a:buChar char="•"/>
            </a:pPr>
            <a:r>
              <a:rPr lang="en-US" sz="2000" dirty="0"/>
              <a:t>Motivation</a:t>
            </a:r>
          </a:p>
          <a:p>
            <a:pPr lvl="1" algn="l">
              <a:lnSpc>
                <a:spcPct val="150000"/>
              </a:lnSpc>
            </a:pPr>
            <a:r>
              <a:rPr lang="en-US" dirty="0"/>
              <a:t>If a user mode tends to access a disk for reading/ writing files, a </a:t>
            </a:r>
            <a:r>
              <a:rPr lang="en-US" dirty="0">
                <a:solidFill>
                  <a:srgbClr val="C00000"/>
                </a:solidFill>
              </a:rPr>
              <a:t>system call</a:t>
            </a:r>
            <a:r>
              <a:rPr lang="en-US" dirty="0"/>
              <a:t> is necessary. </a:t>
            </a:r>
          </a:p>
          <a:p>
            <a:pPr marL="342900" indent="-342900" algn="l">
              <a:lnSpc>
                <a:spcPct val="150000"/>
              </a:lnSpc>
              <a:buFont typeface="Arial" panose="020B0604020202020204" pitchFamily="34" charset="0"/>
              <a:buChar char="•"/>
            </a:pPr>
            <a:r>
              <a:rPr lang="en-US" sz="2000" dirty="0"/>
              <a:t>System call execution</a:t>
            </a:r>
          </a:p>
          <a:p>
            <a:pPr marL="800100" lvl="1" indent="-342900" algn="l">
              <a:lnSpc>
                <a:spcPct val="150000"/>
              </a:lnSpc>
              <a:buFont typeface="Wingdings" panose="05000000000000000000" pitchFamily="2" charset="2"/>
              <a:buChar char="§"/>
            </a:pPr>
            <a:r>
              <a:rPr lang="en-US" dirty="0"/>
              <a:t>Triggers the </a:t>
            </a:r>
            <a:r>
              <a:rPr lang="en-US" dirty="0">
                <a:solidFill>
                  <a:srgbClr val="C00000"/>
                </a:solidFill>
              </a:rPr>
              <a:t>trap instruction </a:t>
            </a:r>
            <a:r>
              <a:rPr lang="en-US" dirty="0"/>
              <a:t>and jumps into the kernel mode</a:t>
            </a:r>
          </a:p>
          <a:p>
            <a:pPr marL="914400" lvl="1" indent="-457200" algn="l">
              <a:lnSpc>
                <a:spcPct val="150000"/>
              </a:lnSpc>
              <a:buFont typeface="Wingdings" panose="05000000000000000000" pitchFamily="2" charset="2"/>
              <a:buChar char="§"/>
            </a:pPr>
            <a:r>
              <a:rPr lang="en-US" dirty="0"/>
              <a:t>Do the required work for the calling process</a:t>
            </a:r>
          </a:p>
          <a:p>
            <a:pPr marL="914400" lvl="1" indent="-457200" algn="l">
              <a:lnSpc>
                <a:spcPct val="150000"/>
              </a:lnSpc>
              <a:buFont typeface="Wingdings" panose="05000000000000000000" pitchFamily="2" charset="2"/>
              <a:buChar char="§"/>
            </a:pPr>
            <a:r>
              <a:rPr lang="en-US" dirty="0"/>
              <a:t>C</a:t>
            </a:r>
            <a:r>
              <a:rPr lang="en-US" sz="2000" dirty="0"/>
              <a:t>alls a special </a:t>
            </a:r>
            <a:r>
              <a:rPr lang="en-US" sz="2000" dirty="0">
                <a:solidFill>
                  <a:srgbClr val="C00000"/>
                </a:solidFill>
              </a:rPr>
              <a:t>return-from-trap</a:t>
            </a:r>
            <a:r>
              <a:rPr lang="en-US" sz="2000" dirty="0"/>
              <a:t> instruction and back both called process and user mode</a:t>
            </a:r>
          </a:p>
        </p:txBody>
      </p:sp>
    </p:spTree>
    <p:extLst>
      <p:ext uri="{BB962C8B-B14F-4D97-AF65-F5344CB8AC3E}">
        <p14:creationId xmlns:p14="http://schemas.microsoft.com/office/powerpoint/2010/main" val="18346394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848F5-1552-4316-ADB3-4EE4924B6477}"/>
              </a:ext>
            </a:extLst>
          </p:cNvPr>
          <p:cNvSpPr>
            <a:spLocks noGrp="1"/>
          </p:cNvSpPr>
          <p:nvPr>
            <p:ph type="ctrTitle"/>
          </p:nvPr>
        </p:nvSpPr>
        <p:spPr>
          <a:xfrm>
            <a:off x="1218460" y="100824"/>
            <a:ext cx="10452740" cy="552319"/>
          </a:xfrm>
        </p:spPr>
        <p:txBody>
          <a:bodyPr>
            <a:noAutofit/>
          </a:bodyPr>
          <a:lstStyle/>
          <a:p>
            <a:r>
              <a:rPr lang="en-US" sz="3800" dirty="0">
                <a:solidFill>
                  <a:srgbClr val="C00000"/>
                </a:solidFill>
              </a:rPr>
              <a:t>Specifications of system call execution</a:t>
            </a:r>
          </a:p>
        </p:txBody>
      </p:sp>
      <p:sp>
        <p:nvSpPr>
          <p:cNvPr id="3" name="Subtitle 2">
            <a:extLst>
              <a:ext uri="{FF2B5EF4-FFF2-40B4-BE49-F238E27FC236}">
                <a16:creationId xmlns:a16="http://schemas.microsoft.com/office/drawing/2014/main" id="{2C5DF914-4B40-4A23-8AAC-9CFE7F215ACD}"/>
              </a:ext>
            </a:extLst>
          </p:cNvPr>
          <p:cNvSpPr>
            <a:spLocks noGrp="1"/>
          </p:cNvSpPr>
          <p:nvPr>
            <p:ph type="subTitle" idx="1"/>
          </p:nvPr>
        </p:nvSpPr>
        <p:spPr>
          <a:xfrm>
            <a:off x="1581704" y="740209"/>
            <a:ext cx="9391836" cy="5883143"/>
          </a:xfrm>
        </p:spPr>
        <p:txBody>
          <a:bodyPr>
            <a:normAutofit lnSpcReduction="10000"/>
          </a:bodyPr>
          <a:lstStyle/>
          <a:p>
            <a:pPr marL="342900" indent="-342900" algn="l">
              <a:lnSpc>
                <a:spcPct val="150000"/>
              </a:lnSpc>
              <a:buFont typeface="Arial" panose="020B0604020202020204" pitchFamily="34" charset="0"/>
              <a:buChar char="•"/>
            </a:pPr>
            <a:r>
              <a:rPr lang="en-US" sz="2000" dirty="0">
                <a:solidFill>
                  <a:srgbClr val="C00000"/>
                </a:solidFill>
              </a:rPr>
              <a:t>Trap instruction</a:t>
            </a:r>
          </a:p>
          <a:p>
            <a:pPr lvl="1" algn="l">
              <a:lnSpc>
                <a:spcPct val="150000"/>
              </a:lnSpc>
            </a:pPr>
            <a:r>
              <a:rPr lang="en-US" dirty="0"/>
              <a:t>Jumps into the kernel and raises the privilege level to kernel mode</a:t>
            </a:r>
          </a:p>
          <a:p>
            <a:pPr marL="342900" indent="-342900" algn="l">
              <a:lnSpc>
                <a:spcPct val="150000"/>
              </a:lnSpc>
              <a:buFont typeface="Arial" panose="020B0604020202020204" pitchFamily="34" charset="0"/>
              <a:buChar char="•"/>
            </a:pPr>
            <a:r>
              <a:rPr lang="en-US" sz="2000" dirty="0">
                <a:solidFill>
                  <a:srgbClr val="C00000"/>
                </a:solidFill>
              </a:rPr>
              <a:t>The return-from-trap instruction</a:t>
            </a:r>
          </a:p>
          <a:p>
            <a:pPr lvl="1" algn="l">
              <a:lnSpc>
                <a:spcPct val="150000"/>
              </a:lnSpc>
            </a:pPr>
            <a:r>
              <a:rPr lang="en-US" dirty="0"/>
              <a:t>Returns into the calling user program while simultaneously reducing the privilege level back to user mode</a:t>
            </a:r>
          </a:p>
          <a:p>
            <a:pPr marL="342900" indent="-342900" algn="l">
              <a:lnSpc>
                <a:spcPct val="150000"/>
              </a:lnSpc>
              <a:buFont typeface="Arial" panose="020B0604020202020204" pitchFamily="34" charset="0"/>
              <a:buChar char="•"/>
            </a:pPr>
            <a:r>
              <a:rPr lang="en-US" sz="2000" dirty="0">
                <a:solidFill>
                  <a:srgbClr val="C00000"/>
                </a:solidFill>
              </a:rPr>
              <a:t>Kernel stack</a:t>
            </a:r>
          </a:p>
          <a:p>
            <a:pPr lvl="1" algn="l">
              <a:lnSpc>
                <a:spcPct val="150000"/>
              </a:lnSpc>
            </a:pPr>
            <a:r>
              <a:rPr lang="en-US" dirty="0"/>
              <a:t>where registers (including general-purpose registers and the program counter) are saved to and restored from(by the hardware)when transitioning into and out of the kernel</a:t>
            </a:r>
          </a:p>
          <a:p>
            <a:pPr marL="342900" indent="-342900" algn="l">
              <a:lnSpc>
                <a:spcPct val="150000"/>
              </a:lnSpc>
              <a:buFont typeface="Arial" panose="020B0604020202020204" pitchFamily="34" charset="0"/>
              <a:buChar char="•"/>
            </a:pPr>
            <a:r>
              <a:rPr lang="en-US" sz="2000" dirty="0">
                <a:solidFill>
                  <a:srgbClr val="C00000"/>
                </a:solidFill>
              </a:rPr>
              <a:t>Trap table</a:t>
            </a:r>
          </a:p>
          <a:p>
            <a:pPr lvl="1" algn="l">
              <a:lnSpc>
                <a:spcPct val="150000"/>
              </a:lnSpc>
            </a:pPr>
            <a:r>
              <a:rPr lang="en-US" dirty="0"/>
              <a:t>One of the first things the OS does is tell the hardware what code to run when certain exceptional events occur.</a:t>
            </a:r>
          </a:p>
        </p:txBody>
      </p:sp>
    </p:spTree>
    <p:extLst>
      <p:ext uri="{BB962C8B-B14F-4D97-AF65-F5344CB8AC3E}">
        <p14:creationId xmlns:p14="http://schemas.microsoft.com/office/powerpoint/2010/main" val="21029854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B24A8B-3BFD-2FCB-312F-BC663663ECE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237A131-FA30-2AF4-FF12-32DEDFA65863}"/>
              </a:ext>
            </a:extLst>
          </p:cNvPr>
          <p:cNvSpPr>
            <a:spLocks noGrp="1"/>
          </p:cNvSpPr>
          <p:nvPr>
            <p:ph type="ctrTitle"/>
          </p:nvPr>
        </p:nvSpPr>
        <p:spPr>
          <a:xfrm>
            <a:off x="1218460" y="141378"/>
            <a:ext cx="10452740" cy="526279"/>
          </a:xfrm>
        </p:spPr>
        <p:txBody>
          <a:bodyPr>
            <a:noAutofit/>
          </a:bodyPr>
          <a:lstStyle/>
          <a:p>
            <a:r>
              <a:rPr lang="en-US" sz="3600" dirty="0">
                <a:solidFill>
                  <a:srgbClr val="C00000"/>
                </a:solidFill>
              </a:rPr>
              <a:t>A trap example -  a </a:t>
            </a:r>
            <a:r>
              <a:rPr lang="en-US" sz="3600" dirty="0" err="1">
                <a:solidFill>
                  <a:srgbClr val="C00000"/>
                </a:solidFill>
              </a:rPr>
              <a:t>printf</a:t>
            </a:r>
            <a:r>
              <a:rPr lang="en-US" sz="3600" dirty="0">
                <a:solidFill>
                  <a:srgbClr val="C00000"/>
                </a:solidFill>
              </a:rPr>
              <a:t> for printing to the monitor[1]</a:t>
            </a:r>
          </a:p>
        </p:txBody>
      </p:sp>
      <p:sp>
        <p:nvSpPr>
          <p:cNvPr id="3" name="Subtitle 2">
            <a:extLst>
              <a:ext uri="{FF2B5EF4-FFF2-40B4-BE49-F238E27FC236}">
                <a16:creationId xmlns:a16="http://schemas.microsoft.com/office/drawing/2014/main" id="{8D4B1B8C-B565-ECD4-7F7D-D0B88845AED6}"/>
              </a:ext>
            </a:extLst>
          </p:cNvPr>
          <p:cNvSpPr>
            <a:spLocks noGrp="1"/>
          </p:cNvSpPr>
          <p:nvPr>
            <p:ph type="subTitle" idx="1"/>
          </p:nvPr>
        </p:nvSpPr>
        <p:spPr>
          <a:xfrm>
            <a:off x="1581704" y="625430"/>
            <a:ext cx="9391836" cy="5820249"/>
          </a:xfrm>
        </p:spPr>
        <p:txBody>
          <a:bodyPr>
            <a:normAutofit/>
          </a:bodyPr>
          <a:lstStyle/>
          <a:p>
            <a:pPr lvl="1" algn="l">
              <a:lnSpc>
                <a:spcPct val="150000"/>
              </a:lnSpc>
            </a:pPr>
            <a:r>
              <a:rPr lang="en-US" dirty="0"/>
              <a:t>1) User Program Execution</a:t>
            </a:r>
          </a:p>
          <a:p>
            <a:pPr lvl="1" algn="l">
              <a:lnSpc>
                <a:spcPts val="2040"/>
              </a:lnSpc>
            </a:pPr>
            <a:r>
              <a:rPr lang="en-US" sz="1800" dirty="0"/>
              <a:t>Your program running in user mode encounters a </a:t>
            </a:r>
            <a:r>
              <a:rPr lang="en-US" sz="1800" dirty="0" err="1"/>
              <a:t>printf</a:t>
            </a:r>
            <a:r>
              <a:rPr lang="en-US" sz="1800" dirty="0"/>
              <a:t> statement that needs to display text on the screen. </a:t>
            </a:r>
          </a:p>
          <a:p>
            <a:pPr lvl="1" algn="l">
              <a:lnSpc>
                <a:spcPct val="150000"/>
              </a:lnSpc>
            </a:pPr>
            <a:r>
              <a:rPr lang="en-US" dirty="0"/>
              <a:t>2) Trap Generation</a:t>
            </a:r>
          </a:p>
          <a:p>
            <a:pPr lvl="1" algn="l">
              <a:lnSpc>
                <a:spcPts val="2040"/>
              </a:lnSpc>
            </a:pPr>
            <a:r>
              <a:rPr lang="en-US" sz="1800" dirty="0"/>
              <a:t>The </a:t>
            </a:r>
            <a:r>
              <a:rPr lang="en-US" sz="1800" dirty="0" err="1"/>
              <a:t>printf</a:t>
            </a:r>
            <a:r>
              <a:rPr lang="en-US" sz="1800" dirty="0"/>
              <a:t> statement triggers the execution of a system call instruction, which acts as a trap. </a:t>
            </a:r>
          </a:p>
          <a:p>
            <a:pPr lvl="1" algn="l">
              <a:lnSpc>
                <a:spcPct val="150000"/>
              </a:lnSpc>
            </a:pPr>
            <a:r>
              <a:rPr lang="en-US" dirty="0"/>
              <a:t>3) Mode Switch</a:t>
            </a:r>
          </a:p>
          <a:p>
            <a:pPr lvl="1" algn="l">
              <a:lnSpc>
                <a:spcPts val="2160"/>
              </a:lnSpc>
            </a:pPr>
            <a:r>
              <a:rPr lang="en-US" sz="1800" dirty="0"/>
              <a:t>The CPU detects this trap and switches from user mode (with limited privileges) to kernel mode (with full privileges)</a:t>
            </a:r>
          </a:p>
          <a:p>
            <a:pPr lvl="1" algn="l">
              <a:lnSpc>
                <a:spcPct val="150000"/>
              </a:lnSpc>
            </a:pPr>
            <a:r>
              <a:rPr lang="en-US" dirty="0"/>
              <a:t>4) Kernel Mode Handling</a:t>
            </a:r>
          </a:p>
          <a:p>
            <a:pPr lvl="1" algn="l">
              <a:lnSpc>
                <a:spcPts val="2280"/>
              </a:lnSpc>
            </a:pPr>
            <a:r>
              <a:rPr lang="en-US" sz="1900" dirty="0"/>
              <a:t>The operating system's trap handler takes over, processes the system call, and executes the necessary code to display the text on the monitor. </a:t>
            </a:r>
          </a:p>
          <a:p>
            <a:pPr lvl="1" algn="l">
              <a:lnSpc>
                <a:spcPct val="150000"/>
              </a:lnSpc>
            </a:pPr>
            <a:r>
              <a:rPr lang="en-US" dirty="0"/>
              <a:t>5) Return to User Mode</a:t>
            </a:r>
          </a:p>
          <a:p>
            <a:pPr lvl="1" algn="l">
              <a:lnSpc>
                <a:spcPts val="2160"/>
              </a:lnSpc>
            </a:pPr>
            <a:r>
              <a:rPr lang="en-US" sz="1900" dirty="0"/>
              <a:t>After the OS finishes its task, the trap handler returns control to the user program, and the CPU switches back to user mode, allowing the program to continue execution from where it left off. </a:t>
            </a:r>
          </a:p>
        </p:txBody>
      </p:sp>
      <p:sp>
        <p:nvSpPr>
          <p:cNvPr id="4" name="TextBox 3">
            <a:extLst>
              <a:ext uri="{FF2B5EF4-FFF2-40B4-BE49-F238E27FC236}">
                <a16:creationId xmlns:a16="http://schemas.microsoft.com/office/drawing/2014/main" id="{76E871EF-FC25-4FAD-CE46-774680C620BE}"/>
              </a:ext>
            </a:extLst>
          </p:cNvPr>
          <p:cNvSpPr txBox="1"/>
          <p:nvPr/>
        </p:nvSpPr>
        <p:spPr>
          <a:xfrm>
            <a:off x="1849323" y="6339091"/>
            <a:ext cx="9191013" cy="461665"/>
          </a:xfrm>
          <a:prstGeom prst="rect">
            <a:avLst/>
          </a:prstGeom>
          <a:noFill/>
        </p:spPr>
        <p:txBody>
          <a:bodyPr wrap="square" rtlCol="0">
            <a:spAutoFit/>
          </a:bodyPr>
          <a:lstStyle/>
          <a:p>
            <a:r>
              <a:rPr lang="en-US" sz="1200" dirty="0"/>
              <a:t>[1]https://www.google.com/search?q=example+of+trap+in+os&amp;rlz=1C1GCEA_enUS1156US1156&amp;oq=example+of+trap+in+os&amp;gs_lcrp=EgZjaHJvbWUyBggAEEUYOTIKCAEQABiABBiiBDIKCAIQABiABBiiBDIKCAMQABiABBiiBNIBBzgwM2owajeoAgCwAgA&amp;sourceid=chrome&amp;ie=UTF-8</a:t>
            </a:r>
          </a:p>
        </p:txBody>
      </p:sp>
    </p:spTree>
    <p:extLst>
      <p:ext uri="{BB962C8B-B14F-4D97-AF65-F5344CB8AC3E}">
        <p14:creationId xmlns:p14="http://schemas.microsoft.com/office/powerpoint/2010/main" val="7758602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848F5-1552-4316-ADB3-4EE4924B6477}"/>
              </a:ext>
            </a:extLst>
          </p:cNvPr>
          <p:cNvSpPr>
            <a:spLocks noGrp="1"/>
          </p:cNvSpPr>
          <p:nvPr>
            <p:ph type="ctrTitle"/>
          </p:nvPr>
        </p:nvSpPr>
        <p:spPr>
          <a:xfrm>
            <a:off x="1218460" y="100824"/>
            <a:ext cx="10452740" cy="598281"/>
          </a:xfrm>
        </p:spPr>
        <p:txBody>
          <a:bodyPr>
            <a:noAutofit/>
          </a:bodyPr>
          <a:lstStyle/>
          <a:p>
            <a:r>
              <a:rPr lang="en-US" sz="3800" dirty="0">
                <a:solidFill>
                  <a:srgbClr val="C00000"/>
                </a:solidFill>
              </a:rPr>
              <a:t>Trap table – monitoring system call execution</a:t>
            </a:r>
          </a:p>
        </p:txBody>
      </p:sp>
      <p:pic>
        <p:nvPicPr>
          <p:cNvPr id="8" name="Picture 7">
            <a:extLst>
              <a:ext uri="{FF2B5EF4-FFF2-40B4-BE49-F238E27FC236}">
                <a16:creationId xmlns:a16="http://schemas.microsoft.com/office/drawing/2014/main" id="{4F18E9E3-23B0-C73B-78E3-C18A114F11DF}"/>
              </a:ext>
            </a:extLst>
          </p:cNvPr>
          <p:cNvPicPr>
            <a:picLocks noChangeAspect="1"/>
          </p:cNvPicPr>
          <p:nvPr/>
        </p:nvPicPr>
        <p:blipFill>
          <a:blip r:embed="rId3"/>
          <a:stretch>
            <a:fillRect/>
          </a:stretch>
        </p:blipFill>
        <p:spPr>
          <a:xfrm>
            <a:off x="3473704" y="731762"/>
            <a:ext cx="5244591" cy="5943600"/>
          </a:xfrm>
          <a:prstGeom prst="rect">
            <a:avLst/>
          </a:prstGeom>
        </p:spPr>
      </p:pic>
      <p:sp>
        <p:nvSpPr>
          <p:cNvPr id="10" name="TextBox 9">
            <a:extLst>
              <a:ext uri="{FF2B5EF4-FFF2-40B4-BE49-F238E27FC236}">
                <a16:creationId xmlns:a16="http://schemas.microsoft.com/office/drawing/2014/main" id="{AC46FB4D-CCAE-5367-B16A-DEB392B0406C}"/>
              </a:ext>
            </a:extLst>
          </p:cNvPr>
          <p:cNvSpPr txBox="1"/>
          <p:nvPr/>
        </p:nvSpPr>
        <p:spPr>
          <a:xfrm>
            <a:off x="2284150" y="3774324"/>
            <a:ext cx="812800" cy="369332"/>
          </a:xfrm>
          <a:prstGeom prst="rect">
            <a:avLst/>
          </a:prstGeom>
          <a:noFill/>
        </p:spPr>
        <p:txBody>
          <a:bodyPr wrap="square" rtlCol="0">
            <a:spAutoFit/>
          </a:bodyPr>
          <a:lstStyle/>
          <a:p>
            <a:r>
              <a:rPr lang="en-US" dirty="0"/>
              <a:t>Time 4</a:t>
            </a:r>
          </a:p>
        </p:txBody>
      </p:sp>
      <p:sp>
        <p:nvSpPr>
          <p:cNvPr id="11" name="TextBox 10">
            <a:extLst>
              <a:ext uri="{FF2B5EF4-FFF2-40B4-BE49-F238E27FC236}">
                <a16:creationId xmlns:a16="http://schemas.microsoft.com/office/drawing/2014/main" id="{ED5AA907-B73E-3952-8324-7D5E9BF36308}"/>
              </a:ext>
            </a:extLst>
          </p:cNvPr>
          <p:cNvSpPr txBox="1"/>
          <p:nvPr/>
        </p:nvSpPr>
        <p:spPr>
          <a:xfrm>
            <a:off x="2284150" y="2426235"/>
            <a:ext cx="812800" cy="369332"/>
          </a:xfrm>
          <a:prstGeom prst="rect">
            <a:avLst/>
          </a:prstGeom>
          <a:noFill/>
        </p:spPr>
        <p:txBody>
          <a:bodyPr wrap="square" rtlCol="0">
            <a:spAutoFit/>
          </a:bodyPr>
          <a:lstStyle/>
          <a:p>
            <a:r>
              <a:rPr lang="en-US" dirty="0"/>
              <a:t>Time 2</a:t>
            </a:r>
          </a:p>
        </p:txBody>
      </p:sp>
      <p:sp>
        <p:nvSpPr>
          <p:cNvPr id="12" name="TextBox 11">
            <a:extLst>
              <a:ext uri="{FF2B5EF4-FFF2-40B4-BE49-F238E27FC236}">
                <a16:creationId xmlns:a16="http://schemas.microsoft.com/office/drawing/2014/main" id="{F14F1E09-C2ED-04FA-949B-240E6067A46F}"/>
              </a:ext>
            </a:extLst>
          </p:cNvPr>
          <p:cNvSpPr txBox="1"/>
          <p:nvPr/>
        </p:nvSpPr>
        <p:spPr>
          <a:xfrm>
            <a:off x="2284150" y="3204560"/>
            <a:ext cx="812800" cy="369332"/>
          </a:xfrm>
          <a:prstGeom prst="rect">
            <a:avLst/>
          </a:prstGeom>
          <a:noFill/>
        </p:spPr>
        <p:txBody>
          <a:bodyPr wrap="square" rtlCol="0">
            <a:spAutoFit/>
          </a:bodyPr>
          <a:lstStyle/>
          <a:p>
            <a:r>
              <a:rPr lang="en-US" dirty="0"/>
              <a:t>Time 3</a:t>
            </a:r>
          </a:p>
        </p:txBody>
      </p:sp>
      <p:sp>
        <p:nvSpPr>
          <p:cNvPr id="13" name="TextBox 12">
            <a:extLst>
              <a:ext uri="{FF2B5EF4-FFF2-40B4-BE49-F238E27FC236}">
                <a16:creationId xmlns:a16="http://schemas.microsoft.com/office/drawing/2014/main" id="{88DF62CD-0586-75B2-36B4-1B3C1D8E6BB2}"/>
              </a:ext>
            </a:extLst>
          </p:cNvPr>
          <p:cNvSpPr txBox="1"/>
          <p:nvPr/>
        </p:nvSpPr>
        <p:spPr>
          <a:xfrm>
            <a:off x="2284150" y="1299880"/>
            <a:ext cx="812800" cy="369332"/>
          </a:xfrm>
          <a:prstGeom prst="rect">
            <a:avLst/>
          </a:prstGeom>
          <a:noFill/>
        </p:spPr>
        <p:txBody>
          <a:bodyPr wrap="square" rtlCol="0">
            <a:spAutoFit/>
          </a:bodyPr>
          <a:lstStyle/>
          <a:p>
            <a:r>
              <a:rPr lang="en-US" dirty="0"/>
              <a:t>Time 1</a:t>
            </a:r>
          </a:p>
        </p:txBody>
      </p:sp>
      <p:sp>
        <p:nvSpPr>
          <p:cNvPr id="14" name="TextBox 13">
            <a:extLst>
              <a:ext uri="{FF2B5EF4-FFF2-40B4-BE49-F238E27FC236}">
                <a16:creationId xmlns:a16="http://schemas.microsoft.com/office/drawing/2014/main" id="{F77089AA-442A-E959-F6C4-75553FCBEB51}"/>
              </a:ext>
            </a:extLst>
          </p:cNvPr>
          <p:cNvSpPr txBox="1"/>
          <p:nvPr/>
        </p:nvSpPr>
        <p:spPr>
          <a:xfrm>
            <a:off x="2284150" y="4245698"/>
            <a:ext cx="812800" cy="369332"/>
          </a:xfrm>
          <a:prstGeom prst="rect">
            <a:avLst/>
          </a:prstGeom>
          <a:noFill/>
        </p:spPr>
        <p:txBody>
          <a:bodyPr wrap="square" rtlCol="0">
            <a:spAutoFit/>
          </a:bodyPr>
          <a:lstStyle/>
          <a:p>
            <a:r>
              <a:rPr lang="en-US" dirty="0"/>
              <a:t>Time 5</a:t>
            </a:r>
          </a:p>
        </p:txBody>
      </p:sp>
      <p:sp>
        <p:nvSpPr>
          <p:cNvPr id="15" name="TextBox 14">
            <a:extLst>
              <a:ext uri="{FF2B5EF4-FFF2-40B4-BE49-F238E27FC236}">
                <a16:creationId xmlns:a16="http://schemas.microsoft.com/office/drawing/2014/main" id="{E7DD480A-570D-F612-2EF9-A979FBD9E6B0}"/>
              </a:ext>
            </a:extLst>
          </p:cNvPr>
          <p:cNvSpPr txBox="1"/>
          <p:nvPr/>
        </p:nvSpPr>
        <p:spPr>
          <a:xfrm>
            <a:off x="2284150" y="4717072"/>
            <a:ext cx="812800" cy="369332"/>
          </a:xfrm>
          <a:prstGeom prst="rect">
            <a:avLst/>
          </a:prstGeom>
          <a:noFill/>
        </p:spPr>
        <p:txBody>
          <a:bodyPr wrap="square" rtlCol="0">
            <a:spAutoFit/>
          </a:bodyPr>
          <a:lstStyle/>
          <a:p>
            <a:r>
              <a:rPr lang="en-US" dirty="0"/>
              <a:t>Time 6</a:t>
            </a:r>
          </a:p>
        </p:txBody>
      </p:sp>
      <p:sp>
        <p:nvSpPr>
          <p:cNvPr id="16" name="TextBox 15">
            <a:extLst>
              <a:ext uri="{FF2B5EF4-FFF2-40B4-BE49-F238E27FC236}">
                <a16:creationId xmlns:a16="http://schemas.microsoft.com/office/drawing/2014/main" id="{DB2AFD16-9E32-158F-15CC-7FDF3DEE26DA}"/>
              </a:ext>
            </a:extLst>
          </p:cNvPr>
          <p:cNvSpPr txBox="1"/>
          <p:nvPr/>
        </p:nvSpPr>
        <p:spPr>
          <a:xfrm>
            <a:off x="2284150" y="5629195"/>
            <a:ext cx="812800" cy="369332"/>
          </a:xfrm>
          <a:prstGeom prst="rect">
            <a:avLst/>
          </a:prstGeom>
          <a:noFill/>
        </p:spPr>
        <p:txBody>
          <a:bodyPr wrap="square" rtlCol="0">
            <a:spAutoFit/>
          </a:bodyPr>
          <a:lstStyle/>
          <a:p>
            <a:r>
              <a:rPr lang="en-US" dirty="0"/>
              <a:t>Time 8</a:t>
            </a:r>
          </a:p>
        </p:txBody>
      </p:sp>
      <p:sp>
        <p:nvSpPr>
          <p:cNvPr id="17" name="TextBox 16">
            <a:extLst>
              <a:ext uri="{FF2B5EF4-FFF2-40B4-BE49-F238E27FC236}">
                <a16:creationId xmlns:a16="http://schemas.microsoft.com/office/drawing/2014/main" id="{9B180ADE-3341-F905-6C90-0DB245EB9692}"/>
              </a:ext>
            </a:extLst>
          </p:cNvPr>
          <p:cNvSpPr txBox="1"/>
          <p:nvPr/>
        </p:nvSpPr>
        <p:spPr>
          <a:xfrm>
            <a:off x="2284150" y="5237238"/>
            <a:ext cx="812800" cy="369332"/>
          </a:xfrm>
          <a:prstGeom prst="rect">
            <a:avLst/>
          </a:prstGeom>
          <a:noFill/>
        </p:spPr>
        <p:txBody>
          <a:bodyPr wrap="square" rtlCol="0">
            <a:spAutoFit/>
          </a:bodyPr>
          <a:lstStyle/>
          <a:p>
            <a:r>
              <a:rPr lang="en-US" dirty="0"/>
              <a:t>Time 7</a:t>
            </a:r>
          </a:p>
        </p:txBody>
      </p:sp>
      <p:sp>
        <p:nvSpPr>
          <p:cNvPr id="18" name="TextBox 17">
            <a:extLst>
              <a:ext uri="{FF2B5EF4-FFF2-40B4-BE49-F238E27FC236}">
                <a16:creationId xmlns:a16="http://schemas.microsoft.com/office/drawing/2014/main" id="{EE5E6907-9B1C-6E52-3D3F-5C613F9100E2}"/>
              </a:ext>
            </a:extLst>
          </p:cNvPr>
          <p:cNvSpPr txBox="1"/>
          <p:nvPr/>
        </p:nvSpPr>
        <p:spPr>
          <a:xfrm>
            <a:off x="2284150" y="6021152"/>
            <a:ext cx="812800" cy="369332"/>
          </a:xfrm>
          <a:prstGeom prst="rect">
            <a:avLst/>
          </a:prstGeom>
          <a:noFill/>
        </p:spPr>
        <p:txBody>
          <a:bodyPr wrap="square" rtlCol="0">
            <a:spAutoFit/>
          </a:bodyPr>
          <a:lstStyle/>
          <a:p>
            <a:r>
              <a:rPr lang="en-US" dirty="0"/>
              <a:t>Time 9</a:t>
            </a:r>
          </a:p>
        </p:txBody>
      </p:sp>
      <p:sp>
        <p:nvSpPr>
          <p:cNvPr id="19" name="Arrow: Right 18">
            <a:extLst>
              <a:ext uri="{FF2B5EF4-FFF2-40B4-BE49-F238E27FC236}">
                <a16:creationId xmlns:a16="http://schemas.microsoft.com/office/drawing/2014/main" id="{8A365402-EB22-3D82-D2B6-E3CFA9D221DF}"/>
              </a:ext>
            </a:extLst>
          </p:cNvPr>
          <p:cNvSpPr/>
          <p:nvPr/>
        </p:nvSpPr>
        <p:spPr>
          <a:xfrm>
            <a:off x="3367314" y="3389226"/>
            <a:ext cx="1891696" cy="4571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Arrow: Right 19">
            <a:extLst>
              <a:ext uri="{FF2B5EF4-FFF2-40B4-BE49-F238E27FC236}">
                <a16:creationId xmlns:a16="http://schemas.microsoft.com/office/drawing/2014/main" id="{C504F333-ECDF-FD59-6987-31B70CC799AD}"/>
              </a:ext>
            </a:extLst>
          </p:cNvPr>
          <p:cNvSpPr/>
          <p:nvPr/>
        </p:nvSpPr>
        <p:spPr>
          <a:xfrm>
            <a:off x="3386664" y="3945904"/>
            <a:ext cx="3749571" cy="4571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Arrow: Right 20">
            <a:extLst>
              <a:ext uri="{FF2B5EF4-FFF2-40B4-BE49-F238E27FC236}">
                <a16:creationId xmlns:a16="http://schemas.microsoft.com/office/drawing/2014/main" id="{48C07BA1-DE46-14EE-36E4-DE73F2184DD2}"/>
              </a:ext>
            </a:extLst>
          </p:cNvPr>
          <p:cNvSpPr/>
          <p:nvPr/>
        </p:nvSpPr>
        <p:spPr>
          <a:xfrm>
            <a:off x="3386664" y="4431342"/>
            <a:ext cx="1891696" cy="4571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Arrow: Right 21">
            <a:extLst>
              <a:ext uri="{FF2B5EF4-FFF2-40B4-BE49-F238E27FC236}">
                <a16:creationId xmlns:a16="http://schemas.microsoft.com/office/drawing/2014/main" id="{3969B8B1-F4EF-992D-92FD-6CD850BEB551}"/>
              </a:ext>
            </a:extLst>
          </p:cNvPr>
          <p:cNvSpPr/>
          <p:nvPr/>
        </p:nvSpPr>
        <p:spPr>
          <a:xfrm>
            <a:off x="3367314" y="5357655"/>
            <a:ext cx="1891696" cy="4571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Arrow: Right 22">
            <a:extLst>
              <a:ext uri="{FF2B5EF4-FFF2-40B4-BE49-F238E27FC236}">
                <a16:creationId xmlns:a16="http://schemas.microsoft.com/office/drawing/2014/main" id="{D089BF87-E87C-DFA6-2689-B52534539B86}"/>
              </a:ext>
            </a:extLst>
          </p:cNvPr>
          <p:cNvSpPr/>
          <p:nvPr/>
        </p:nvSpPr>
        <p:spPr>
          <a:xfrm>
            <a:off x="3367314" y="5914333"/>
            <a:ext cx="3749571" cy="4571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Arrow: Right 23">
            <a:extLst>
              <a:ext uri="{FF2B5EF4-FFF2-40B4-BE49-F238E27FC236}">
                <a16:creationId xmlns:a16="http://schemas.microsoft.com/office/drawing/2014/main" id="{7B4CCA0A-41C3-E95A-8E69-E4096BB1ADDB}"/>
              </a:ext>
            </a:extLst>
          </p:cNvPr>
          <p:cNvSpPr/>
          <p:nvPr/>
        </p:nvSpPr>
        <p:spPr>
          <a:xfrm>
            <a:off x="3386664" y="1516950"/>
            <a:ext cx="1891696" cy="4571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AFE78EE6-3BB2-25E2-DB8C-FD1C77D7F186}"/>
              </a:ext>
            </a:extLst>
          </p:cNvPr>
          <p:cNvSpPr txBox="1"/>
          <p:nvPr/>
        </p:nvSpPr>
        <p:spPr>
          <a:xfrm>
            <a:off x="8863390" y="3703562"/>
            <a:ext cx="2341639" cy="646331"/>
          </a:xfrm>
          <a:prstGeom prst="rect">
            <a:avLst/>
          </a:prstGeom>
          <a:noFill/>
        </p:spPr>
        <p:txBody>
          <a:bodyPr wrap="square" rtlCol="0">
            <a:spAutoFit/>
          </a:bodyPr>
          <a:lstStyle/>
          <a:p>
            <a:r>
              <a:rPr lang="en-US" dirty="0">
                <a:solidFill>
                  <a:srgbClr val="C00000"/>
                </a:solidFill>
              </a:rPr>
              <a:t>Q1: Why is a trap set up at time 4?</a:t>
            </a:r>
          </a:p>
        </p:txBody>
      </p:sp>
      <p:sp>
        <p:nvSpPr>
          <p:cNvPr id="26" name="TextBox 25">
            <a:extLst>
              <a:ext uri="{FF2B5EF4-FFF2-40B4-BE49-F238E27FC236}">
                <a16:creationId xmlns:a16="http://schemas.microsoft.com/office/drawing/2014/main" id="{B3488109-C25A-ADD5-7C97-ED9875B7326B}"/>
              </a:ext>
            </a:extLst>
          </p:cNvPr>
          <p:cNvSpPr txBox="1"/>
          <p:nvPr/>
        </p:nvSpPr>
        <p:spPr>
          <a:xfrm>
            <a:off x="8863389" y="5559487"/>
            <a:ext cx="2341639" cy="646331"/>
          </a:xfrm>
          <a:prstGeom prst="rect">
            <a:avLst/>
          </a:prstGeom>
          <a:noFill/>
        </p:spPr>
        <p:txBody>
          <a:bodyPr wrap="square" rtlCol="0">
            <a:spAutoFit/>
          </a:bodyPr>
          <a:lstStyle/>
          <a:p>
            <a:r>
              <a:rPr lang="en-US" dirty="0">
                <a:solidFill>
                  <a:srgbClr val="C00000"/>
                </a:solidFill>
              </a:rPr>
              <a:t>Q2: Why is a trap set up at time 8?</a:t>
            </a:r>
          </a:p>
        </p:txBody>
      </p:sp>
      <p:sp>
        <p:nvSpPr>
          <p:cNvPr id="27" name="TextBox 26">
            <a:extLst>
              <a:ext uri="{FF2B5EF4-FFF2-40B4-BE49-F238E27FC236}">
                <a16:creationId xmlns:a16="http://schemas.microsoft.com/office/drawing/2014/main" id="{54675616-F88B-A23B-4B25-A61638A68438}"/>
              </a:ext>
            </a:extLst>
          </p:cNvPr>
          <p:cNvSpPr txBox="1"/>
          <p:nvPr/>
        </p:nvSpPr>
        <p:spPr>
          <a:xfrm>
            <a:off x="832146" y="1355143"/>
            <a:ext cx="1075250" cy="646331"/>
          </a:xfrm>
          <a:prstGeom prst="rect">
            <a:avLst/>
          </a:prstGeom>
          <a:noFill/>
        </p:spPr>
        <p:txBody>
          <a:bodyPr wrap="square" rtlCol="0">
            <a:spAutoFit/>
          </a:bodyPr>
          <a:lstStyle/>
          <a:p>
            <a:r>
              <a:rPr lang="en-US" dirty="0">
                <a:solidFill>
                  <a:srgbClr val="C00000"/>
                </a:solidFill>
              </a:rPr>
              <a:t>Phase 1</a:t>
            </a:r>
          </a:p>
          <a:p>
            <a:r>
              <a:rPr lang="en-US" dirty="0">
                <a:solidFill>
                  <a:srgbClr val="C00000"/>
                </a:solidFill>
              </a:rPr>
              <a:t>(Time 1)</a:t>
            </a:r>
          </a:p>
        </p:txBody>
      </p:sp>
      <p:sp>
        <p:nvSpPr>
          <p:cNvPr id="28" name="TextBox 27">
            <a:extLst>
              <a:ext uri="{FF2B5EF4-FFF2-40B4-BE49-F238E27FC236}">
                <a16:creationId xmlns:a16="http://schemas.microsoft.com/office/drawing/2014/main" id="{BE042186-A08D-2250-7AB5-08646ACE6448}"/>
              </a:ext>
            </a:extLst>
          </p:cNvPr>
          <p:cNvSpPr txBox="1"/>
          <p:nvPr/>
        </p:nvSpPr>
        <p:spPr>
          <a:xfrm>
            <a:off x="832145" y="4269535"/>
            <a:ext cx="1075249" cy="923330"/>
          </a:xfrm>
          <a:prstGeom prst="rect">
            <a:avLst/>
          </a:prstGeom>
          <a:noFill/>
        </p:spPr>
        <p:txBody>
          <a:bodyPr wrap="square" rtlCol="0">
            <a:spAutoFit/>
          </a:bodyPr>
          <a:lstStyle/>
          <a:p>
            <a:r>
              <a:rPr lang="en-US" dirty="0">
                <a:solidFill>
                  <a:srgbClr val="C00000"/>
                </a:solidFill>
              </a:rPr>
              <a:t>Phase 2</a:t>
            </a:r>
          </a:p>
          <a:p>
            <a:r>
              <a:rPr lang="en-US" dirty="0">
                <a:solidFill>
                  <a:srgbClr val="C00000"/>
                </a:solidFill>
              </a:rPr>
              <a:t>(The rest)</a:t>
            </a:r>
          </a:p>
          <a:p>
            <a:endParaRPr lang="en-US" dirty="0">
              <a:solidFill>
                <a:srgbClr val="C00000"/>
              </a:solidFill>
            </a:endParaRPr>
          </a:p>
        </p:txBody>
      </p:sp>
    </p:spTree>
    <p:extLst>
      <p:ext uri="{BB962C8B-B14F-4D97-AF65-F5344CB8AC3E}">
        <p14:creationId xmlns:p14="http://schemas.microsoft.com/office/powerpoint/2010/main" val="36475689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848F5-1552-4316-ADB3-4EE4924B6477}"/>
              </a:ext>
            </a:extLst>
          </p:cNvPr>
          <p:cNvSpPr>
            <a:spLocks noGrp="1"/>
          </p:cNvSpPr>
          <p:nvPr>
            <p:ph type="ctrTitle"/>
          </p:nvPr>
        </p:nvSpPr>
        <p:spPr>
          <a:xfrm>
            <a:off x="1218460" y="141378"/>
            <a:ext cx="10452740" cy="526279"/>
          </a:xfrm>
        </p:spPr>
        <p:txBody>
          <a:bodyPr>
            <a:noAutofit/>
          </a:bodyPr>
          <a:lstStyle/>
          <a:p>
            <a:r>
              <a:rPr lang="en-US" sz="3800" dirty="0">
                <a:solidFill>
                  <a:srgbClr val="C00000"/>
                </a:solidFill>
              </a:rPr>
              <a:t>Switch between processes</a:t>
            </a:r>
          </a:p>
        </p:txBody>
      </p:sp>
      <p:sp>
        <p:nvSpPr>
          <p:cNvPr id="3" name="Subtitle 2">
            <a:extLst>
              <a:ext uri="{FF2B5EF4-FFF2-40B4-BE49-F238E27FC236}">
                <a16:creationId xmlns:a16="http://schemas.microsoft.com/office/drawing/2014/main" id="{2C5DF914-4B40-4A23-8AAC-9CFE7F215ACD}"/>
              </a:ext>
            </a:extLst>
          </p:cNvPr>
          <p:cNvSpPr>
            <a:spLocks noGrp="1"/>
          </p:cNvSpPr>
          <p:nvPr>
            <p:ph type="subTitle" idx="1"/>
          </p:nvPr>
        </p:nvSpPr>
        <p:spPr>
          <a:xfrm>
            <a:off x="1581704" y="799334"/>
            <a:ext cx="9391836" cy="5475675"/>
          </a:xfrm>
        </p:spPr>
        <p:txBody>
          <a:bodyPr>
            <a:normAutofit fontScale="92500"/>
          </a:bodyPr>
          <a:lstStyle/>
          <a:p>
            <a:pPr marL="342900" indent="-342900" algn="l">
              <a:lnSpc>
                <a:spcPct val="150000"/>
              </a:lnSpc>
              <a:buFont typeface="Arial" panose="020B0604020202020204" pitchFamily="34" charset="0"/>
              <a:buChar char="•"/>
            </a:pPr>
            <a:r>
              <a:rPr lang="en-US" sz="2000" dirty="0">
                <a:solidFill>
                  <a:srgbClr val="C00000"/>
                </a:solidFill>
              </a:rPr>
              <a:t>A Cooperative (Non-Preemptive) Approach: Wait For System Calls</a:t>
            </a:r>
          </a:p>
          <a:p>
            <a:pPr marL="800100" lvl="1" indent="-342900" algn="l">
              <a:lnSpc>
                <a:spcPct val="150000"/>
              </a:lnSpc>
              <a:buFont typeface="Wingdings" panose="05000000000000000000" pitchFamily="2" charset="2"/>
              <a:buChar char="§"/>
            </a:pPr>
            <a:r>
              <a:rPr lang="en-US" dirty="0"/>
              <a:t>Processes that run for too long are assumed to periodically give up the CPU so that the OS can decide to run some other task.</a:t>
            </a:r>
          </a:p>
          <a:p>
            <a:pPr marL="800100" lvl="1" indent="-342900" algn="l">
              <a:lnSpc>
                <a:spcPct val="150000"/>
              </a:lnSpc>
              <a:buFont typeface="Wingdings" panose="05000000000000000000" pitchFamily="2" charset="2"/>
              <a:buChar char="§"/>
            </a:pPr>
            <a:r>
              <a:rPr lang="en-US" dirty="0"/>
              <a:t>If the process runs illegally, like zero division calculation, OS will call the </a:t>
            </a:r>
            <a:r>
              <a:rPr lang="en-US" dirty="0">
                <a:solidFill>
                  <a:srgbClr val="C00000"/>
                </a:solidFill>
              </a:rPr>
              <a:t>trap</a:t>
            </a:r>
            <a:r>
              <a:rPr lang="en-US" dirty="0"/>
              <a:t> to regain control of the CPU.</a:t>
            </a:r>
          </a:p>
          <a:p>
            <a:pPr marL="342900" indent="-342900" algn="l">
              <a:lnSpc>
                <a:spcPct val="150000"/>
              </a:lnSpc>
              <a:buFont typeface="Arial" panose="020B0604020202020204" pitchFamily="34" charset="0"/>
              <a:buChar char="•"/>
            </a:pPr>
            <a:r>
              <a:rPr lang="en-US" sz="2000" dirty="0">
                <a:solidFill>
                  <a:srgbClr val="C00000"/>
                </a:solidFill>
              </a:rPr>
              <a:t>A Non-Cooperative(Preemptive) Approach: The OS Takes Control by time interrupt</a:t>
            </a:r>
          </a:p>
          <a:p>
            <a:pPr marL="800100" lvl="1" indent="-342900" algn="l">
              <a:lnSpc>
                <a:spcPct val="150000"/>
              </a:lnSpc>
              <a:buFont typeface="Wingdings" panose="05000000000000000000" pitchFamily="2" charset="2"/>
              <a:buChar char="§"/>
            </a:pPr>
            <a:r>
              <a:rPr lang="en-US" dirty="0"/>
              <a:t>First, the OS must inform the hardware of which code to run when the timer interrupt occurs.</a:t>
            </a:r>
          </a:p>
          <a:p>
            <a:pPr marL="800100" lvl="1" indent="-342900" algn="l">
              <a:lnSpc>
                <a:spcPct val="150000"/>
              </a:lnSpc>
              <a:buFont typeface="Wingdings" panose="05000000000000000000" pitchFamily="2" charset="2"/>
              <a:buChar char="§"/>
            </a:pPr>
            <a:r>
              <a:rPr lang="en-US" dirty="0"/>
              <a:t>Second, the OS must start the timer and take the CPU control to the user program. </a:t>
            </a:r>
          </a:p>
          <a:p>
            <a:pPr marL="800100" lvl="1" indent="-342900" algn="l">
              <a:lnSpc>
                <a:spcPct val="150000"/>
              </a:lnSpc>
              <a:buFont typeface="Wingdings" panose="05000000000000000000" pitchFamily="2" charset="2"/>
              <a:buChar char="§"/>
            </a:pPr>
            <a:r>
              <a:rPr lang="en-US" dirty="0"/>
              <a:t>The hardware saves the states of the program for a subsequent </a:t>
            </a:r>
            <a:r>
              <a:rPr lang="en-US" dirty="0">
                <a:solidFill>
                  <a:srgbClr val="C00000"/>
                </a:solidFill>
              </a:rPr>
              <a:t>return-from-trap</a:t>
            </a:r>
            <a:r>
              <a:rPr lang="en-US" dirty="0"/>
              <a:t> instruction.</a:t>
            </a:r>
          </a:p>
        </p:txBody>
      </p:sp>
    </p:spTree>
    <p:extLst>
      <p:ext uri="{BB962C8B-B14F-4D97-AF65-F5344CB8AC3E}">
        <p14:creationId xmlns:p14="http://schemas.microsoft.com/office/powerpoint/2010/main" val="377142949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848F5-1552-4316-ADB3-4EE4924B6477}"/>
              </a:ext>
            </a:extLst>
          </p:cNvPr>
          <p:cNvSpPr>
            <a:spLocks noGrp="1"/>
          </p:cNvSpPr>
          <p:nvPr>
            <p:ph type="ctrTitle"/>
          </p:nvPr>
        </p:nvSpPr>
        <p:spPr>
          <a:xfrm>
            <a:off x="1218460" y="185766"/>
            <a:ext cx="10452740" cy="534799"/>
          </a:xfrm>
        </p:spPr>
        <p:txBody>
          <a:bodyPr>
            <a:noAutofit/>
          </a:bodyPr>
          <a:lstStyle/>
          <a:p>
            <a:r>
              <a:rPr lang="en-US" sz="3800" dirty="0">
                <a:solidFill>
                  <a:srgbClr val="C00000"/>
                </a:solidFill>
              </a:rPr>
              <a:t>Saving and Restoring Context</a:t>
            </a:r>
          </a:p>
        </p:txBody>
      </p:sp>
      <p:sp>
        <p:nvSpPr>
          <p:cNvPr id="3" name="Subtitle 2">
            <a:extLst>
              <a:ext uri="{FF2B5EF4-FFF2-40B4-BE49-F238E27FC236}">
                <a16:creationId xmlns:a16="http://schemas.microsoft.com/office/drawing/2014/main" id="{2C5DF914-4B40-4A23-8AAC-9CFE7F215ACD}"/>
              </a:ext>
            </a:extLst>
          </p:cNvPr>
          <p:cNvSpPr>
            <a:spLocks noGrp="1"/>
          </p:cNvSpPr>
          <p:nvPr>
            <p:ph type="subTitle" idx="1"/>
          </p:nvPr>
        </p:nvSpPr>
        <p:spPr>
          <a:xfrm>
            <a:off x="1581704" y="927994"/>
            <a:ext cx="9391836" cy="5209441"/>
          </a:xfrm>
        </p:spPr>
        <p:txBody>
          <a:bodyPr>
            <a:normAutofit/>
          </a:bodyPr>
          <a:lstStyle/>
          <a:p>
            <a:pPr marL="342900" indent="-342900" algn="l">
              <a:lnSpc>
                <a:spcPct val="150000"/>
              </a:lnSpc>
              <a:buFont typeface="Arial" panose="020B0604020202020204" pitchFamily="34" charset="0"/>
              <a:buChar char="•"/>
            </a:pPr>
            <a:r>
              <a:rPr lang="en-US" dirty="0">
                <a:solidFill>
                  <a:srgbClr val="C00000"/>
                </a:solidFill>
              </a:rPr>
              <a:t>Scheduler</a:t>
            </a:r>
          </a:p>
          <a:p>
            <a:pPr lvl="1" algn="l">
              <a:lnSpc>
                <a:spcPct val="150000"/>
              </a:lnSpc>
            </a:pPr>
            <a:r>
              <a:rPr lang="en-US" dirty="0"/>
              <a:t>The OS decides whether to continue running the currently-running process, or switch to a different one.</a:t>
            </a:r>
          </a:p>
          <a:p>
            <a:pPr marL="342900" indent="-342900" algn="l">
              <a:lnSpc>
                <a:spcPct val="150000"/>
              </a:lnSpc>
              <a:buFont typeface="Arial" panose="020B0604020202020204" pitchFamily="34" charset="0"/>
              <a:buChar char="•"/>
            </a:pPr>
            <a:r>
              <a:rPr lang="en-US" dirty="0">
                <a:solidFill>
                  <a:srgbClr val="C00000"/>
                </a:solidFill>
              </a:rPr>
              <a:t>Context switch</a:t>
            </a:r>
          </a:p>
          <a:p>
            <a:pPr lvl="1" algn="l">
              <a:lnSpc>
                <a:spcPct val="150000"/>
              </a:lnSpc>
            </a:pPr>
            <a:r>
              <a:rPr lang="en-US" dirty="0"/>
              <a:t>All the OS has to do is save a few register values for the currently-executing process (onto its kernel stack, for example) and restore a few for the soon-to-be-executing process (from its kernel stack).</a:t>
            </a:r>
          </a:p>
        </p:txBody>
      </p:sp>
    </p:spTree>
    <p:extLst>
      <p:ext uri="{BB962C8B-B14F-4D97-AF65-F5344CB8AC3E}">
        <p14:creationId xmlns:p14="http://schemas.microsoft.com/office/powerpoint/2010/main" val="373365210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848F5-1552-4316-ADB3-4EE4924B6477}"/>
              </a:ext>
            </a:extLst>
          </p:cNvPr>
          <p:cNvSpPr>
            <a:spLocks noGrp="1"/>
          </p:cNvSpPr>
          <p:nvPr>
            <p:ph type="ctrTitle"/>
          </p:nvPr>
        </p:nvSpPr>
        <p:spPr>
          <a:xfrm>
            <a:off x="1218460" y="197584"/>
            <a:ext cx="10452740" cy="460399"/>
          </a:xfrm>
        </p:spPr>
        <p:txBody>
          <a:bodyPr>
            <a:noAutofit/>
          </a:bodyPr>
          <a:lstStyle/>
          <a:p>
            <a:r>
              <a:rPr lang="en-US" sz="3800" dirty="0">
                <a:solidFill>
                  <a:srgbClr val="C00000"/>
                </a:solidFill>
              </a:rPr>
              <a:t>Trap table – processes switch</a:t>
            </a:r>
          </a:p>
        </p:txBody>
      </p:sp>
      <p:pic>
        <p:nvPicPr>
          <p:cNvPr id="8" name="Picture 7">
            <a:extLst>
              <a:ext uri="{FF2B5EF4-FFF2-40B4-BE49-F238E27FC236}">
                <a16:creationId xmlns:a16="http://schemas.microsoft.com/office/drawing/2014/main" id="{130FB6F0-B282-4990-FE99-9CDD1E141690}"/>
              </a:ext>
            </a:extLst>
          </p:cNvPr>
          <p:cNvPicPr>
            <a:picLocks noChangeAspect="1"/>
          </p:cNvPicPr>
          <p:nvPr/>
        </p:nvPicPr>
        <p:blipFill>
          <a:blip r:embed="rId3"/>
          <a:stretch>
            <a:fillRect/>
          </a:stretch>
        </p:blipFill>
        <p:spPr>
          <a:xfrm>
            <a:off x="2928780" y="716816"/>
            <a:ext cx="6334439" cy="5943600"/>
          </a:xfrm>
          <a:prstGeom prst="rect">
            <a:avLst/>
          </a:prstGeom>
        </p:spPr>
      </p:pic>
      <p:sp>
        <p:nvSpPr>
          <p:cNvPr id="9" name="TextBox 8">
            <a:extLst>
              <a:ext uri="{FF2B5EF4-FFF2-40B4-BE49-F238E27FC236}">
                <a16:creationId xmlns:a16="http://schemas.microsoft.com/office/drawing/2014/main" id="{7205C350-34F2-3FC8-8DB0-2C95275D5F8D}"/>
              </a:ext>
            </a:extLst>
          </p:cNvPr>
          <p:cNvSpPr txBox="1"/>
          <p:nvPr/>
        </p:nvSpPr>
        <p:spPr>
          <a:xfrm>
            <a:off x="1906781" y="4480685"/>
            <a:ext cx="812800" cy="369332"/>
          </a:xfrm>
          <a:prstGeom prst="rect">
            <a:avLst/>
          </a:prstGeom>
          <a:noFill/>
        </p:spPr>
        <p:txBody>
          <a:bodyPr wrap="square" rtlCol="0">
            <a:spAutoFit/>
          </a:bodyPr>
          <a:lstStyle/>
          <a:p>
            <a:r>
              <a:rPr lang="en-US" dirty="0"/>
              <a:t>Time 4</a:t>
            </a:r>
          </a:p>
        </p:txBody>
      </p:sp>
      <p:sp>
        <p:nvSpPr>
          <p:cNvPr id="10" name="TextBox 9">
            <a:extLst>
              <a:ext uri="{FF2B5EF4-FFF2-40B4-BE49-F238E27FC236}">
                <a16:creationId xmlns:a16="http://schemas.microsoft.com/office/drawing/2014/main" id="{7E3FBA88-5FF5-5F0D-F691-3A3BA4F3B4AF}"/>
              </a:ext>
            </a:extLst>
          </p:cNvPr>
          <p:cNvSpPr txBox="1"/>
          <p:nvPr/>
        </p:nvSpPr>
        <p:spPr>
          <a:xfrm>
            <a:off x="1906781" y="2024672"/>
            <a:ext cx="812800" cy="369332"/>
          </a:xfrm>
          <a:prstGeom prst="rect">
            <a:avLst/>
          </a:prstGeom>
          <a:noFill/>
        </p:spPr>
        <p:txBody>
          <a:bodyPr wrap="square" rtlCol="0">
            <a:spAutoFit/>
          </a:bodyPr>
          <a:lstStyle/>
          <a:p>
            <a:r>
              <a:rPr lang="en-US" dirty="0"/>
              <a:t>Time 2</a:t>
            </a:r>
          </a:p>
        </p:txBody>
      </p:sp>
      <p:sp>
        <p:nvSpPr>
          <p:cNvPr id="11" name="TextBox 10">
            <a:extLst>
              <a:ext uri="{FF2B5EF4-FFF2-40B4-BE49-F238E27FC236}">
                <a16:creationId xmlns:a16="http://schemas.microsoft.com/office/drawing/2014/main" id="{94B134DD-7CBD-5765-18C6-44D4E8137FB4}"/>
              </a:ext>
            </a:extLst>
          </p:cNvPr>
          <p:cNvSpPr txBox="1"/>
          <p:nvPr/>
        </p:nvSpPr>
        <p:spPr>
          <a:xfrm>
            <a:off x="1906781" y="3659335"/>
            <a:ext cx="812800" cy="369332"/>
          </a:xfrm>
          <a:prstGeom prst="rect">
            <a:avLst/>
          </a:prstGeom>
          <a:noFill/>
        </p:spPr>
        <p:txBody>
          <a:bodyPr wrap="square" rtlCol="0">
            <a:spAutoFit/>
          </a:bodyPr>
          <a:lstStyle/>
          <a:p>
            <a:r>
              <a:rPr lang="en-US" dirty="0"/>
              <a:t>Time 3</a:t>
            </a:r>
          </a:p>
        </p:txBody>
      </p:sp>
      <p:sp>
        <p:nvSpPr>
          <p:cNvPr id="12" name="TextBox 11">
            <a:extLst>
              <a:ext uri="{FF2B5EF4-FFF2-40B4-BE49-F238E27FC236}">
                <a16:creationId xmlns:a16="http://schemas.microsoft.com/office/drawing/2014/main" id="{F4DFCCA2-FA9E-0FC0-C7A3-7229A2AE516C}"/>
              </a:ext>
            </a:extLst>
          </p:cNvPr>
          <p:cNvSpPr txBox="1"/>
          <p:nvPr/>
        </p:nvSpPr>
        <p:spPr>
          <a:xfrm>
            <a:off x="1906781" y="1299880"/>
            <a:ext cx="812800" cy="369332"/>
          </a:xfrm>
          <a:prstGeom prst="rect">
            <a:avLst/>
          </a:prstGeom>
          <a:noFill/>
        </p:spPr>
        <p:txBody>
          <a:bodyPr wrap="square" rtlCol="0">
            <a:spAutoFit/>
          </a:bodyPr>
          <a:lstStyle/>
          <a:p>
            <a:r>
              <a:rPr lang="en-US" dirty="0"/>
              <a:t>Time 1</a:t>
            </a:r>
          </a:p>
        </p:txBody>
      </p:sp>
      <p:sp>
        <p:nvSpPr>
          <p:cNvPr id="13" name="TextBox 12">
            <a:extLst>
              <a:ext uri="{FF2B5EF4-FFF2-40B4-BE49-F238E27FC236}">
                <a16:creationId xmlns:a16="http://schemas.microsoft.com/office/drawing/2014/main" id="{6C3E9727-4A41-6618-A7C0-AEE4D4638B98}"/>
              </a:ext>
            </a:extLst>
          </p:cNvPr>
          <p:cNvSpPr txBox="1"/>
          <p:nvPr/>
        </p:nvSpPr>
        <p:spPr>
          <a:xfrm>
            <a:off x="1906781" y="5421352"/>
            <a:ext cx="812800" cy="369332"/>
          </a:xfrm>
          <a:prstGeom prst="rect">
            <a:avLst/>
          </a:prstGeom>
          <a:noFill/>
        </p:spPr>
        <p:txBody>
          <a:bodyPr wrap="square" rtlCol="0">
            <a:spAutoFit/>
          </a:bodyPr>
          <a:lstStyle/>
          <a:p>
            <a:r>
              <a:rPr lang="en-US" dirty="0"/>
              <a:t>Time 5</a:t>
            </a:r>
          </a:p>
        </p:txBody>
      </p:sp>
      <p:sp>
        <p:nvSpPr>
          <p:cNvPr id="18" name="Arrow: Right 17">
            <a:extLst>
              <a:ext uri="{FF2B5EF4-FFF2-40B4-BE49-F238E27FC236}">
                <a16:creationId xmlns:a16="http://schemas.microsoft.com/office/drawing/2014/main" id="{79DAD4C7-7FBA-DB71-2726-F0A3B1172745}"/>
              </a:ext>
            </a:extLst>
          </p:cNvPr>
          <p:cNvSpPr/>
          <p:nvPr/>
        </p:nvSpPr>
        <p:spPr>
          <a:xfrm>
            <a:off x="2999616" y="1461686"/>
            <a:ext cx="2569031" cy="4571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Arrow: Right 18">
            <a:extLst>
              <a:ext uri="{FF2B5EF4-FFF2-40B4-BE49-F238E27FC236}">
                <a16:creationId xmlns:a16="http://schemas.microsoft.com/office/drawing/2014/main" id="{E6E932F2-BF10-7498-759D-00BB4F73D786}"/>
              </a:ext>
            </a:extLst>
          </p:cNvPr>
          <p:cNvSpPr/>
          <p:nvPr/>
        </p:nvSpPr>
        <p:spPr>
          <a:xfrm>
            <a:off x="2999615" y="2159119"/>
            <a:ext cx="2569031" cy="4571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Arrow: Right 19">
            <a:extLst>
              <a:ext uri="{FF2B5EF4-FFF2-40B4-BE49-F238E27FC236}">
                <a16:creationId xmlns:a16="http://schemas.microsoft.com/office/drawing/2014/main" id="{74425B17-D490-6B17-A30E-C2C58F932428}"/>
              </a:ext>
            </a:extLst>
          </p:cNvPr>
          <p:cNvSpPr/>
          <p:nvPr/>
        </p:nvSpPr>
        <p:spPr>
          <a:xfrm>
            <a:off x="2999615" y="3839610"/>
            <a:ext cx="2569031" cy="4571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Arrow: Right 20">
            <a:extLst>
              <a:ext uri="{FF2B5EF4-FFF2-40B4-BE49-F238E27FC236}">
                <a16:creationId xmlns:a16="http://schemas.microsoft.com/office/drawing/2014/main" id="{76CBD5DB-E2CE-5379-CE98-57A5BD34C147}"/>
              </a:ext>
            </a:extLst>
          </p:cNvPr>
          <p:cNvSpPr/>
          <p:nvPr/>
        </p:nvSpPr>
        <p:spPr>
          <a:xfrm>
            <a:off x="2999614" y="5606018"/>
            <a:ext cx="2569031" cy="4571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012553AF-AC4C-68F9-892A-139E0CF87AA8}"/>
              </a:ext>
            </a:extLst>
          </p:cNvPr>
          <p:cNvSpPr txBox="1"/>
          <p:nvPr/>
        </p:nvSpPr>
        <p:spPr>
          <a:xfrm>
            <a:off x="9472418" y="2708711"/>
            <a:ext cx="2341639" cy="923330"/>
          </a:xfrm>
          <a:prstGeom prst="rect">
            <a:avLst/>
          </a:prstGeom>
          <a:noFill/>
        </p:spPr>
        <p:txBody>
          <a:bodyPr wrap="square" rtlCol="0">
            <a:spAutoFit/>
          </a:bodyPr>
          <a:lstStyle/>
          <a:p>
            <a:r>
              <a:rPr lang="en-US">
                <a:solidFill>
                  <a:srgbClr val="C00000"/>
                </a:solidFill>
              </a:rPr>
              <a:t>Q1: What’s </a:t>
            </a:r>
            <a:r>
              <a:rPr lang="en-US" dirty="0">
                <a:solidFill>
                  <a:srgbClr val="C00000"/>
                </a:solidFill>
              </a:rPr>
              <a:t>the diff from without Time Interrupt in Table 6.2?</a:t>
            </a:r>
          </a:p>
        </p:txBody>
      </p:sp>
    </p:spTree>
    <p:extLst>
      <p:ext uri="{BB962C8B-B14F-4D97-AF65-F5344CB8AC3E}">
        <p14:creationId xmlns:p14="http://schemas.microsoft.com/office/powerpoint/2010/main" val="196211386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894</TotalTime>
  <Words>1609</Words>
  <Application>Microsoft Office PowerPoint</Application>
  <PresentationFormat>Widescreen</PresentationFormat>
  <Paragraphs>135</Paragraphs>
  <Slides>18</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Arial</vt:lpstr>
      <vt:lpstr>Calibri</vt:lpstr>
      <vt:lpstr>Calibri Light</vt:lpstr>
      <vt:lpstr>Wingdings</vt:lpstr>
      <vt:lpstr>Office Theme</vt:lpstr>
      <vt:lpstr>PowerPoint Presentation</vt:lpstr>
      <vt:lpstr>Reading Assignment</vt:lpstr>
      <vt:lpstr>Agenda</vt:lpstr>
      <vt:lpstr>Formation of Process from Program - 1 [1]</vt:lpstr>
      <vt:lpstr>Formation of Process from Program – 2 [1]</vt:lpstr>
      <vt:lpstr>Formation of Process from Program – 3 [1]</vt:lpstr>
      <vt:lpstr>Formation of Process from Program – 4 [1]</vt:lpstr>
      <vt:lpstr>Formation of Process from Program – 5 [1]</vt:lpstr>
      <vt:lpstr>Formation of Process from Program – 6 [1]</vt:lpstr>
      <vt:lpstr>Direct execution</vt:lpstr>
      <vt:lpstr>Restricted executions</vt:lpstr>
      <vt:lpstr>System call execution</vt:lpstr>
      <vt:lpstr>Specifications of system call execution</vt:lpstr>
      <vt:lpstr>A trap example -  a printf for printing to the monitor[1]</vt:lpstr>
      <vt:lpstr>Trap table – monitoring system call execution</vt:lpstr>
      <vt:lpstr>Switch between processes</vt:lpstr>
      <vt:lpstr>Saving and Restoring Context</vt:lpstr>
      <vt:lpstr>Trap table – processes switch</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Jie Zhao</dc:creator>
  <cp:lastModifiedBy>Zhao, Jie</cp:lastModifiedBy>
  <cp:revision>7</cp:revision>
  <dcterms:created xsi:type="dcterms:W3CDTF">2023-08-19T20:44:10Z</dcterms:created>
  <dcterms:modified xsi:type="dcterms:W3CDTF">2026-01-31T19:18:57Z</dcterms:modified>
</cp:coreProperties>
</file>