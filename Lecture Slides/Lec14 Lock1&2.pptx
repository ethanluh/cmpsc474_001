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sldIdLst>
    <p:sldId id="256" r:id="rId2"/>
    <p:sldId id="257" r:id="rId3"/>
    <p:sldId id="322" r:id="rId4"/>
    <p:sldId id="285" r:id="rId5"/>
    <p:sldId id="304" r:id="rId6"/>
    <p:sldId id="281" r:id="rId7"/>
    <p:sldId id="305" r:id="rId8"/>
    <p:sldId id="314" r:id="rId9"/>
    <p:sldId id="307" r:id="rId10"/>
    <p:sldId id="313" r:id="rId11"/>
    <p:sldId id="311" r:id="rId12"/>
    <p:sldId id="315" r:id="rId13"/>
    <p:sldId id="312" r:id="rId14"/>
    <p:sldId id="316" r:id="rId15"/>
    <p:sldId id="317" r:id="rId16"/>
    <p:sldId id="318" r:id="rId17"/>
    <p:sldId id="319" r:id="rId18"/>
    <p:sldId id="320" r:id="rId19"/>
    <p:sldId id="321" r:id="rId20"/>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09" autoAdjust="0"/>
    <p:restoredTop sz="77123" autoAdjust="0"/>
  </p:normalViewPr>
  <p:slideViewPr>
    <p:cSldViewPr snapToGrid="0">
      <p:cViewPr varScale="1">
        <p:scale>
          <a:sx n="64" d="100"/>
          <a:sy n="64" d="100"/>
        </p:scale>
        <p:origin x="982"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o, Jie" userId="7be6526a-30ba-445c-b3a9-aabf2c8f5828" providerId="ADAL" clId="{DEC740C7-2239-4DCB-A2EC-28D5B021DFB5}"/>
    <pc:docChg chg="custSel modSld">
      <pc:chgData name="Zhao, Jie" userId="7be6526a-30ba-445c-b3a9-aabf2c8f5828" providerId="ADAL" clId="{DEC740C7-2239-4DCB-A2EC-28D5B021DFB5}" dt="2026-04-01T03:47:27.396" v="968" actId="20577"/>
      <pc:docMkLst>
        <pc:docMk/>
      </pc:docMkLst>
      <pc:sldChg chg="modSp mod">
        <pc:chgData name="Zhao, Jie" userId="7be6526a-30ba-445c-b3a9-aabf2c8f5828" providerId="ADAL" clId="{DEC740C7-2239-4DCB-A2EC-28D5B021DFB5}" dt="2026-04-01T03:46:15.752" v="921" actId="20577"/>
        <pc:sldMkLst>
          <pc:docMk/>
          <pc:sldMk cId="2199995263" sldId="256"/>
        </pc:sldMkLst>
        <pc:spChg chg="mod">
          <ac:chgData name="Zhao, Jie" userId="7be6526a-30ba-445c-b3a9-aabf2c8f5828" providerId="ADAL" clId="{DEC740C7-2239-4DCB-A2EC-28D5B021DFB5}" dt="2026-04-01T03:46:15.752" v="921" actId="20577"/>
          <ac:spMkLst>
            <pc:docMk/>
            <pc:sldMk cId="2199995263" sldId="256"/>
            <ac:spMk id="3" creationId="{2C5DF914-4B40-4A23-8AAC-9CFE7F215ACD}"/>
          </ac:spMkLst>
        </pc:spChg>
      </pc:sldChg>
      <pc:sldChg chg="modNotesTx">
        <pc:chgData name="Zhao, Jie" userId="7be6526a-30ba-445c-b3a9-aabf2c8f5828" providerId="ADAL" clId="{DEC740C7-2239-4DCB-A2EC-28D5B021DFB5}" dt="2026-04-01T03:47:27.396" v="968" actId="20577"/>
        <pc:sldMkLst>
          <pc:docMk/>
          <pc:sldMk cId="2443310734" sldId="304"/>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6434"/>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6434"/>
          </a:xfrm>
          <a:prstGeom prst="rect">
            <a:avLst/>
          </a:prstGeom>
        </p:spPr>
        <p:txBody>
          <a:bodyPr vert="horz" lIns="93177" tIns="46589" rIns="93177" bIns="46589" rtlCol="0"/>
          <a:lstStyle>
            <a:lvl1pPr algn="r">
              <a:defRPr sz="1200"/>
            </a:lvl1pPr>
          </a:lstStyle>
          <a:p>
            <a:fld id="{AAE94F02-DFE8-47F5-999D-4D065381BD97}" type="datetimeFigureOut">
              <a:rPr lang="en-US" smtClean="0"/>
              <a:t>3/31/2026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77" tIns="46589" rIns="93177" bIns="46589"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6433"/>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6433"/>
          </a:xfrm>
          <a:prstGeom prst="rect">
            <a:avLst/>
          </a:prstGeom>
        </p:spPr>
        <p:txBody>
          <a:bodyPr vert="horz" lIns="93177" tIns="46589" rIns="93177" bIns="46589" rtlCol="0" anchor="b"/>
          <a:lstStyle>
            <a:lvl1pPr algn="r">
              <a:defRPr sz="1200"/>
            </a:lvl1pPr>
          </a:lstStyle>
          <a:p>
            <a:fld id="{7B9532FC-0C26-41ED-91C4-2A1C58AE2C83}" type="slidenum">
              <a:rPr lang="en-US" smtClean="0"/>
              <a:t>‹#›</a:t>
            </a:fld>
            <a:endParaRPr lang="en-US"/>
          </a:p>
        </p:txBody>
      </p:sp>
    </p:spTree>
    <p:extLst>
      <p:ext uri="{BB962C8B-B14F-4D97-AF65-F5344CB8AC3E}">
        <p14:creationId xmlns:p14="http://schemas.microsoft.com/office/powerpoint/2010/main" val="1653007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daily life, </a:t>
            </a:r>
            <a:r>
              <a:rPr lang="en-US"/>
              <a:t>locks protect our property, </a:t>
            </a:r>
            <a:r>
              <a:rPr lang="en-US" dirty="0"/>
              <a:t>allowing us to store assets in a room and use a lock to prevent others from accessing them. If the lock is used in the program and there is no such room, however, we can use a lock as a </a:t>
            </a:r>
            <a:r>
              <a:rPr lang="en-US"/>
              <a:t>flag variable to </a:t>
            </a:r>
            <a:r>
              <a:rPr lang="en-US" dirty="0"/>
              <a:t>allow only one process to access the critical section at a given time. </a:t>
            </a:r>
          </a:p>
        </p:txBody>
      </p:sp>
      <p:sp>
        <p:nvSpPr>
          <p:cNvPr id="4" name="Slide Number Placeholder 3"/>
          <p:cNvSpPr>
            <a:spLocks noGrp="1"/>
          </p:cNvSpPr>
          <p:nvPr>
            <p:ph type="sldNum" sz="quarter" idx="5"/>
          </p:nvPr>
        </p:nvSpPr>
        <p:spPr/>
        <p:txBody>
          <a:bodyPr/>
          <a:lstStyle/>
          <a:p>
            <a:fld id="{7B9532FC-0C26-41ED-91C4-2A1C58AE2C83}" type="slidenum">
              <a:rPr lang="en-US" smtClean="0"/>
              <a:t>5</a:t>
            </a:fld>
            <a:endParaRPr lang="en-US"/>
          </a:p>
        </p:txBody>
      </p:sp>
    </p:spTree>
    <p:extLst>
      <p:ext uri="{BB962C8B-B14F-4D97-AF65-F5344CB8AC3E}">
        <p14:creationId xmlns:p14="http://schemas.microsoft.com/office/powerpoint/2010/main" val="23913951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7</a:t>
            </a:fld>
            <a:endParaRPr lang="en-US"/>
          </a:p>
        </p:txBody>
      </p:sp>
    </p:spTree>
    <p:extLst>
      <p:ext uri="{BB962C8B-B14F-4D97-AF65-F5344CB8AC3E}">
        <p14:creationId xmlns:p14="http://schemas.microsoft.com/office/powerpoint/2010/main" val="1784107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computer, locking and unlocking are not human actions, but rather binary states: 0 – unlock and 1 - lock. Actually, the lock is implemented using an endless while loop, known as a spin-wait. </a:t>
            </a:r>
          </a:p>
          <a:p>
            <a:r>
              <a:rPr lang="en-US" b="1" dirty="0"/>
              <a:t>Discuss the endless while loop.</a:t>
            </a:r>
          </a:p>
        </p:txBody>
      </p:sp>
      <p:sp>
        <p:nvSpPr>
          <p:cNvPr id="4" name="Slide Number Placeholder 3"/>
          <p:cNvSpPr>
            <a:spLocks noGrp="1"/>
          </p:cNvSpPr>
          <p:nvPr>
            <p:ph type="sldNum" sz="quarter" idx="5"/>
          </p:nvPr>
        </p:nvSpPr>
        <p:spPr/>
        <p:txBody>
          <a:bodyPr/>
          <a:lstStyle/>
          <a:p>
            <a:fld id="{7B9532FC-0C26-41ED-91C4-2A1C58AE2C83}" type="slidenum">
              <a:rPr lang="en-US" smtClean="0"/>
              <a:t>8</a:t>
            </a:fld>
            <a:endParaRPr lang="en-US"/>
          </a:p>
        </p:txBody>
      </p:sp>
    </p:spTree>
    <p:extLst>
      <p:ext uri="{BB962C8B-B14F-4D97-AF65-F5344CB8AC3E}">
        <p14:creationId xmlns:p14="http://schemas.microsoft.com/office/powerpoint/2010/main" val="20929481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single variable lock, the lock test at first and the lock set at second may cause an interruption and destroy the atomic execution. Therefore, when the lock status is tested, we must check whether the other process uses the lock. </a:t>
            </a:r>
          </a:p>
        </p:txBody>
      </p:sp>
      <p:sp>
        <p:nvSpPr>
          <p:cNvPr id="4" name="Slide Number Placeholder 3"/>
          <p:cNvSpPr>
            <a:spLocks noGrp="1"/>
          </p:cNvSpPr>
          <p:nvPr>
            <p:ph type="sldNum" sz="quarter" idx="5"/>
          </p:nvPr>
        </p:nvSpPr>
        <p:spPr/>
        <p:txBody>
          <a:bodyPr/>
          <a:lstStyle/>
          <a:p>
            <a:fld id="{7B9532FC-0C26-41ED-91C4-2A1C58AE2C83}" type="slidenum">
              <a:rPr lang="en-US" smtClean="0"/>
              <a:t>9</a:t>
            </a:fld>
            <a:endParaRPr lang="en-US"/>
          </a:p>
        </p:txBody>
      </p:sp>
    </p:spTree>
    <p:extLst>
      <p:ext uri="{BB962C8B-B14F-4D97-AF65-F5344CB8AC3E}">
        <p14:creationId xmlns:p14="http://schemas.microsoft.com/office/powerpoint/2010/main" val="1613518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Compared with a single variable lock, Peterson’s algorithm locks the door first and then checks if the other process has used CPU resources or not. If the other process uses the CPU resource, the calling process will spin wait.</a:t>
            </a:r>
          </a:p>
        </p:txBody>
      </p:sp>
      <p:sp>
        <p:nvSpPr>
          <p:cNvPr id="4" name="Slide Number Placeholder 3"/>
          <p:cNvSpPr>
            <a:spLocks noGrp="1"/>
          </p:cNvSpPr>
          <p:nvPr>
            <p:ph type="sldNum" sz="quarter" idx="5"/>
          </p:nvPr>
        </p:nvSpPr>
        <p:spPr/>
        <p:txBody>
          <a:bodyPr/>
          <a:lstStyle/>
          <a:p>
            <a:fld id="{7B9532FC-0C26-41ED-91C4-2A1C58AE2C83}" type="slidenum">
              <a:rPr lang="en-US" smtClean="0"/>
              <a:t>10</a:t>
            </a:fld>
            <a:endParaRPr lang="en-US"/>
          </a:p>
        </p:txBody>
      </p:sp>
    </p:spTree>
    <p:extLst>
      <p:ext uri="{BB962C8B-B14F-4D97-AF65-F5344CB8AC3E}">
        <p14:creationId xmlns:p14="http://schemas.microsoft.com/office/powerpoint/2010/main" val="216503356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dirty="0"/>
              <a:t>In the test and set function, the lock flag is incremented by 1, and then the test is returned. Calling a function within the lock function is a way to make both the test and set operations concurrent. </a:t>
            </a:r>
          </a:p>
          <a:p>
            <a:pPr algn="l"/>
            <a:r>
              <a:rPr lang="en-US" b="1" dirty="0"/>
              <a:t>Discuss 1). Function inputs and outputs, 2). Different outputs occur when the lock is set to 0, and when it is set to 1.</a:t>
            </a:r>
          </a:p>
          <a:p>
            <a:pPr algn="l"/>
            <a:r>
              <a:rPr lang="en-US" b="1" dirty="0"/>
              <a:t>Comments: it is unnecessary to update the lock when it is 1; Thus, the extra cost occurs.</a:t>
            </a:r>
          </a:p>
        </p:txBody>
      </p:sp>
      <p:sp>
        <p:nvSpPr>
          <p:cNvPr id="4" name="Slide Number Placeholder 3"/>
          <p:cNvSpPr>
            <a:spLocks noGrp="1"/>
          </p:cNvSpPr>
          <p:nvPr>
            <p:ph type="sldNum" sz="quarter" idx="5"/>
          </p:nvPr>
        </p:nvSpPr>
        <p:spPr/>
        <p:txBody>
          <a:bodyPr/>
          <a:lstStyle/>
          <a:p>
            <a:fld id="{7B9532FC-0C26-41ED-91C4-2A1C58AE2C83}" type="slidenum">
              <a:rPr lang="en-US" smtClean="0"/>
              <a:t>11</a:t>
            </a:fld>
            <a:endParaRPr lang="en-US"/>
          </a:p>
        </p:txBody>
      </p:sp>
    </p:spTree>
    <p:extLst>
      <p:ext uri="{BB962C8B-B14F-4D97-AF65-F5344CB8AC3E}">
        <p14:creationId xmlns:p14="http://schemas.microsoft.com/office/powerpoint/2010/main" val="16507964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12</a:t>
            </a:fld>
            <a:endParaRPr lang="en-US"/>
          </a:p>
        </p:txBody>
      </p:sp>
    </p:spTree>
    <p:extLst>
      <p:ext uri="{BB962C8B-B14F-4D97-AF65-F5344CB8AC3E}">
        <p14:creationId xmlns:p14="http://schemas.microsoft.com/office/powerpoint/2010/main" val="35815884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code guarantees that only the caller can use the lock if the caller gets the key(*lock = 0). Then, test if the actual is equal to the expected to make an efficient spin wait. </a:t>
            </a:r>
          </a:p>
          <a:p>
            <a:r>
              <a:rPr lang="en-US" b="1" dirty="0"/>
              <a:t>Comments: to solve the issue from test and set, the “expect” is added to make the lock updated only when the lock is 0. </a:t>
            </a:r>
          </a:p>
        </p:txBody>
      </p:sp>
      <p:sp>
        <p:nvSpPr>
          <p:cNvPr id="4" name="Slide Number Placeholder 3"/>
          <p:cNvSpPr>
            <a:spLocks noGrp="1"/>
          </p:cNvSpPr>
          <p:nvPr>
            <p:ph type="sldNum" sz="quarter" idx="5"/>
          </p:nvPr>
        </p:nvSpPr>
        <p:spPr/>
        <p:txBody>
          <a:bodyPr/>
          <a:lstStyle/>
          <a:p>
            <a:fld id="{7B9532FC-0C26-41ED-91C4-2A1C58AE2C83}" type="slidenum">
              <a:rPr lang="en-US" smtClean="0"/>
              <a:t>13</a:t>
            </a:fld>
            <a:endParaRPr lang="en-US"/>
          </a:p>
        </p:txBody>
      </p:sp>
    </p:spTree>
    <p:extLst>
      <p:ext uri="{BB962C8B-B14F-4D97-AF65-F5344CB8AC3E}">
        <p14:creationId xmlns:p14="http://schemas.microsoft.com/office/powerpoint/2010/main" val="81904272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14</a:t>
            </a:fld>
            <a:endParaRPr lang="en-US"/>
          </a:p>
        </p:txBody>
      </p:sp>
    </p:spTree>
    <p:extLst>
      <p:ext uri="{BB962C8B-B14F-4D97-AF65-F5344CB8AC3E}">
        <p14:creationId xmlns:p14="http://schemas.microsoft.com/office/powerpoint/2010/main" val="276601450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Comments: Two flags can handle multi-threaded race conditions. So, the lock will be larger than 1. To make the turn has a chance to be equal to lock, the turn will be larger than 1 when the unlock function is called. </a:t>
            </a:r>
          </a:p>
        </p:txBody>
      </p:sp>
      <p:sp>
        <p:nvSpPr>
          <p:cNvPr id="4" name="Slide Number Placeholder 3"/>
          <p:cNvSpPr>
            <a:spLocks noGrp="1"/>
          </p:cNvSpPr>
          <p:nvPr>
            <p:ph type="sldNum" sz="quarter" idx="5"/>
          </p:nvPr>
        </p:nvSpPr>
        <p:spPr/>
        <p:txBody>
          <a:bodyPr/>
          <a:lstStyle/>
          <a:p>
            <a:fld id="{7B9532FC-0C26-41ED-91C4-2A1C58AE2C83}" type="slidenum">
              <a:rPr lang="en-US" smtClean="0"/>
              <a:t>15</a:t>
            </a:fld>
            <a:endParaRPr lang="en-US"/>
          </a:p>
        </p:txBody>
      </p:sp>
    </p:spTree>
    <p:extLst>
      <p:ext uri="{BB962C8B-B14F-4D97-AF65-F5344CB8AC3E}">
        <p14:creationId xmlns:p14="http://schemas.microsoft.com/office/powerpoint/2010/main" val="27640795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16</a:t>
            </a:fld>
            <a:endParaRPr lang="en-US"/>
          </a:p>
        </p:txBody>
      </p:sp>
    </p:spTree>
    <p:extLst>
      <p:ext uri="{BB962C8B-B14F-4D97-AF65-F5344CB8AC3E}">
        <p14:creationId xmlns:p14="http://schemas.microsoft.com/office/powerpoint/2010/main" val="3722845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17</a:t>
            </a:fld>
            <a:endParaRPr lang="en-US"/>
          </a:p>
        </p:txBody>
      </p:sp>
    </p:spTree>
    <p:extLst>
      <p:ext uri="{BB962C8B-B14F-4D97-AF65-F5344CB8AC3E}">
        <p14:creationId xmlns:p14="http://schemas.microsoft.com/office/powerpoint/2010/main" val="13497484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18</a:t>
            </a:fld>
            <a:endParaRPr lang="en-US"/>
          </a:p>
        </p:txBody>
      </p:sp>
    </p:spTree>
    <p:extLst>
      <p:ext uri="{BB962C8B-B14F-4D97-AF65-F5344CB8AC3E}">
        <p14:creationId xmlns:p14="http://schemas.microsoft.com/office/powerpoint/2010/main" val="18649963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B9532FC-0C26-41ED-91C4-2A1C58AE2C83}" type="slidenum">
              <a:rPr lang="en-US" smtClean="0"/>
              <a:t>19</a:t>
            </a:fld>
            <a:endParaRPr lang="en-US"/>
          </a:p>
        </p:txBody>
      </p:sp>
    </p:spTree>
    <p:extLst>
      <p:ext uri="{BB962C8B-B14F-4D97-AF65-F5344CB8AC3E}">
        <p14:creationId xmlns:p14="http://schemas.microsoft.com/office/powerpoint/2010/main" val="3018375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58CFA-34B8-4985-9EBD-3480D5E1D8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433D6D-E622-4C3B-9F70-ED49553B91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5B9800-BBE3-43F3-954C-1BE89C95AF77}"/>
              </a:ext>
            </a:extLst>
          </p:cNvPr>
          <p:cNvSpPr>
            <a:spLocks noGrp="1"/>
          </p:cNvSpPr>
          <p:nvPr>
            <p:ph type="dt" sz="half" idx="10"/>
          </p:nvPr>
        </p:nvSpPr>
        <p:spPr/>
        <p:txBody>
          <a:bodyPr/>
          <a:lstStyle/>
          <a:p>
            <a:fld id="{5701B579-BE22-4365-9624-3AE1F352F1A7}" type="datetimeFigureOut">
              <a:rPr lang="en-US" smtClean="0"/>
              <a:t>3/31/2026</a:t>
            </a:fld>
            <a:endParaRPr lang="en-US"/>
          </a:p>
        </p:txBody>
      </p:sp>
      <p:sp>
        <p:nvSpPr>
          <p:cNvPr id="5" name="Footer Placeholder 4">
            <a:extLst>
              <a:ext uri="{FF2B5EF4-FFF2-40B4-BE49-F238E27FC236}">
                <a16:creationId xmlns:a16="http://schemas.microsoft.com/office/drawing/2014/main" id="{4549448D-A783-4933-8C87-202B908B19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7A539E-77FB-4784-8F48-40A6E10C521F}"/>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65618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5774-D8FB-4609-AAE6-9DFB9337B9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28BC86-19DE-433A-AC72-8E6E8A93B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FEAE9-538F-4540-99B2-F94BBB0C3D78}"/>
              </a:ext>
            </a:extLst>
          </p:cNvPr>
          <p:cNvSpPr>
            <a:spLocks noGrp="1"/>
          </p:cNvSpPr>
          <p:nvPr>
            <p:ph type="dt" sz="half" idx="10"/>
          </p:nvPr>
        </p:nvSpPr>
        <p:spPr/>
        <p:txBody>
          <a:bodyPr/>
          <a:lstStyle/>
          <a:p>
            <a:fld id="{5701B579-BE22-4365-9624-3AE1F352F1A7}" type="datetimeFigureOut">
              <a:rPr lang="en-US" smtClean="0"/>
              <a:t>3/31/2026</a:t>
            </a:fld>
            <a:endParaRPr lang="en-US"/>
          </a:p>
        </p:txBody>
      </p:sp>
      <p:sp>
        <p:nvSpPr>
          <p:cNvPr id="5" name="Footer Placeholder 4">
            <a:extLst>
              <a:ext uri="{FF2B5EF4-FFF2-40B4-BE49-F238E27FC236}">
                <a16:creationId xmlns:a16="http://schemas.microsoft.com/office/drawing/2014/main" id="{0A00FA06-A552-48E9-984C-063D23529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CB287-478F-4020-BBF4-AE2612E417F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897582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65F8E-D378-48F1-982D-606B3160FF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194D5D-2E6F-4291-B1C6-BBFC0323C9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AAFD2-28C6-455D-AE60-B9D724863CD9}"/>
              </a:ext>
            </a:extLst>
          </p:cNvPr>
          <p:cNvSpPr>
            <a:spLocks noGrp="1"/>
          </p:cNvSpPr>
          <p:nvPr>
            <p:ph type="dt" sz="half" idx="10"/>
          </p:nvPr>
        </p:nvSpPr>
        <p:spPr/>
        <p:txBody>
          <a:bodyPr/>
          <a:lstStyle/>
          <a:p>
            <a:fld id="{5701B579-BE22-4365-9624-3AE1F352F1A7}" type="datetimeFigureOut">
              <a:rPr lang="en-US" smtClean="0"/>
              <a:t>3/31/2026</a:t>
            </a:fld>
            <a:endParaRPr lang="en-US"/>
          </a:p>
        </p:txBody>
      </p:sp>
      <p:sp>
        <p:nvSpPr>
          <p:cNvPr id="5" name="Footer Placeholder 4">
            <a:extLst>
              <a:ext uri="{FF2B5EF4-FFF2-40B4-BE49-F238E27FC236}">
                <a16:creationId xmlns:a16="http://schemas.microsoft.com/office/drawing/2014/main" id="{7F662756-894F-46FE-B4D3-4C3707440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C601B-7763-446C-9DC5-9ACF5EE9B233}"/>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59983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285D5-4A70-4523-8C56-7A2F63097D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B50669-8B6D-4573-A65D-5723BE7B81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926AA6-27C3-4956-B4F9-B51F02240F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CADE07-F788-4954-AC59-F7BCCAD825DE}"/>
              </a:ext>
            </a:extLst>
          </p:cNvPr>
          <p:cNvSpPr>
            <a:spLocks noGrp="1"/>
          </p:cNvSpPr>
          <p:nvPr>
            <p:ph type="dt" sz="half" idx="10"/>
          </p:nvPr>
        </p:nvSpPr>
        <p:spPr/>
        <p:txBody>
          <a:bodyPr/>
          <a:lstStyle/>
          <a:p>
            <a:fld id="{5701B579-BE22-4365-9624-3AE1F352F1A7}" type="datetimeFigureOut">
              <a:rPr lang="en-US" smtClean="0"/>
              <a:t>3/31/2026</a:t>
            </a:fld>
            <a:endParaRPr lang="en-US"/>
          </a:p>
        </p:txBody>
      </p:sp>
      <p:sp>
        <p:nvSpPr>
          <p:cNvPr id="6" name="Footer Placeholder 5">
            <a:extLst>
              <a:ext uri="{FF2B5EF4-FFF2-40B4-BE49-F238E27FC236}">
                <a16:creationId xmlns:a16="http://schemas.microsoft.com/office/drawing/2014/main" id="{D4CEA43F-F602-40EE-B21F-DC7E68CD6E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3D1C2A-9F62-4A54-96AE-3DAD4823439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578375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93E4-29D2-4052-9C0C-2B12FB9F04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A1864E-EDC6-4F4B-90E2-73414CCE86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208338-D4D6-46C1-A40B-EBAFA05859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76AB0C-3D87-4B28-A144-FBE1D0F6FE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0639F3-6EB4-4B92-AE38-D411C1AA3A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1005A4-0514-429B-9362-4434E7932694}"/>
              </a:ext>
            </a:extLst>
          </p:cNvPr>
          <p:cNvSpPr>
            <a:spLocks noGrp="1"/>
          </p:cNvSpPr>
          <p:nvPr>
            <p:ph type="dt" sz="half" idx="10"/>
          </p:nvPr>
        </p:nvSpPr>
        <p:spPr/>
        <p:txBody>
          <a:bodyPr/>
          <a:lstStyle/>
          <a:p>
            <a:fld id="{5701B579-BE22-4365-9624-3AE1F352F1A7}" type="datetimeFigureOut">
              <a:rPr lang="en-US" smtClean="0"/>
              <a:t>3/31/2026</a:t>
            </a:fld>
            <a:endParaRPr lang="en-US"/>
          </a:p>
        </p:txBody>
      </p:sp>
      <p:sp>
        <p:nvSpPr>
          <p:cNvPr id="8" name="Footer Placeholder 7">
            <a:extLst>
              <a:ext uri="{FF2B5EF4-FFF2-40B4-BE49-F238E27FC236}">
                <a16:creationId xmlns:a16="http://schemas.microsoft.com/office/drawing/2014/main" id="{41B49C01-7B53-435D-82F7-A1316279CD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2674F3-601B-4FAC-913E-6356AB82DE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374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8F530-2DDE-4090-B9BA-4E706FE890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4B356-E78B-4416-98FE-2C17AE157F2B}"/>
              </a:ext>
            </a:extLst>
          </p:cNvPr>
          <p:cNvSpPr>
            <a:spLocks noGrp="1"/>
          </p:cNvSpPr>
          <p:nvPr>
            <p:ph type="dt" sz="half" idx="10"/>
          </p:nvPr>
        </p:nvSpPr>
        <p:spPr/>
        <p:txBody>
          <a:bodyPr/>
          <a:lstStyle/>
          <a:p>
            <a:fld id="{5701B579-BE22-4365-9624-3AE1F352F1A7}" type="datetimeFigureOut">
              <a:rPr lang="en-US" smtClean="0"/>
              <a:t>3/31/2026</a:t>
            </a:fld>
            <a:endParaRPr lang="en-US"/>
          </a:p>
        </p:txBody>
      </p:sp>
      <p:sp>
        <p:nvSpPr>
          <p:cNvPr id="4" name="Footer Placeholder 3">
            <a:extLst>
              <a:ext uri="{FF2B5EF4-FFF2-40B4-BE49-F238E27FC236}">
                <a16:creationId xmlns:a16="http://schemas.microsoft.com/office/drawing/2014/main" id="{C15593D8-810C-4035-B5ED-80F9BF0D3A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F55571-D054-48D1-8803-ADE847A6536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345384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7BE268-32AF-41F1-B9BF-76444776383A}"/>
              </a:ext>
            </a:extLst>
          </p:cNvPr>
          <p:cNvSpPr>
            <a:spLocks noGrp="1"/>
          </p:cNvSpPr>
          <p:nvPr>
            <p:ph type="dt" sz="half" idx="10"/>
          </p:nvPr>
        </p:nvSpPr>
        <p:spPr/>
        <p:txBody>
          <a:bodyPr/>
          <a:lstStyle/>
          <a:p>
            <a:fld id="{5701B579-BE22-4365-9624-3AE1F352F1A7}" type="datetimeFigureOut">
              <a:rPr lang="en-US" smtClean="0"/>
              <a:t>3/31/2026</a:t>
            </a:fld>
            <a:endParaRPr lang="en-US"/>
          </a:p>
        </p:txBody>
      </p:sp>
      <p:sp>
        <p:nvSpPr>
          <p:cNvPr id="3" name="Footer Placeholder 2">
            <a:extLst>
              <a:ext uri="{FF2B5EF4-FFF2-40B4-BE49-F238E27FC236}">
                <a16:creationId xmlns:a16="http://schemas.microsoft.com/office/drawing/2014/main" id="{CF581429-1463-423B-A364-3007974280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1A6839-CB05-4AB6-92C3-597FE9B6E56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76207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0436-DB2A-48F1-B027-49BF16EC76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E8BF08-10D0-4FEE-BD95-9FDFBA2FF0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AA3EEA-BC06-42DA-89F3-9E0D2161B0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5DFBF-2A0A-4BBC-A7A2-C761EAFD3E8C}"/>
              </a:ext>
            </a:extLst>
          </p:cNvPr>
          <p:cNvSpPr>
            <a:spLocks noGrp="1"/>
          </p:cNvSpPr>
          <p:nvPr>
            <p:ph type="dt" sz="half" idx="10"/>
          </p:nvPr>
        </p:nvSpPr>
        <p:spPr/>
        <p:txBody>
          <a:bodyPr/>
          <a:lstStyle/>
          <a:p>
            <a:fld id="{5701B579-BE22-4365-9624-3AE1F352F1A7}" type="datetimeFigureOut">
              <a:rPr lang="en-US" smtClean="0"/>
              <a:t>3/31/2026</a:t>
            </a:fld>
            <a:endParaRPr lang="en-US"/>
          </a:p>
        </p:txBody>
      </p:sp>
      <p:sp>
        <p:nvSpPr>
          <p:cNvPr id="6" name="Footer Placeholder 5">
            <a:extLst>
              <a:ext uri="{FF2B5EF4-FFF2-40B4-BE49-F238E27FC236}">
                <a16:creationId xmlns:a16="http://schemas.microsoft.com/office/drawing/2014/main" id="{34E032EE-DBDF-4DD6-B09C-98EFBACD07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0F9592-0DF4-4888-A204-38DA63D36B25}"/>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253836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96FA-1210-4D0E-9505-D51795E072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A255D6-880E-44DA-919F-3FCF13B52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FC7E01-C6FB-46A7-A74A-898E5820E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E34C9-0AC3-43C3-A654-3FC0164AC92B}"/>
              </a:ext>
            </a:extLst>
          </p:cNvPr>
          <p:cNvSpPr>
            <a:spLocks noGrp="1"/>
          </p:cNvSpPr>
          <p:nvPr>
            <p:ph type="dt" sz="half" idx="10"/>
          </p:nvPr>
        </p:nvSpPr>
        <p:spPr/>
        <p:txBody>
          <a:bodyPr/>
          <a:lstStyle/>
          <a:p>
            <a:fld id="{5701B579-BE22-4365-9624-3AE1F352F1A7}" type="datetimeFigureOut">
              <a:rPr lang="en-US" smtClean="0"/>
              <a:t>3/31/2026</a:t>
            </a:fld>
            <a:endParaRPr lang="en-US"/>
          </a:p>
        </p:txBody>
      </p:sp>
      <p:sp>
        <p:nvSpPr>
          <p:cNvPr id="6" name="Footer Placeholder 5">
            <a:extLst>
              <a:ext uri="{FF2B5EF4-FFF2-40B4-BE49-F238E27FC236}">
                <a16:creationId xmlns:a16="http://schemas.microsoft.com/office/drawing/2014/main" id="{23447480-0FFC-41C2-88A2-0A21C72635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0F4567-0817-4CF6-BD05-B1BDEA7995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85117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00B9-FC21-406B-B5FA-B60B7DC900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496599-23BC-425D-8BD9-EE0D324D68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9C455-686D-48B4-8DAB-D94E33E0608A}"/>
              </a:ext>
            </a:extLst>
          </p:cNvPr>
          <p:cNvSpPr>
            <a:spLocks noGrp="1"/>
          </p:cNvSpPr>
          <p:nvPr>
            <p:ph type="dt" sz="half" idx="10"/>
          </p:nvPr>
        </p:nvSpPr>
        <p:spPr/>
        <p:txBody>
          <a:bodyPr/>
          <a:lstStyle/>
          <a:p>
            <a:fld id="{5701B579-BE22-4365-9624-3AE1F352F1A7}" type="datetimeFigureOut">
              <a:rPr lang="en-US" smtClean="0"/>
              <a:t>3/31/2026</a:t>
            </a:fld>
            <a:endParaRPr lang="en-US"/>
          </a:p>
        </p:txBody>
      </p:sp>
      <p:sp>
        <p:nvSpPr>
          <p:cNvPr id="5" name="Footer Placeholder 4">
            <a:extLst>
              <a:ext uri="{FF2B5EF4-FFF2-40B4-BE49-F238E27FC236}">
                <a16:creationId xmlns:a16="http://schemas.microsoft.com/office/drawing/2014/main" id="{63AD1942-3ED0-4931-A8CE-6D984F839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B5B99-3A43-477C-B42A-3C08D02D7574}"/>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95686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23F515-C31F-4273-9268-3D1EF4F6FB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4BF6F7-9F34-4BB4-8961-A8EDC9D82C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59CB1-7397-4C82-89C9-0693FB2910E9}"/>
              </a:ext>
            </a:extLst>
          </p:cNvPr>
          <p:cNvSpPr>
            <a:spLocks noGrp="1"/>
          </p:cNvSpPr>
          <p:nvPr>
            <p:ph type="dt" sz="half" idx="10"/>
          </p:nvPr>
        </p:nvSpPr>
        <p:spPr/>
        <p:txBody>
          <a:bodyPr/>
          <a:lstStyle/>
          <a:p>
            <a:fld id="{5701B579-BE22-4365-9624-3AE1F352F1A7}" type="datetimeFigureOut">
              <a:rPr lang="en-US" smtClean="0"/>
              <a:t>3/31/2026</a:t>
            </a:fld>
            <a:endParaRPr lang="en-US"/>
          </a:p>
        </p:txBody>
      </p:sp>
      <p:sp>
        <p:nvSpPr>
          <p:cNvPr id="5" name="Footer Placeholder 4">
            <a:extLst>
              <a:ext uri="{FF2B5EF4-FFF2-40B4-BE49-F238E27FC236}">
                <a16:creationId xmlns:a16="http://schemas.microsoft.com/office/drawing/2014/main" id="{5F201C97-2278-43A9-BE35-0AD612655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5134C-7180-46A6-9627-AECEF8DCC93D}"/>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637311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F26403-82E5-42A1-9D17-51FB8924CA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0F3246-0D43-4E66-B320-0671607BF3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F15B71-0150-43A3-94BD-2B7D0897C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01B579-BE22-4365-9624-3AE1F352F1A7}" type="datetimeFigureOut">
              <a:rPr lang="en-US" smtClean="0"/>
              <a:t>3/31/2026</a:t>
            </a:fld>
            <a:endParaRPr lang="en-US"/>
          </a:p>
        </p:txBody>
      </p:sp>
      <p:sp>
        <p:nvSpPr>
          <p:cNvPr id="5" name="Footer Placeholder 4">
            <a:extLst>
              <a:ext uri="{FF2B5EF4-FFF2-40B4-BE49-F238E27FC236}">
                <a16:creationId xmlns:a16="http://schemas.microsoft.com/office/drawing/2014/main" id="{E979B45D-F9D5-470F-9240-ABDE82EA29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C585F-DBFF-493F-8D4A-16FE923EEA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D7EF8F-CC04-49FF-99A7-DBE4E5B3B38F}" type="slidenum">
              <a:rPr lang="en-US" smtClean="0"/>
              <a:t>‹#›</a:t>
            </a:fld>
            <a:endParaRPr lang="en-US"/>
          </a:p>
        </p:txBody>
      </p:sp>
    </p:spTree>
    <p:extLst>
      <p:ext uri="{BB962C8B-B14F-4D97-AF65-F5344CB8AC3E}">
        <p14:creationId xmlns:p14="http://schemas.microsoft.com/office/powerpoint/2010/main" val="1848083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726434" y="4659359"/>
            <a:ext cx="9144000" cy="1655762"/>
          </a:xfrm>
        </p:spPr>
        <p:txBody>
          <a:bodyPr>
            <a:normAutofit/>
          </a:bodyPr>
          <a:lstStyle/>
          <a:p>
            <a:r>
              <a:rPr lang="en-US" dirty="0"/>
              <a:t>Topic: Lock – 1&amp;2</a:t>
            </a:r>
          </a:p>
          <a:p>
            <a:r>
              <a:rPr lang="en-US" dirty="0"/>
              <a:t>Lecture: Dr. Zhao Jie</a:t>
            </a:r>
          </a:p>
          <a:p>
            <a:r>
              <a:rPr lang="en-US" dirty="0"/>
              <a:t>Date: 04/01&amp;06/2026</a:t>
            </a:r>
          </a:p>
        </p:txBody>
      </p:sp>
      <p:pic>
        <p:nvPicPr>
          <p:cNvPr id="5" name="Picture 4">
            <a:extLst>
              <a:ext uri="{FF2B5EF4-FFF2-40B4-BE49-F238E27FC236}">
                <a16:creationId xmlns:a16="http://schemas.microsoft.com/office/drawing/2014/main" id="{22F60897-8669-4C6A-9213-A875ED3223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4450" y="237202"/>
            <a:ext cx="9967968" cy="4572000"/>
          </a:xfrm>
          <a:prstGeom prst="rect">
            <a:avLst/>
          </a:prstGeom>
        </p:spPr>
      </p:pic>
    </p:spTree>
    <p:extLst>
      <p:ext uri="{BB962C8B-B14F-4D97-AF65-F5344CB8AC3E}">
        <p14:creationId xmlns:p14="http://schemas.microsoft.com/office/powerpoint/2010/main" val="2199995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524000" y="1122363"/>
            <a:ext cx="9144000" cy="1079299"/>
          </a:xfrm>
        </p:spPr>
        <p:txBody>
          <a:bodyPr/>
          <a:lstStyle/>
          <a:p>
            <a:r>
              <a:rPr lang="en-US" b="0" i="0" dirty="0">
                <a:solidFill>
                  <a:srgbClr val="000000"/>
                </a:solidFill>
                <a:effectLst/>
                <a:latin typeface="Arial" panose="020B0604020202020204" pitchFamily="34" charset="0"/>
              </a:rPr>
              <a:t>Reading Assignment</a:t>
            </a:r>
            <a:endParaRPr lang="en-US" dirty="0"/>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p:txBody>
          <a:bodyPr>
            <a:normAutofit/>
          </a:bodyPr>
          <a:lstStyle/>
          <a:p>
            <a:r>
              <a:rPr lang="en-US" b="0" i="0" dirty="0">
                <a:solidFill>
                  <a:srgbClr val="000000"/>
                </a:solidFill>
                <a:effectLst/>
                <a:latin typeface="Arial" panose="020B0604020202020204" pitchFamily="34" charset="0"/>
              </a:rPr>
              <a:t>Chapters</a:t>
            </a:r>
            <a:r>
              <a:rPr lang="en-US" dirty="0">
                <a:solidFill>
                  <a:srgbClr val="000000"/>
                </a:solidFill>
                <a:latin typeface="Arial" panose="020B0604020202020204" pitchFamily="34" charset="0"/>
              </a:rPr>
              <a:t> 28</a:t>
            </a:r>
            <a:endParaRPr lang="pl-PL" b="0" i="0" dirty="0">
              <a:solidFill>
                <a:srgbClr val="000000"/>
              </a:solidFill>
              <a:effectLst/>
              <a:latin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8DF00F48-9DB0-08EA-42CE-D4E5E667FF9F}"/>
              </a:ext>
            </a:extLst>
          </p:cNvPr>
          <p:cNvSpPr>
            <a:spLocks noGrp="1"/>
          </p:cNvSpPr>
          <p:nvPr>
            <p:ph type="sldNum" sz="quarter" idx="12"/>
          </p:nvPr>
        </p:nvSpPr>
        <p:spPr/>
        <p:txBody>
          <a:bodyPr/>
          <a:lstStyle/>
          <a:p>
            <a:fld id="{07D7EF8F-CC04-49FF-99A7-DBE4E5B3B38F}" type="slidenum">
              <a:rPr lang="en-US" smtClean="0"/>
              <a:t>2</a:t>
            </a:fld>
            <a:endParaRPr lang="en-US"/>
          </a:p>
        </p:txBody>
      </p:sp>
    </p:spTree>
    <p:extLst>
      <p:ext uri="{BB962C8B-B14F-4D97-AF65-F5344CB8AC3E}">
        <p14:creationId xmlns:p14="http://schemas.microsoft.com/office/powerpoint/2010/main" val="4038797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524000" y="821422"/>
            <a:ext cx="9144000" cy="1079299"/>
          </a:xfrm>
        </p:spPr>
        <p:txBody>
          <a:bodyPr/>
          <a:lstStyle/>
          <a:p>
            <a:r>
              <a:rPr lang="en-US" b="0" i="0" dirty="0">
                <a:solidFill>
                  <a:srgbClr val="000000"/>
                </a:solidFill>
                <a:effectLst/>
                <a:latin typeface="Arial" panose="020B0604020202020204" pitchFamily="34" charset="0"/>
              </a:rPr>
              <a:t>Agenda</a:t>
            </a:r>
            <a:endParaRPr lang="en-US" dirty="0"/>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872205" y="2323039"/>
            <a:ext cx="8447590" cy="1655762"/>
          </a:xfrm>
        </p:spPr>
        <p:txBody>
          <a:bodyPr>
            <a:normAutofit fontScale="92500" lnSpcReduction="20000"/>
          </a:bodyPr>
          <a:lstStyle/>
          <a:p>
            <a:pPr marL="342900" indent="-342900" algn="l">
              <a:lnSpc>
                <a:spcPct val="150000"/>
              </a:lnSpc>
              <a:buFont typeface="Arial" panose="020B0604020202020204" pitchFamily="34" charset="0"/>
              <a:buChar char="•"/>
            </a:pPr>
            <a:r>
              <a:rPr lang="en-US" b="0" i="0" dirty="0">
                <a:solidFill>
                  <a:srgbClr val="000000"/>
                </a:solidFill>
                <a:effectLst/>
                <a:latin typeface="Arial" panose="020B0604020202020204" pitchFamily="34" charset="0"/>
              </a:rPr>
              <a:t>Mutex lock</a:t>
            </a:r>
          </a:p>
          <a:p>
            <a:pPr marL="342900" indent="-342900" algn="l">
              <a:lnSpc>
                <a:spcPct val="150000"/>
              </a:lnSpc>
              <a:buFont typeface="Arial" panose="020B0604020202020204" pitchFamily="34" charset="0"/>
              <a:buChar char="•"/>
            </a:pPr>
            <a:r>
              <a:rPr lang="en-US" b="0" i="0" dirty="0">
                <a:solidFill>
                  <a:srgbClr val="000000"/>
                </a:solidFill>
                <a:effectLst/>
                <a:latin typeface="Arial" panose="020B0604020202020204" pitchFamily="34" charset="0"/>
              </a:rPr>
              <a:t>Single variable flag lock</a:t>
            </a:r>
          </a:p>
          <a:p>
            <a:pPr marL="342900" indent="-342900" algn="l">
              <a:lnSpc>
                <a:spcPct val="150000"/>
              </a:lnSpc>
              <a:buFont typeface="Arial" panose="020B0604020202020204" pitchFamily="34" charset="0"/>
              <a:buChar char="•"/>
            </a:pPr>
            <a:r>
              <a:rPr lang="en-US" b="0" i="0" dirty="0">
                <a:solidFill>
                  <a:srgbClr val="000000"/>
                </a:solidFill>
                <a:effectLst/>
                <a:latin typeface="Arial" panose="020B0604020202020204" pitchFamily="34" charset="0"/>
              </a:rPr>
              <a:t>Double variable flag lock</a:t>
            </a:r>
          </a:p>
        </p:txBody>
      </p:sp>
      <p:sp>
        <p:nvSpPr>
          <p:cNvPr id="4" name="Slide Number Placeholder 3">
            <a:extLst>
              <a:ext uri="{FF2B5EF4-FFF2-40B4-BE49-F238E27FC236}">
                <a16:creationId xmlns:a16="http://schemas.microsoft.com/office/drawing/2014/main" id="{8DF00F48-9DB0-08EA-42CE-D4E5E667FF9F}"/>
              </a:ext>
            </a:extLst>
          </p:cNvPr>
          <p:cNvSpPr>
            <a:spLocks noGrp="1"/>
          </p:cNvSpPr>
          <p:nvPr>
            <p:ph type="sldNum" sz="quarter" idx="12"/>
          </p:nvPr>
        </p:nvSpPr>
        <p:spPr/>
        <p:txBody>
          <a:bodyPr/>
          <a:lstStyle/>
          <a:p>
            <a:fld id="{07D7EF8F-CC04-49FF-99A7-DBE4E5B3B38F}" type="slidenum">
              <a:rPr lang="en-US" smtClean="0"/>
              <a:t>3</a:t>
            </a:fld>
            <a:endParaRPr lang="en-US"/>
          </a:p>
        </p:txBody>
      </p:sp>
    </p:spTree>
    <p:extLst>
      <p:ext uri="{BB962C8B-B14F-4D97-AF65-F5344CB8AC3E}">
        <p14:creationId xmlns:p14="http://schemas.microsoft.com/office/powerpoint/2010/main" val="31733678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The motivation</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049561" y="1399209"/>
            <a:ext cx="9705735" cy="4535999"/>
          </a:xfrm>
        </p:spPr>
        <p:txBody>
          <a:bodyPr>
            <a:normAutofit/>
          </a:bodyPr>
          <a:lstStyle/>
          <a:p>
            <a:pPr marL="342900" indent="-342900" algn="l">
              <a:lnSpc>
                <a:spcPct val="150000"/>
              </a:lnSpc>
              <a:buFont typeface="Arial" panose="020B0604020202020204" pitchFamily="34" charset="0"/>
              <a:buChar char="•"/>
            </a:pPr>
            <a:r>
              <a:rPr lang="en-US" dirty="0"/>
              <a:t>Concurrency may raise issues like the race condition.</a:t>
            </a:r>
          </a:p>
          <a:p>
            <a:pPr marL="342900" indent="-342900" algn="l">
              <a:lnSpc>
                <a:spcPct val="150000"/>
              </a:lnSpc>
              <a:buFont typeface="Arial" panose="020B0604020202020204" pitchFamily="34" charset="0"/>
              <a:buChar char="•"/>
            </a:pPr>
            <a:r>
              <a:rPr lang="en-US" dirty="0"/>
              <a:t>To prevent running the process from race condition, the solution to the race condition is:</a:t>
            </a:r>
          </a:p>
          <a:p>
            <a:pPr marL="800100" lvl="1" indent="-342900" algn="l">
              <a:lnSpc>
                <a:spcPct val="150000"/>
              </a:lnSpc>
              <a:buFont typeface="Wingdings" panose="05000000000000000000" pitchFamily="2" charset="2"/>
              <a:buChar char="§"/>
            </a:pPr>
            <a:r>
              <a:rPr lang="en-US" dirty="0"/>
              <a:t>Finding out the critical section</a:t>
            </a:r>
          </a:p>
          <a:p>
            <a:pPr marL="800100" lvl="1" indent="-342900" algn="l">
              <a:lnSpc>
                <a:spcPct val="150000"/>
              </a:lnSpc>
              <a:buFont typeface="Wingdings" panose="05000000000000000000" pitchFamily="2" charset="2"/>
              <a:buChar char="§"/>
            </a:pPr>
            <a:r>
              <a:rPr lang="en-US" dirty="0"/>
              <a:t>Mutual exclusively running the process</a:t>
            </a:r>
          </a:p>
          <a:p>
            <a:pPr marL="342900" indent="-342900" algn="l">
              <a:lnSpc>
                <a:spcPct val="150000"/>
              </a:lnSpc>
              <a:buFont typeface="Arial" panose="020B0604020202020204" pitchFamily="34" charset="0"/>
              <a:buChar char="•"/>
            </a:pPr>
            <a:r>
              <a:rPr lang="en-US" dirty="0"/>
              <a:t>The lock is one option to solve the race condition</a:t>
            </a:r>
          </a:p>
        </p:txBody>
      </p:sp>
    </p:spTree>
    <p:extLst>
      <p:ext uri="{BB962C8B-B14F-4D97-AF65-F5344CB8AC3E}">
        <p14:creationId xmlns:p14="http://schemas.microsoft.com/office/powerpoint/2010/main" val="34756951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Basic idea of the lock</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049561" y="1399210"/>
            <a:ext cx="9705735" cy="602706"/>
          </a:xfrm>
        </p:spPr>
        <p:txBody>
          <a:bodyPr>
            <a:normAutofit/>
          </a:bodyPr>
          <a:lstStyle/>
          <a:p>
            <a:pPr marL="342900" indent="-342900" algn="l">
              <a:lnSpc>
                <a:spcPct val="150000"/>
              </a:lnSpc>
              <a:buFont typeface="Arial" panose="020B0604020202020204" pitchFamily="34" charset="0"/>
              <a:buChar char="•"/>
            </a:pPr>
            <a:r>
              <a:rPr lang="en-US" dirty="0"/>
              <a:t>POSIX threads code</a:t>
            </a:r>
          </a:p>
        </p:txBody>
      </p:sp>
      <p:pic>
        <p:nvPicPr>
          <p:cNvPr id="5" name="Picture 4">
            <a:extLst>
              <a:ext uri="{FF2B5EF4-FFF2-40B4-BE49-F238E27FC236}">
                <a16:creationId xmlns:a16="http://schemas.microsoft.com/office/drawing/2014/main" id="{E77189CF-9D08-7AB3-AEDB-0C367564F37D}"/>
              </a:ext>
            </a:extLst>
          </p:cNvPr>
          <p:cNvPicPr>
            <a:picLocks noChangeAspect="1"/>
          </p:cNvPicPr>
          <p:nvPr/>
        </p:nvPicPr>
        <p:blipFill>
          <a:blip r:embed="rId3"/>
          <a:stretch>
            <a:fillRect/>
          </a:stretch>
        </p:blipFill>
        <p:spPr>
          <a:xfrm>
            <a:off x="1284308" y="2427113"/>
            <a:ext cx="10011616" cy="1828800"/>
          </a:xfrm>
          <a:prstGeom prst="rect">
            <a:avLst/>
          </a:prstGeom>
        </p:spPr>
      </p:pic>
      <p:pic>
        <p:nvPicPr>
          <p:cNvPr id="7" name="Picture 6" descr="A close-up of a lock">
            <a:extLst>
              <a:ext uri="{FF2B5EF4-FFF2-40B4-BE49-F238E27FC236}">
                <a16:creationId xmlns:a16="http://schemas.microsoft.com/office/drawing/2014/main" id="{7661937D-76AB-948A-083C-FBFEF36E52C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76840" y="4255913"/>
            <a:ext cx="3625236" cy="1920240"/>
          </a:xfrm>
          <a:prstGeom prst="rect">
            <a:avLst/>
          </a:prstGeom>
        </p:spPr>
      </p:pic>
    </p:spTree>
    <p:extLst>
      <p:ext uri="{BB962C8B-B14F-4D97-AF65-F5344CB8AC3E}">
        <p14:creationId xmlns:p14="http://schemas.microsoft.com/office/powerpoint/2010/main" val="2443310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99082"/>
            <a:ext cx="9755080" cy="737510"/>
          </a:xfrm>
        </p:spPr>
        <p:txBody>
          <a:bodyPr>
            <a:noAutofit/>
          </a:bodyPr>
          <a:lstStyle/>
          <a:p>
            <a:r>
              <a:rPr lang="en-US" sz="4200" dirty="0">
                <a:solidFill>
                  <a:srgbClr val="C00000"/>
                </a:solidFill>
              </a:rPr>
              <a:t>Criteria to the lock</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671439" y="1050780"/>
            <a:ext cx="8817527" cy="5651859"/>
          </a:xfrm>
        </p:spPr>
        <p:txBody>
          <a:bodyPr>
            <a:normAutofit/>
          </a:bodyPr>
          <a:lstStyle/>
          <a:p>
            <a:pPr marL="342900" indent="-342900" algn="l">
              <a:lnSpc>
                <a:spcPct val="150000"/>
              </a:lnSpc>
              <a:buFont typeface="Arial" panose="020B0604020202020204" pitchFamily="34" charset="0"/>
              <a:buChar char="•"/>
            </a:pPr>
            <a:r>
              <a:rPr lang="en-US" dirty="0"/>
              <a:t>Mutual exclusion</a:t>
            </a:r>
          </a:p>
          <a:p>
            <a:pPr lvl="1" algn="l">
              <a:lnSpc>
                <a:spcPct val="150000"/>
              </a:lnSpc>
            </a:pPr>
            <a:r>
              <a:rPr lang="en-US" dirty="0"/>
              <a:t>It prevents multiple threads from entering a critical section.</a:t>
            </a:r>
          </a:p>
          <a:p>
            <a:pPr marL="342900" indent="-342900" algn="l">
              <a:lnSpc>
                <a:spcPct val="150000"/>
              </a:lnSpc>
              <a:buFont typeface="Arial" panose="020B0604020202020204" pitchFamily="34" charset="0"/>
              <a:buChar char="•"/>
            </a:pPr>
            <a:r>
              <a:rPr lang="en-US" dirty="0"/>
              <a:t>Fairness</a:t>
            </a:r>
          </a:p>
          <a:p>
            <a:pPr lvl="1" algn="l">
              <a:lnSpc>
                <a:spcPct val="150000"/>
              </a:lnSpc>
            </a:pPr>
            <a:r>
              <a:rPr lang="en-US" dirty="0"/>
              <a:t>Each thread has a chance to enter the critical section. In other words, there is no starvation.</a:t>
            </a:r>
          </a:p>
          <a:p>
            <a:pPr marL="342900" indent="-342900" algn="l">
              <a:lnSpc>
                <a:spcPct val="150000"/>
              </a:lnSpc>
              <a:buFont typeface="Arial" panose="020B0604020202020204" pitchFamily="34" charset="0"/>
              <a:buChar char="•"/>
            </a:pPr>
            <a:r>
              <a:rPr lang="en-US" dirty="0"/>
              <a:t>Performance</a:t>
            </a:r>
          </a:p>
          <a:p>
            <a:pPr marL="800100" lvl="1" indent="-342900" algn="l">
              <a:lnSpc>
                <a:spcPct val="150000"/>
              </a:lnSpc>
              <a:buFont typeface="Wingdings" panose="05000000000000000000" pitchFamily="2" charset="2"/>
              <a:buChar char="§"/>
            </a:pPr>
            <a:r>
              <a:rPr lang="en-US" dirty="0"/>
              <a:t>Single thread case</a:t>
            </a:r>
          </a:p>
          <a:p>
            <a:pPr marL="800100" lvl="1" indent="-342900" algn="l">
              <a:lnSpc>
                <a:spcPct val="150000"/>
              </a:lnSpc>
              <a:buFont typeface="Wingdings" panose="05000000000000000000" pitchFamily="2" charset="2"/>
              <a:buChar char="§"/>
            </a:pPr>
            <a:r>
              <a:rPr lang="en-US" dirty="0"/>
              <a:t>Multi-thread case</a:t>
            </a:r>
          </a:p>
          <a:p>
            <a:pPr marL="800100" lvl="1" indent="-342900" algn="l">
              <a:lnSpc>
                <a:spcPct val="150000"/>
              </a:lnSpc>
              <a:buFont typeface="Wingdings" panose="05000000000000000000" pitchFamily="2" charset="2"/>
              <a:buChar char="§"/>
            </a:pPr>
            <a:r>
              <a:rPr lang="en-US" dirty="0"/>
              <a:t>Multi-CPU case</a:t>
            </a:r>
          </a:p>
        </p:txBody>
      </p:sp>
    </p:spTree>
    <p:extLst>
      <p:ext uri="{BB962C8B-B14F-4D97-AF65-F5344CB8AC3E}">
        <p14:creationId xmlns:p14="http://schemas.microsoft.com/office/powerpoint/2010/main" val="3760905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Controlling Interrupts</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889242" y="1286663"/>
            <a:ext cx="10518564" cy="5247965"/>
          </a:xfrm>
        </p:spPr>
        <p:txBody>
          <a:bodyPr>
            <a:noAutofit/>
          </a:bodyPr>
          <a:lstStyle/>
          <a:p>
            <a:pPr marL="342900" indent="-342900" algn="l">
              <a:lnSpc>
                <a:spcPct val="150000"/>
              </a:lnSpc>
              <a:buFont typeface="Arial" panose="020B0604020202020204" pitchFamily="34" charset="0"/>
              <a:buChar char="•"/>
            </a:pPr>
            <a:r>
              <a:rPr lang="en-US" dirty="0"/>
              <a:t>Implementation -  hardware</a:t>
            </a:r>
          </a:p>
          <a:p>
            <a:pPr algn="l">
              <a:lnSpc>
                <a:spcPct val="150000"/>
              </a:lnSpc>
            </a:pPr>
            <a:endParaRPr lang="en-US" dirty="0"/>
          </a:p>
          <a:p>
            <a:pPr algn="l">
              <a:lnSpc>
                <a:spcPct val="150000"/>
              </a:lnSpc>
            </a:pPr>
            <a:endParaRPr lang="en-US" dirty="0"/>
          </a:p>
          <a:p>
            <a:pPr algn="l">
              <a:lnSpc>
                <a:spcPct val="150000"/>
              </a:lnSpc>
            </a:pPr>
            <a:endParaRPr lang="en-US" dirty="0"/>
          </a:p>
          <a:p>
            <a:pPr marL="342900" indent="-342900" algn="l">
              <a:lnSpc>
                <a:spcPct val="150000"/>
              </a:lnSpc>
              <a:buFont typeface="Arial" panose="020B0604020202020204" pitchFamily="34" charset="0"/>
              <a:buChar char="•"/>
            </a:pPr>
            <a:r>
              <a:rPr lang="en-US" dirty="0"/>
              <a:t>Performance (Cons)</a:t>
            </a:r>
          </a:p>
          <a:p>
            <a:pPr marL="800100" lvl="1" indent="-342900" algn="l">
              <a:lnSpc>
                <a:spcPct val="150000"/>
              </a:lnSpc>
              <a:buFont typeface="Wingdings" panose="05000000000000000000" pitchFamily="2" charset="2"/>
              <a:buChar char="§"/>
            </a:pPr>
            <a:r>
              <a:rPr lang="en-US" dirty="0"/>
              <a:t>Allows any calling thread to perform a privileged operation. If a malware allows.</a:t>
            </a:r>
          </a:p>
          <a:p>
            <a:pPr marL="800100" lvl="1" indent="-342900" algn="l">
              <a:lnSpc>
                <a:spcPct val="150000"/>
              </a:lnSpc>
              <a:buFont typeface="Wingdings" panose="05000000000000000000" pitchFamily="2" charset="2"/>
              <a:buChar char="§"/>
            </a:pPr>
            <a:r>
              <a:rPr lang="en-US" dirty="0"/>
              <a:t>Not multiprocessors if multi-CPUs</a:t>
            </a:r>
          </a:p>
          <a:p>
            <a:pPr marL="800100" lvl="1" indent="-342900" algn="l">
              <a:lnSpc>
                <a:spcPct val="150000"/>
              </a:lnSpc>
              <a:buFont typeface="Wingdings" panose="05000000000000000000" pitchFamily="2" charset="2"/>
              <a:buChar char="§"/>
            </a:pPr>
            <a:r>
              <a:rPr lang="en-US" dirty="0"/>
              <a:t>Inefficient. No upper-bound how long the interruption is disabled.</a:t>
            </a:r>
          </a:p>
        </p:txBody>
      </p:sp>
      <p:pic>
        <p:nvPicPr>
          <p:cNvPr id="6" name="Picture 5">
            <a:extLst>
              <a:ext uri="{FF2B5EF4-FFF2-40B4-BE49-F238E27FC236}">
                <a16:creationId xmlns:a16="http://schemas.microsoft.com/office/drawing/2014/main" id="{29472BB3-4C08-187C-7A76-71D50F8A18C5}"/>
              </a:ext>
            </a:extLst>
          </p:cNvPr>
          <p:cNvPicPr>
            <a:picLocks noChangeAspect="1"/>
          </p:cNvPicPr>
          <p:nvPr/>
        </p:nvPicPr>
        <p:blipFill>
          <a:blip r:embed="rId3"/>
          <a:stretch>
            <a:fillRect/>
          </a:stretch>
        </p:blipFill>
        <p:spPr>
          <a:xfrm>
            <a:off x="4098869" y="2042572"/>
            <a:ext cx="4691922" cy="1828800"/>
          </a:xfrm>
          <a:prstGeom prst="rect">
            <a:avLst/>
          </a:prstGeom>
        </p:spPr>
      </p:pic>
    </p:spTree>
    <p:extLst>
      <p:ext uri="{BB962C8B-B14F-4D97-AF65-F5344CB8AC3E}">
        <p14:creationId xmlns:p14="http://schemas.microsoft.com/office/powerpoint/2010/main" val="30327632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Single variable lock</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000876" y="1060882"/>
            <a:ext cx="9118146" cy="595488"/>
          </a:xfrm>
        </p:spPr>
        <p:txBody>
          <a:bodyPr>
            <a:noAutofit/>
          </a:bodyPr>
          <a:lstStyle/>
          <a:p>
            <a:pPr marL="342900" indent="-342900" algn="l">
              <a:lnSpc>
                <a:spcPct val="150000"/>
              </a:lnSpc>
              <a:buFont typeface="Arial" panose="020B0604020202020204" pitchFamily="34" charset="0"/>
              <a:buChar char="•"/>
            </a:pPr>
            <a:r>
              <a:rPr lang="en-US" sz="2200" dirty="0"/>
              <a:t>Implementation</a:t>
            </a:r>
          </a:p>
          <a:p>
            <a:pPr algn="l">
              <a:lnSpc>
                <a:spcPct val="150000"/>
              </a:lnSpc>
            </a:pPr>
            <a:endParaRPr lang="en-US" sz="2200" dirty="0"/>
          </a:p>
        </p:txBody>
      </p:sp>
      <p:pic>
        <p:nvPicPr>
          <p:cNvPr id="6" name="Picture 5">
            <a:extLst>
              <a:ext uri="{FF2B5EF4-FFF2-40B4-BE49-F238E27FC236}">
                <a16:creationId xmlns:a16="http://schemas.microsoft.com/office/drawing/2014/main" id="{FC6FF9C2-9DCC-D6A4-4DC0-49CA1B586EE5}"/>
              </a:ext>
            </a:extLst>
          </p:cNvPr>
          <p:cNvPicPr>
            <a:picLocks noChangeAspect="1"/>
          </p:cNvPicPr>
          <p:nvPr/>
        </p:nvPicPr>
        <p:blipFill>
          <a:blip r:embed="rId3"/>
          <a:stretch>
            <a:fillRect/>
          </a:stretch>
        </p:blipFill>
        <p:spPr>
          <a:xfrm>
            <a:off x="2832210" y="1747592"/>
            <a:ext cx="6527580" cy="3657600"/>
          </a:xfrm>
          <a:prstGeom prst="rect">
            <a:avLst/>
          </a:prstGeom>
        </p:spPr>
      </p:pic>
      <p:sp>
        <p:nvSpPr>
          <p:cNvPr id="7" name="Subtitle 2">
            <a:extLst>
              <a:ext uri="{FF2B5EF4-FFF2-40B4-BE49-F238E27FC236}">
                <a16:creationId xmlns:a16="http://schemas.microsoft.com/office/drawing/2014/main" id="{501F3FA4-5D5A-C389-165F-ED13557E9D73}"/>
              </a:ext>
            </a:extLst>
          </p:cNvPr>
          <p:cNvSpPr txBox="1">
            <a:spLocks/>
          </p:cNvSpPr>
          <p:nvPr/>
        </p:nvSpPr>
        <p:spPr>
          <a:xfrm>
            <a:off x="1038323" y="5405192"/>
            <a:ext cx="9118146" cy="1129436"/>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lnSpc>
                <a:spcPct val="150000"/>
              </a:lnSpc>
              <a:buFont typeface="Arial" panose="020B0604020202020204" pitchFamily="34" charset="0"/>
              <a:buChar char="•"/>
            </a:pPr>
            <a:r>
              <a:rPr lang="en-US" sz="2200" dirty="0"/>
              <a:t>Performance</a:t>
            </a:r>
          </a:p>
          <a:p>
            <a:pPr lvl="1" algn="l">
              <a:lnSpc>
                <a:spcPct val="150000"/>
              </a:lnSpc>
            </a:pPr>
            <a:r>
              <a:rPr lang="en-US" sz="1800" dirty="0"/>
              <a:t>Spin-waiting: endlessly check the value of the flag</a:t>
            </a:r>
          </a:p>
          <a:p>
            <a:pPr algn="l">
              <a:lnSpc>
                <a:spcPct val="150000"/>
              </a:lnSpc>
            </a:pPr>
            <a:endParaRPr lang="en-US" sz="2200" dirty="0"/>
          </a:p>
        </p:txBody>
      </p:sp>
    </p:spTree>
    <p:extLst>
      <p:ext uri="{BB962C8B-B14F-4D97-AF65-F5344CB8AC3E}">
        <p14:creationId xmlns:p14="http://schemas.microsoft.com/office/powerpoint/2010/main" val="13129226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Performance of the single variable lock</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000876" y="1347498"/>
            <a:ext cx="9118146" cy="595488"/>
          </a:xfrm>
        </p:spPr>
        <p:txBody>
          <a:bodyPr>
            <a:noAutofit/>
          </a:bodyPr>
          <a:lstStyle/>
          <a:p>
            <a:pPr marL="342900" indent="-342900" algn="l">
              <a:lnSpc>
                <a:spcPct val="150000"/>
              </a:lnSpc>
              <a:buFont typeface="Arial" panose="020B0604020202020204" pitchFamily="34" charset="0"/>
              <a:buChar char="•"/>
            </a:pPr>
            <a:r>
              <a:rPr lang="en-US" sz="2200" dirty="0"/>
              <a:t>Do you think the single variable lock is a good idea?</a:t>
            </a:r>
          </a:p>
          <a:p>
            <a:pPr algn="l">
              <a:lnSpc>
                <a:spcPct val="150000"/>
              </a:lnSpc>
            </a:pPr>
            <a:endParaRPr lang="en-US" sz="2200" dirty="0"/>
          </a:p>
        </p:txBody>
      </p:sp>
      <p:pic>
        <p:nvPicPr>
          <p:cNvPr id="5" name="Picture 4">
            <a:extLst>
              <a:ext uri="{FF2B5EF4-FFF2-40B4-BE49-F238E27FC236}">
                <a16:creationId xmlns:a16="http://schemas.microsoft.com/office/drawing/2014/main" id="{8BA75A20-184D-10D0-9C6D-D58576B14418}"/>
              </a:ext>
            </a:extLst>
          </p:cNvPr>
          <p:cNvPicPr>
            <a:picLocks noChangeAspect="1"/>
          </p:cNvPicPr>
          <p:nvPr/>
        </p:nvPicPr>
        <p:blipFill>
          <a:blip r:embed="rId3"/>
          <a:stretch>
            <a:fillRect/>
          </a:stretch>
        </p:blipFill>
        <p:spPr>
          <a:xfrm>
            <a:off x="1875690" y="2403182"/>
            <a:ext cx="8440620" cy="3657600"/>
          </a:xfrm>
          <a:prstGeom prst="rect">
            <a:avLst/>
          </a:prstGeom>
        </p:spPr>
      </p:pic>
    </p:spTree>
    <p:extLst>
      <p:ext uri="{BB962C8B-B14F-4D97-AF65-F5344CB8AC3E}">
        <p14:creationId xmlns:p14="http://schemas.microsoft.com/office/powerpoint/2010/main" val="22183802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Peterson’s algorithm</a:t>
            </a:r>
          </a:p>
        </p:txBody>
      </p:sp>
      <p:pic>
        <p:nvPicPr>
          <p:cNvPr id="4" name="Picture 3">
            <a:extLst>
              <a:ext uri="{FF2B5EF4-FFF2-40B4-BE49-F238E27FC236}">
                <a16:creationId xmlns:a16="http://schemas.microsoft.com/office/drawing/2014/main" id="{A126275B-AA11-29EA-C8E0-65283993976F}"/>
              </a:ext>
            </a:extLst>
          </p:cNvPr>
          <p:cNvPicPr>
            <a:picLocks noChangeAspect="1"/>
          </p:cNvPicPr>
          <p:nvPr/>
        </p:nvPicPr>
        <p:blipFill>
          <a:blip r:embed="rId3"/>
          <a:stretch>
            <a:fillRect/>
          </a:stretch>
        </p:blipFill>
        <p:spPr>
          <a:xfrm>
            <a:off x="587472" y="1181012"/>
            <a:ext cx="7888440" cy="5486400"/>
          </a:xfrm>
          <a:prstGeom prst="rect">
            <a:avLst/>
          </a:prstGeom>
        </p:spPr>
      </p:pic>
      <p:sp>
        <p:nvSpPr>
          <p:cNvPr id="3" name="TextBox 2">
            <a:extLst>
              <a:ext uri="{FF2B5EF4-FFF2-40B4-BE49-F238E27FC236}">
                <a16:creationId xmlns:a16="http://schemas.microsoft.com/office/drawing/2014/main" id="{D9ED52C3-23B1-A3E7-7C45-C7A606459A22}"/>
              </a:ext>
            </a:extLst>
          </p:cNvPr>
          <p:cNvSpPr txBox="1"/>
          <p:nvPr/>
        </p:nvSpPr>
        <p:spPr>
          <a:xfrm>
            <a:off x="8646852" y="2631551"/>
            <a:ext cx="3258104" cy="2585323"/>
          </a:xfrm>
          <a:prstGeom prst="rect">
            <a:avLst/>
          </a:prstGeom>
          <a:noFill/>
        </p:spPr>
        <p:txBody>
          <a:bodyPr wrap="square" rtlCol="0">
            <a:spAutoFit/>
          </a:bodyPr>
          <a:lstStyle/>
          <a:p>
            <a:pPr marL="285750" indent="-285750">
              <a:buFont typeface="Arial" panose="020B0604020202020204" pitchFamily="34" charset="0"/>
              <a:buChar char="•"/>
            </a:pPr>
            <a:r>
              <a:rPr lang="en-US" b="0" i="0" dirty="0">
                <a:solidFill>
                  <a:srgbClr val="001D35"/>
                </a:solidFill>
                <a:effectLst/>
                <a:latin typeface="Google Sans"/>
              </a:rPr>
              <a:t>"flag" is a </a:t>
            </a:r>
            <a:r>
              <a:rPr lang="en-US" b="0" i="0" dirty="0" err="1">
                <a:solidFill>
                  <a:srgbClr val="001D35"/>
                </a:solidFill>
                <a:effectLst/>
                <a:latin typeface="Google Sans"/>
              </a:rPr>
              <a:t>boolean</a:t>
            </a:r>
            <a:r>
              <a:rPr lang="en-US" b="0" i="0" dirty="0">
                <a:solidFill>
                  <a:srgbClr val="001D35"/>
                </a:solidFill>
                <a:effectLst/>
                <a:latin typeface="Google Sans"/>
              </a:rPr>
              <a:t> array where each element indicates whether a process intends to enter the critical section.</a:t>
            </a:r>
          </a:p>
          <a:p>
            <a:endParaRPr lang="en-US" b="0" i="0" dirty="0">
              <a:solidFill>
                <a:srgbClr val="001D35"/>
              </a:solidFill>
              <a:effectLst/>
              <a:latin typeface="Google Sans"/>
            </a:endParaRPr>
          </a:p>
          <a:p>
            <a:pPr marL="285750" indent="-285750">
              <a:buFont typeface="Arial" panose="020B0604020202020204" pitchFamily="34" charset="0"/>
              <a:buChar char="•"/>
            </a:pPr>
            <a:r>
              <a:rPr lang="en-US" b="0" i="0" dirty="0">
                <a:solidFill>
                  <a:srgbClr val="001D35"/>
                </a:solidFill>
                <a:effectLst/>
                <a:latin typeface="Google Sans"/>
              </a:rPr>
              <a:t>"turn" is an integer variable that specifies which process's turn it is to enter the critical section.</a:t>
            </a:r>
            <a:endParaRPr lang="en-US" dirty="0"/>
          </a:p>
        </p:txBody>
      </p:sp>
    </p:spTree>
    <p:extLst>
      <p:ext uri="{BB962C8B-B14F-4D97-AF65-F5344CB8AC3E}">
        <p14:creationId xmlns:p14="http://schemas.microsoft.com/office/powerpoint/2010/main" val="190928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135268"/>
            <a:ext cx="9755080" cy="737510"/>
          </a:xfrm>
        </p:spPr>
        <p:txBody>
          <a:bodyPr>
            <a:noAutofit/>
          </a:bodyPr>
          <a:lstStyle/>
          <a:p>
            <a:r>
              <a:rPr lang="en-US" sz="4200" dirty="0">
                <a:solidFill>
                  <a:srgbClr val="C00000"/>
                </a:solidFill>
              </a:rPr>
              <a:t>Test and set lock - 1</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000876" y="872778"/>
            <a:ext cx="9118146" cy="595488"/>
          </a:xfrm>
        </p:spPr>
        <p:txBody>
          <a:bodyPr>
            <a:noAutofit/>
          </a:bodyPr>
          <a:lstStyle/>
          <a:p>
            <a:pPr marL="342900" indent="-342900" algn="l">
              <a:lnSpc>
                <a:spcPct val="150000"/>
              </a:lnSpc>
              <a:buFont typeface="Arial" panose="020B0604020202020204" pitchFamily="34" charset="0"/>
              <a:buChar char="•"/>
            </a:pPr>
            <a:r>
              <a:rPr lang="en-US" sz="2200" dirty="0"/>
              <a:t>Implementation(hardware)</a:t>
            </a:r>
          </a:p>
          <a:p>
            <a:pPr algn="l">
              <a:lnSpc>
                <a:spcPct val="150000"/>
              </a:lnSpc>
            </a:pPr>
            <a:endParaRPr lang="en-US" sz="2200" dirty="0"/>
          </a:p>
        </p:txBody>
      </p:sp>
      <p:pic>
        <p:nvPicPr>
          <p:cNvPr id="5" name="Picture 4">
            <a:extLst>
              <a:ext uri="{FF2B5EF4-FFF2-40B4-BE49-F238E27FC236}">
                <a16:creationId xmlns:a16="http://schemas.microsoft.com/office/drawing/2014/main" id="{EB3DAB72-CDB2-FFB2-F1DA-F1A0B642E63A}"/>
              </a:ext>
            </a:extLst>
          </p:cNvPr>
          <p:cNvPicPr>
            <a:picLocks noChangeAspect="1"/>
          </p:cNvPicPr>
          <p:nvPr/>
        </p:nvPicPr>
        <p:blipFill>
          <a:blip r:embed="rId3"/>
          <a:stretch>
            <a:fillRect/>
          </a:stretch>
        </p:blipFill>
        <p:spPr>
          <a:xfrm>
            <a:off x="3175377" y="1468266"/>
            <a:ext cx="5841245" cy="1097280"/>
          </a:xfrm>
          <a:prstGeom prst="rect">
            <a:avLst/>
          </a:prstGeom>
        </p:spPr>
      </p:pic>
      <p:pic>
        <p:nvPicPr>
          <p:cNvPr id="9" name="Picture 8">
            <a:extLst>
              <a:ext uri="{FF2B5EF4-FFF2-40B4-BE49-F238E27FC236}">
                <a16:creationId xmlns:a16="http://schemas.microsoft.com/office/drawing/2014/main" id="{B33EDD96-2794-DB9B-4AD5-D2A0614036B6}"/>
              </a:ext>
            </a:extLst>
          </p:cNvPr>
          <p:cNvPicPr>
            <a:picLocks noChangeAspect="1"/>
          </p:cNvPicPr>
          <p:nvPr/>
        </p:nvPicPr>
        <p:blipFill>
          <a:blip r:embed="rId4"/>
          <a:stretch>
            <a:fillRect/>
          </a:stretch>
        </p:blipFill>
        <p:spPr>
          <a:xfrm>
            <a:off x="3175377" y="2894681"/>
            <a:ext cx="6868626" cy="3657600"/>
          </a:xfrm>
          <a:prstGeom prst="rect">
            <a:avLst/>
          </a:prstGeom>
        </p:spPr>
      </p:pic>
    </p:spTree>
    <p:extLst>
      <p:ext uri="{BB962C8B-B14F-4D97-AF65-F5344CB8AC3E}">
        <p14:creationId xmlns:p14="http://schemas.microsoft.com/office/powerpoint/2010/main" val="17859720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056801" y="179991"/>
            <a:ext cx="10452740" cy="742228"/>
          </a:xfrm>
        </p:spPr>
        <p:txBody>
          <a:bodyPr>
            <a:noAutofit/>
          </a:bodyPr>
          <a:lstStyle/>
          <a:p>
            <a:r>
              <a:rPr lang="en-US" sz="4200" dirty="0">
                <a:solidFill>
                  <a:srgbClr val="C00000"/>
                </a:solidFill>
              </a:rPr>
              <a:t>Test and set lock - 2</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639407" y="1060974"/>
            <a:ext cx="10028593" cy="5062894"/>
          </a:xfrm>
        </p:spPr>
        <p:txBody>
          <a:bodyPr>
            <a:normAutofit fontScale="92500" lnSpcReduction="20000"/>
          </a:bodyPr>
          <a:lstStyle/>
          <a:p>
            <a:pPr marL="342900" indent="-342900" algn="l">
              <a:lnSpc>
                <a:spcPct val="150000"/>
              </a:lnSpc>
              <a:buFont typeface="Arial" panose="020B0604020202020204" pitchFamily="34" charset="0"/>
              <a:buChar char="•"/>
            </a:pPr>
            <a:r>
              <a:rPr lang="en-US" dirty="0"/>
              <a:t>Explanation</a:t>
            </a:r>
          </a:p>
          <a:p>
            <a:pPr marL="800100" lvl="1" indent="-342900" algn="l">
              <a:lnSpc>
                <a:spcPct val="150000"/>
              </a:lnSpc>
              <a:buFont typeface="Wingdings" panose="05000000000000000000" pitchFamily="2" charset="2"/>
              <a:buChar char="§"/>
            </a:pPr>
            <a:r>
              <a:rPr lang="en-US" sz="2200" b="1" dirty="0">
                <a:latin typeface="URWPalladioL-Roma"/>
              </a:rPr>
              <a:t>A</a:t>
            </a:r>
            <a:r>
              <a:rPr lang="en-US" sz="2200" b="1" i="0" u="none" strike="noStrike" baseline="0" dirty="0">
                <a:latin typeface="URWPalladioL-Bold"/>
              </a:rPr>
              <a:t>tomic: </a:t>
            </a:r>
            <a:r>
              <a:rPr lang="en-US" sz="2200" b="0" i="0" u="none" strike="noStrike" baseline="0" dirty="0">
                <a:latin typeface="URWPalladioL-Roma"/>
              </a:rPr>
              <a:t>sequence of operations </a:t>
            </a:r>
          </a:p>
          <a:p>
            <a:pPr marL="800100" lvl="1" indent="-342900" algn="l">
              <a:lnSpc>
                <a:spcPct val="150000"/>
              </a:lnSpc>
              <a:buFont typeface="Wingdings" panose="05000000000000000000" pitchFamily="2" charset="2"/>
              <a:buChar char="§"/>
            </a:pPr>
            <a:r>
              <a:rPr lang="en-US" sz="2200" dirty="0">
                <a:latin typeface="URWPalladioL-Roma"/>
              </a:rPr>
              <a:t>The </a:t>
            </a:r>
            <a:r>
              <a:rPr lang="en-US" sz="2200" b="0" i="0" u="none" strike="noStrike" baseline="0" dirty="0">
                <a:latin typeface="URWPalladioL-Roma"/>
              </a:rPr>
              <a:t>“test”: the old value (which is what is returned) </a:t>
            </a:r>
          </a:p>
          <a:p>
            <a:pPr marL="800100" lvl="1" indent="-342900" algn="l">
              <a:lnSpc>
                <a:spcPct val="150000"/>
              </a:lnSpc>
              <a:buFont typeface="Wingdings" panose="05000000000000000000" pitchFamily="2" charset="2"/>
              <a:buChar char="§"/>
            </a:pPr>
            <a:r>
              <a:rPr lang="en-US" sz="2200" dirty="0">
                <a:solidFill>
                  <a:srgbClr val="000000"/>
                </a:solidFill>
                <a:latin typeface="URWPalladioL-Roma"/>
              </a:rPr>
              <a:t>The </a:t>
            </a:r>
            <a:r>
              <a:rPr lang="en-US" sz="2200" b="0" i="0" u="none" strike="noStrike" baseline="0" dirty="0">
                <a:solidFill>
                  <a:srgbClr val="000000"/>
                </a:solidFill>
                <a:latin typeface="URWPalladioL-Roma"/>
              </a:rPr>
              <a:t>“setting”: the memory location to a new value</a:t>
            </a:r>
          </a:p>
          <a:p>
            <a:pPr marL="800100" lvl="1" indent="-342900" algn="l">
              <a:lnSpc>
                <a:spcPct val="150000"/>
              </a:lnSpc>
              <a:buFont typeface="Wingdings" panose="05000000000000000000" pitchFamily="2" charset="2"/>
              <a:buChar char="§"/>
            </a:pPr>
            <a:r>
              <a:rPr lang="en-US" sz="2200" b="1" i="0" u="none" strike="noStrike" baseline="0" dirty="0">
                <a:solidFill>
                  <a:srgbClr val="000000"/>
                </a:solidFill>
                <a:latin typeface="URWPalladioL-Bold"/>
              </a:rPr>
              <a:t>spin lock</a:t>
            </a:r>
            <a:r>
              <a:rPr lang="en-US" sz="2200" b="0" i="0" u="none" strike="noStrike" baseline="0" dirty="0">
                <a:solidFill>
                  <a:srgbClr val="000000"/>
                </a:solidFill>
                <a:latin typeface="URWPalladioL-Roma"/>
              </a:rPr>
              <a:t>, not spin-wait</a:t>
            </a:r>
            <a:endParaRPr lang="en-US" sz="2200" dirty="0"/>
          </a:p>
          <a:p>
            <a:pPr algn="l">
              <a:lnSpc>
                <a:spcPct val="150000"/>
              </a:lnSpc>
            </a:pPr>
            <a:endParaRPr lang="en-US" sz="2000" dirty="0"/>
          </a:p>
          <a:p>
            <a:pPr marL="342900" indent="-342900" algn="l">
              <a:lnSpc>
                <a:spcPct val="150000"/>
              </a:lnSpc>
              <a:buFont typeface="Arial" panose="020B0604020202020204" pitchFamily="34" charset="0"/>
              <a:buChar char="•"/>
            </a:pPr>
            <a:r>
              <a:rPr lang="en-US" sz="2600" dirty="0"/>
              <a:t>Evaluation</a:t>
            </a:r>
          </a:p>
          <a:p>
            <a:pPr marL="800100" lvl="1" indent="-342900" algn="l">
              <a:lnSpc>
                <a:spcPct val="150000"/>
              </a:lnSpc>
              <a:buFont typeface="Wingdings" panose="05000000000000000000" pitchFamily="2" charset="2"/>
              <a:buChar char="§"/>
            </a:pPr>
            <a:r>
              <a:rPr lang="en-US" sz="2200" dirty="0"/>
              <a:t>Mutually exclusive</a:t>
            </a:r>
          </a:p>
          <a:p>
            <a:pPr marL="800100" lvl="1" indent="-342900" algn="l">
              <a:lnSpc>
                <a:spcPct val="150000"/>
              </a:lnSpc>
              <a:buFont typeface="Wingdings" panose="05000000000000000000" pitchFamily="2" charset="2"/>
              <a:buChar char="§"/>
            </a:pPr>
            <a:r>
              <a:rPr lang="en-US" sz="2200" dirty="0"/>
              <a:t>Not fairness</a:t>
            </a:r>
          </a:p>
          <a:p>
            <a:pPr marL="800100" lvl="1" indent="-342900" algn="l">
              <a:lnSpc>
                <a:spcPct val="150000"/>
              </a:lnSpc>
              <a:buFont typeface="Wingdings" panose="05000000000000000000" pitchFamily="2" charset="2"/>
              <a:buChar char="§"/>
            </a:pPr>
            <a:r>
              <a:rPr lang="en-US" sz="2200" dirty="0"/>
              <a:t>Painful for Single CPU, but effective for multi-CPU</a:t>
            </a:r>
          </a:p>
          <a:p>
            <a:pPr algn="l">
              <a:lnSpc>
                <a:spcPct val="150000"/>
              </a:lnSpc>
            </a:pPr>
            <a:endParaRPr lang="en-US" sz="2000" dirty="0"/>
          </a:p>
          <a:p>
            <a:pPr lvl="1" algn="l">
              <a:lnSpc>
                <a:spcPct val="150000"/>
              </a:lnSpc>
            </a:pPr>
            <a:endParaRPr lang="en-US" dirty="0"/>
          </a:p>
          <a:p>
            <a:pPr algn="l">
              <a:lnSpc>
                <a:spcPct val="150000"/>
              </a:lnSpc>
            </a:pPr>
            <a:endParaRPr lang="en-US" sz="2000" dirty="0"/>
          </a:p>
          <a:p>
            <a:pPr algn="l">
              <a:lnSpc>
                <a:spcPct val="150000"/>
              </a:lnSpc>
            </a:pPr>
            <a:endParaRPr lang="en-US" sz="2000" dirty="0"/>
          </a:p>
        </p:txBody>
      </p:sp>
    </p:spTree>
    <p:extLst>
      <p:ext uri="{BB962C8B-B14F-4D97-AF65-F5344CB8AC3E}">
        <p14:creationId xmlns:p14="http://schemas.microsoft.com/office/powerpoint/2010/main" val="29329943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056801" y="179991"/>
            <a:ext cx="10452740" cy="742228"/>
          </a:xfrm>
        </p:spPr>
        <p:txBody>
          <a:bodyPr>
            <a:noAutofit/>
          </a:bodyPr>
          <a:lstStyle/>
          <a:p>
            <a:r>
              <a:rPr lang="en-US" sz="4200" dirty="0">
                <a:solidFill>
                  <a:srgbClr val="C00000"/>
                </a:solidFill>
              </a:rPr>
              <a:t>Compare and swap</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423444" y="982859"/>
            <a:ext cx="4897538" cy="2091179"/>
          </a:xfrm>
        </p:spPr>
        <p:txBody>
          <a:bodyPr>
            <a:normAutofit lnSpcReduction="10000"/>
          </a:bodyPr>
          <a:lstStyle/>
          <a:p>
            <a:pPr marL="342900" indent="-342900" algn="l">
              <a:lnSpc>
                <a:spcPct val="150000"/>
              </a:lnSpc>
              <a:buFont typeface="Arial" panose="020B0604020202020204" pitchFamily="34" charset="0"/>
              <a:buChar char="•"/>
            </a:pPr>
            <a:r>
              <a:rPr lang="en-US" sz="2000" dirty="0"/>
              <a:t>Basic idea</a:t>
            </a:r>
          </a:p>
          <a:p>
            <a:pPr marL="800100" lvl="1" indent="-342900" algn="l">
              <a:lnSpc>
                <a:spcPct val="150000"/>
              </a:lnSpc>
              <a:buFont typeface="Wingdings" panose="05000000000000000000" pitchFamily="2" charset="2"/>
              <a:buChar char="§"/>
            </a:pPr>
            <a:r>
              <a:rPr lang="en-US" b="1" dirty="0">
                <a:latin typeface="URWPalladioL-Roma"/>
              </a:rPr>
              <a:t>Test if </a:t>
            </a:r>
            <a:r>
              <a:rPr lang="en-US" b="1" dirty="0" err="1">
                <a:latin typeface="URWPalladioL-Roma"/>
              </a:rPr>
              <a:t>ptr</a:t>
            </a:r>
            <a:r>
              <a:rPr lang="en-US" b="1" dirty="0">
                <a:latin typeface="URWPalladioL-Roma"/>
              </a:rPr>
              <a:t> is equal to expect</a:t>
            </a:r>
            <a:endParaRPr lang="en-US" b="0" i="0" u="none" strike="noStrike" baseline="0" dirty="0">
              <a:latin typeface="URWPalladioL-Roma"/>
            </a:endParaRPr>
          </a:p>
          <a:p>
            <a:pPr marL="800100" lvl="1" indent="-342900" algn="l">
              <a:lnSpc>
                <a:spcPct val="150000"/>
              </a:lnSpc>
              <a:buFont typeface="Wingdings" panose="05000000000000000000" pitchFamily="2" charset="2"/>
              <a:buChar char="§"/>
            </a:pPr>
            <a:r>
              <a:rPr lang="en-US" b="0" i="0" u="none" strike="noStrike" baseline="0" dirty="0">
                <a:latin typeface="URWPalladioL-Roma"/>
              </a:rPr>
              <a:t>If so</a:t>
            </a:r>
            <a:r>
              <a:rPr lang="en-US" dirty="0">
                <a:latin typeface="URWPalladioL-Roma"/>
              </a:rPr>
              <a:t>, </a:t>
            </a:r>
            <a:r>
              <a:rPr lang="en-US" dirty="0" err="1">
                <a:latin typeface="URWPalladioL-Roma"/>
              </a:rPr>
              <a:t>ptr</a:t>
            </a:r>
            <a:r>
              <a:rPr lang="en-US" dirty="0">
                <a:latin typeface="URWPalladioL-Roma"/>
              </a:rPr>
              <a:t> is pointed to the new value</a:t>
            </a:r>
            <a:endParaRPr lang="en-US" b="0" i="0" u="none" strike="noStrike" baseline="0" dirty="0">
              <a:latin typeface="URWPalladioL-Roma"/>
            </a:endParaRPr>
          </a:p>
          <a:p>
            <a:pPr marL="800100" lvl="1" indent="-342900" algn="l">
              <a:lnSpc>
                <a:spcPct val="150000"/>
              </a:lnSpc>
              <a:buFont typeface="Wingdings" panose="05000000000000000000" pitchFamily="2" charset="2"/>
              <a:buChar char="§"/>
            </a:pPr>
            <a:r>
              <a:rPr lang="en-US" dirty="0">
                <a:solidFill>
                  <a:srgbClr val="000000"/>
                </a:solidFill>
                <a:latin typeface="URWPalladioL-Roma"/>
              </a:rPr>
              <a:t>If not, do nothing</a:t>
            </a:r>
            <a:endParaRPr lang="en-US" dirty="0"/>
          </a:p>
          <a:p>
            <a:pPr lvl="1" algn="l">
              <a:lnSpc>
                <a:spcPct val="150000"/>
              </a:lnSpc>
            </a:pPr>
            <a:endParaRPr lang="en-US" dirty="0"/>
          </a:p>
          <a:p>
            <a:pPr algn="l">
              <a:lnSpc>
                <a:spcPct val="150000"/>
              </a:lnSpc>
            </a:pPr>
            <a:endParaRPr lang="en-US" sz="2000" dirty="0"/>
          </a:p>
          <a:p>
            <a:pPr algn="l">
              <a:lnSpc>
                <a:spcPct val="150000"/>
              </a:lnSpc>
            </a:pPr>
            <a:endParaRPr lang="en-US" sz="2000" dirty="0"/>
          </a:p>
        </p:txBody>
      </p:sp>
      <p:pic>
        <p:nvPicPr>
          <p:cNvPr id="7" name="Picture 6">
            <a:extLst>
              <a:ext uri="{FF2B5EF4-FFF2-40B4-BE49-F238E27FC236}">
                <a16:creationId xmlns:a16="http://schemas.microsoft.com/office/drawing/2014/main" id="{885120FC-B45C-490D-3993-CE33757C9F04}"/>
              </a:ext>
            </a:extLst>
          </p:cNvPr>
          <p:cNvPicPr>
            <a:picLocks noChangeAspect="1"/>
          </p:cNvPicPr>
          <p:nvPr/>
        </p:nvPicPr>
        <p:blipFill>
          <a:blip r:embed="rId3"/>
          <a:stretch>
            <a:fillRect/>
          </a:stretch>
        </p:blipFill>
        <p:spPr>
          <a:xfrm>
            <a:off x="2345225" y="3318478"/>
            <a:ext cx="7501550" cy="1828800"/>
          </a:xfrm>
          <a:prstGeom prst="rect">
            <a:avLst/>
          </a:prstGeom>
        </p:spPr>
      </p:pic>
      <p:pic>
        <p:nvPicPr>
          <p:cNvPr id="9" name="Picture 8">
            <a:extLst>
              <a:ext uri="{FF2B5EF4-FFF2-40B4-BE49-F238E27FC236}">
                <a16:creationId xmlns:a16="http://schemas.microsoft.com/office/drawing/2014/main" id="{64248791-8310-389D-DF3A-ECA1EE665A90}"/>
              </a:ext>
            </a:extLst>
          </p:cNvPr>
          <p:cNvPicPr>
            <a:picLocks noChangeAspect="1"/>
          </p:cNvPicPr>
          <p:nvPr/>
        </p:nvPicPr>
        <p:blipFill>
          <a:blip r:embed="rId4"/>
          <a:stretch>
            <a:fillRect/>
          </a:stretch>
        </p:blipFill>
        <p:spPr>
          <a:xfrm>
            <a:off x="5725340" y="1571248"/>
            <a:ext cx="6356555" cy="914400"/>
          </a:xfrm>
          <a:prstGeom prst="rect">
            <a:avLst/>
          </a:prstGeom>
        </p:spPr>
      </p:pic>
    </p:spTree>
    <p:extLst>
      <p:ext uri="{BB962C8B-B14F-4D97-AF65-F5344CB8AC3E}">
        <p14:creationId xmlns:p14="http://schemas.microsoft.com/office/powerpoint/2010/main" val="27487231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056801" y="179991"/>
            <a:ext cx="10452740" cy="742228"/>
          </a:xfrm>
        </p:spPr>
        <p:txBody>
          <a:bodyPr>
            <a:noAutofit/>
          </a:bodyPr>
          <a:lstStyle/>
          <a:p>
            <a:r>
              <a:rPr lang="en-US" sz="4200" dirty="0">
                <a:solidFill>
                  <a:srgbClr val="C00000"/>
                </a:solidFill>
              </a:rPr>
              <a:t>Fetch and add - 1</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169114" y="1211459"/>
            <a:ext cx="8296013" cy="2576769"/>
          </a:xfrm>
        </p:spPr>
        <p:txBody>
          <a:bodyPr>
            <a:noAutofit/>
          </a:bodyPr>
          <a:lstStyle/>
          <a:p>
            <a:pPr marL="342900" indent="-342900" algn="l">
              <a:lnSpc>
                <a:spcPct val="150000"/>
              </a:lnSpc>
              <a:buFont typeface="Arial" panose="020B0604020202020204" pitchFamily="34" charset="0"/>
              <a:buChar char="•"/>
            </a:pPr>
            <a:r>
              <a:rPr lang="en-US" sz="2000" dirty="0"/>
              <a:t>Basic idea</a:t>
            </a:r>
          </a:p>
          <a:p>
            <a:pPr marL="800100" lvl="1" indent="-342900" algn="l">
              <a:lnSpc>
                <a:spcPct val="150000"/>
              </a:lnSpc>
              <a:buFont typeface="Wingdings" panose="05000000000000000000" pitchFamily="2" charset="2"/>
              <a:buChar char="§"/>
            </a:pPr>
            <a:r>
              <a:rPr lang="en-US" b="1" dirty="0">
                <a:latin typeface="URWPalladioL-Roma"/>
              </a:rPr>
              <a:t>Test if </a:t>
            </a:r>
            <a:r>
              <a:rPr lang="en-US" b="1" dirty="0" err="1">
                <a:latin typeface="URWPalladioL-Roma"/>
              </a:rPr>
              <a:t>myturn</a:t>
            </a:r>
            <a:r>
              <a:rPr lang="en-US" b="1" dirty="0">
                <a:latin typeface="URWPalladioL-Roma"/>
              </a:rPr>
              <a:t> is equal to the system ticket</a:t>
            </a:r>
            <a:endParaRPr lang="en-US" b="0" i="0" u="none" strike="noStrike" baseline="0" dirty="0">
              <a:latin typeface="URWPalladioL-Roma"/>
            </a:endParaRPr>
          </a:p>
          <a:p>
            <a:pPr marL="800100" lvl="1" indent="-342900" algn="l">
              <a:lnSpc>
                <a:spcPct val="150000"/>
              </a:lnSpc>
              <a:buFont typeface="Wingdings" panose="05000000000000000000" pitchFamily="2" charset="2"/>
              <a:buChar char="§"/>
            </a:pPr>
            <a:r>
              <a:rPr lang="en-US" b="0" i="0" u="none" strike="noStrike" baseline="0" dirty="0">
                <a:latin typeface="URWPalladioL-Roma"/>
              </a:rPr>
              <a:t>If so</a:t>
            </a:r>
            <a:r>
              <a:rPr lang="en-US" dirty="0">
                <a:latin typeface="URWPalladioL-Roma"/>
              </a:rPr>
              <a:t>, </a:t>
            </a:r>
            <a:r>
              <a:rPr lang="en-US" dirty="0" err="1">
                <a:latin typeface="URWPalladioL-Roma"/>
              </a:rPr>
              <a:t>ptr</a:t>
            </a:r>
            <a:r>
              <a:rPr lang="en-US" dirty="0">
                <a:latin typeface="URWPalladioL-Roma"/>
              </a:rPr>
              <a:t> is pointed to the following ready thread, but returns the current thread</a:t>
            </a:r>
            <a:endParaRPr lang="en-US" b="0" i="0" u="none" strike="noStrike" baseline="0" dirty="0">
              <a:latin typeface="URWPalladioL-Roma"/>
            </a:endParaRPr>
          </a:p>
          <a:p>
            <a:pPr marL="800100" lvl="1" indent="-342900" algn="l">
              <a:lnSpc>
                <a:spcPct val="150000"/>
              </a:lnSpc>
              <a:buFont typeface="Wingdings" panose="05000000000000000000" pitchFamily="2" charset="2"/>
              <a:buChar char="§"/>
            </a:pPr>
            <a:r>
              <a:rPr lang="en-US" dirty="0">
                <a:solidFill>
                  <a:srgbClr val="000000"/>
                </a:solidFill>
                <a:latin typeface="URWPalladioL-Roma"/>
              </a:rPr>
              <a:t>spin waits.</a:t>
            </a:r>
            <a:endParaRPr lang="en-US" dirty="0"/>
          </a:p>
          <a:p>
            <a:pPr lvl="1" algn="l">
              <a:lnSpc>
                <a:spcPct val="150000"/>
              </a:lnSpc>
            </a:pPr>
            <a:endParaRPr lang="en-US" dirty="0"/>
          </a:p>
          <a:p>
            <a:pPr algn="l">
              <a:lnSpc>
                <a:spcPct val="150000"/>
              </a:lnSpc>
            </a:pPr>
            <a:endParaRPr lang="en-US" sz="2000" dirty="0"/>
          </a:p>
          <a:p>
            <a:pPr algn="l">
              <a:lnSpc>
                <a:spcPct val="150000"/>
              </a:lnSpc>
            </a:pPr>
            <a:endParaRPr lang="en-US" sz="2000" dirty="0"/>
          </a:p>
        </p:txBody>
      </p:sp>
      <p:pic>
        <p:nvPicPr>
          <p:cNvPr id="5" name="Picture 4">
            <a:extLst>
              <a:ext uri="{FF2B5EF4-FFF2-40B4-BE49-F238E27FC236}">
                <a16:creationId xmlns:a16="http://schemas.microsoft.com/office/drawing/2014/main" id="{146815D7-77E7-6674-72DB-0ED076E97C47}"/>
              </a:ext>
            </a:extLst>
          </p:cNvPr>
          <p:cNvPicPr>
            <a:picLocks noChangeAspect="1"/>
          </p:cNvPicPr>
          <p:nvPr/>
        </p:nvPicPr>
        <p:blipFill>
          <a:blip r:embed="rId3"/>
          <a:stretch>
            <a:fillRect/>
          </a:stretch>
        </p:blipFill>
        <p:spPr>
          <a:xfrm>
            <a:off x="3115444" y="4202049"/>
            <a:ext cx="5961111" cy="1828800"/>
          </a:xfrm>
          <a:prstGeom prst="rect">
            <a:avLst/>
          </a:prstGeom>
        </p:spPr>
      </p:pic>
    </p:spTree>
    <p:extLst>
      <p:ext uri="{BB962C8B-B14F-4D97-AF65-F5344CB8AC3E}">
        <p14:creationId xmlns:p14="http://schemas.microsoft.com/office/powerpoint/2010/main" val="6510491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056801" y="76574"/>
            <a:ext cx="10452740" cy="742228"/>
          </a:xfrm>
        </p:spPr>
        <p:txBody>
          <a:bodyPr>
            <a:noAutofit/>
          </a:bodyPr>
          <a:lstStyle/>
          <a:p>
            <a:r>
              <a:rPr lang="en-US" sz="4200" dirty="0">
                <a:solidFill>
                  <a:srgbClr val="C00000"/>
                </a:solidFill>
              </a:rPr>
              <a:t>Fetch and add - 2</a:t>
            </a:r>
          </a:p>
        </p:txBody>
      </p:sp>
      <p:pic>
        <p:nvPicPr>
          <p:cNvPr id="8" name="Picture 7">
            <a:extLst>
              <a:ext uri="{FF2B5EF4-FFF2-40B4-BE49-F238E27FC236}">
                <a16:creationId xmlns:a16="http://schemas.microsoft.com/office/drawing/2014/main" id="{86C6AED6-2C30-0739-87C4-FF12F8A977E6}"/>
              </a:ext>
            </a:extLst>
          </p:cNvPr>
          <p:cNvPicPr>
            <a:picLocks noChangeAspect="1"/>
          </p:cNvPicPr>
          <p:nvPr/>
        </p:nvPicPr>
        <p:blipFill>
          <a:blip r:embed="rId3"/>
          <a:stretch>
            <a:fillRect/>
          </a:stretch>
        </p:blipFill>
        <p:spPr>
          <a:xfrm>
            <a:off x="4091712" y="2286000"/>
            <a:ext cx="6393015" cy="4572000"/>
          </a:xfrm>
          <a:prstGeom prst="rect">
            <a:avLst/>
          </a:prstGeom>
        </p:spPr>
      </p:pic>
      <p:sp>
        <p:nvSpPr>
          <p:cNvPr id="9" name="Subtitle 2">
            <a:extLst>
              <a:ext uri="{FF2B5EF4-FFF2-40B4-BE49-F238E27FC236}">
                <a16:creationId xmlns:a16="http://schemas.microsoft.com/office/drawing/2014/main" id="{BCDCF5F8-F063-7D6C-967C-1587474AC886}"/>
              </a:ext>
            </a:extLst>
          </p:cNvPr>
          <p:cNvSpPr>
            <a:spLocks noGrp="1"/>
          </p:cNvSpPr>
          <p:nvPr>
            <p:ph type="subTitle" idx="1"/>
          </p:nvPr>
        </p:nvSpPr>
        <p:spPr>
          <a:xfrm>
            <a:off x="525358" y="6241434"/>
            <a:ext cx="11037112" cy="1079983"/>
          </a:xfrm>
        </p:spPr>
        <p:txBody>
          <a:bodyPr>
            <a:noAutofit/>
          </a:bodyPr>
          <a:lstStyle/>
          <a:p>
            <a:pPr marL="342900" indent="-342900" algn="l">
              <a:lnSpc>
                <a:spcPct val="150000"/>
              </a:lnSpc>
              <a:buFont typeface="Arial" panose="020B0604020202020204" pitchFamily="34" charset="0"/>
              <a:buChar char="•"/>
            </a:pPr>
            <a:r>
              <a:rPr lang="en-US" sz="2000" dirty="0"/>
              <a:t>Performance</a:t>
            </a:r>
          </a:p>
          <a:p>
            <a:pPr marL="800100" lvl="1" indent="-342900" algn="l">
              <a:lnSpc>
                <a:spcPct val="150000"/>
              </a:lnSpc>
              <a:buFont typeface="Wingdings" panose="05000000000000000000" pitchFamily="2" charset="2"/>
              <a:buChar char="§"/>
            </a:pPr>
            <a:r>
              <a:rPr lang="en-US" b="1" i="0" u="none" strike="noStrike" baseline="0" dirty="0">
                <a:latin typeface="URWPalladioL-Roma"/>
              </a:rPr>
              <a:t>Optimi</a:t>
            </a:r>
            <a:r>
              <a:rPr lang="en-US" b="1" dirty="0">
                <a:latin typeface="URWPalladioL-Roma"/>
              </a:rPr>
              <a:t>zed when at least three threads running concurrently</a:t>
            </a:r>
            <a:endParaRPr lang="en-US" b="0" i="0" u="none" strike="noStrike" baseline="0" dirty="0">
              <a:latin typeface="URWPalladioL-Roma"/>
            </a:endParaRPr>
          </a:p>
          <a:p>
            <a:pPr lvl="1" algn="l">
              <a:lnSpc>
                <a:spcPct val="150000"/>
              </a:lnSpc>
            </a:pPr>
            <a:endParaRPr lang="en-US" dirty="0"/>
          </a:p>
          <a:p>
            <a:pPr algn="l">
              <a:lnSpc>
                <a:spcPct val="150000"/>
              </a:lnSpc>
            </a:pPr>
            <a:endParaRPr lang="en-US" sz="2000" dirty="0"/>
          </a:p>
          <a:p>
            <a:pPr algn="l">
              <a:lnSpc>
                <a:spcPct val="150000"/>
              </a:lnSpc>
            </a:pPr>
            <a:endParaRPr lang="en-US" sz="2000" dirty="0"/>
          </a:p>
        </p:txBody>
      </p:sp>
      <p:pic>
        <p:nvPicPr>
          <p:cNvPr id="3" name="Picture 2">
            <a:extLst>
              <a:ext uri="{FF2B5EF4-FFF2-40B4-BE49-F238E27FC236}">
                <a16:creationId xmlns:a16="http://schemas.microsoft.com/office/drawing/2014/main" id="{F0D72008-661B-B8BD-FC3D-971B78BD393F}"/>
              </a:ext>
            </a:extLst>
          </p:cNvPr>
          <p:cNvPicPr>
            <a:picLocks noChangeAspect="1"/>
          </p:cNvPicPr>
          <p:nvPr/>
        </p:nvPicPr>
        <p:blipFill>
          <a:blip r:embed="rId4"/>
          <a:stretch>
            <a:fillRect/>
          </a:stretch>
        </p:blipFill>
        <p:spPr>
          <a:xfrm>
            <a:off x="4091712" y="966925"/>
            <a:ext cx="4172776" cy="1280160"/>
          </a:xfrm>
          <a:prstGeom prst="rect">
            <a:avLst/>
          </a:prstGeom>
        </p:spPr>
      </p:pic>
    </p:spTree>
    <p:extLst>
      <p:ext uri="{BB962C8B-B14F-4D97-AF65-F5344CB8AC3E}">
        <p14:creationId xmlns:p14="http://schemas.microsoft.com/office/powerpoint/2010/main" val="39942953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056801" y="54803"/>
            <a:ext cx="10452740" cy="742228"/>
          </a:xfrm>
        </p:spPr>
        <p:txBody>
          <a:bodyPr>
            <a:noAutofit/>
          </a:bodyPr>
          <a:lstStyle/>
          <a:p>
            <a:r>
              <a:rPr lang="en-US" sz="4200" dirty="0">
                <a:solidFill>
                  <a:srgbClr val="C00000"/>
                </a:solidFill>
              </a:rPr>
              <a:t>Using queue - 1</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201771" y="835902"/>
            <a:ext cx="9531543" cy="2734611"/>
          </a:xfrm>
        </p:spPr>
        <p:txBody>
          <a:bodyPr>
            <a:noAutofit/>
          </a:bodyPr>
          <a:lstStyle/>
          <a:p>
            <a:pPr marL="342900" indent="-342900" algn="l">
              <a:lnSpc>
                <a:spcPct val="150000"/>
              </a:lnSpc>
              <a:buFont typeface="Arial" panose="020B0604020202020204" pitchFamily="34" charset="0"/>
              <a:buChar char="•"/>
            </a:pPr>
            <a:r>
              <a:rPr lang="en-US" sz="2000" dirty="0"/>
              <a:t>Basic idea</a:t>
            </a:r>
          </a:p>
          <a:p>
            <a:pPr marL="800100" lvl="1" indent="-342900" algn="l">
              <a:lnSpc>
                <a:spcPct val="150000"/>
              </a:lnSpc>
              <a:buFont typeface="Wingdings" panose="05000000000000000000" pitchFamily="2" charset="2"/>
              <a:buChar char="§"/>
            </a:pPr>
            <a:r>
              <a:rPr lang="en-US" dirty="0">
                <a:latin typeface="URWPalladioL-Roma"/>
              </a:rPr>
              <a:t>Uses the Test and Set</a:t>
            </a:r>
          </a:p>
          <a:p>
            <a:pPr marL="800100" lvl="1" indent="-342900" algn="l">
              <a:lnSpc>
                <a:spcPct val="150000"/>
              </a:lnSpc>
              <a:buFont typeface="Wingdings" panose="05000000000000000000" pitchFamily="2" charset="2"/>
              <a:buChar char="§"/>
            </a:pPr>
            <a:r>
              <a:rPr lang="en-US" b="1" dirty="0">
                <a:latin typeface="URWPalladioL-Roma"/>
              </a:rPr>
              <a:t>Uses the queue to track the next lock, avoiding starvation</a:t>
            </a:r>
          </a:p>
          <a:p>
            <a:pPr marL="800100" lvl="1" indent="-342900" algn="l">
              <a:lnSpc>
                <a:spcPct val="150000"/>
              </a:lnSpc>
              <a:buFont typeface="Wingdings" panose="05000000000000000000" pitchFamily="2" charset="2"/>
              <a:buChar char="§"/>
            </a:pPr>
            <a:r>
              <a:rPr lang="en-US" b="1" i="0" u="none" strike="noStrike" baseline="0" dirty="0">
                <a:latin typeface="URWPalladioL-Roma"/>
              </a:rPr>
              <a:t>In lock( ), if a thread cannot get a lock, the thread is added to the queues by linking its </a:t>
            </a:r>
            <a:r>
              <a:rPr lang="en-US" b="1" i="0" u="none" strike="noStrike" baseline="0" dirty="0" err="1">
                <a:latin typeface="URWPalladioL-Roma"/>
              </a:rPr>
              <a:t>pid</a:t>
            </a:r>
            <a:r>
              <a:rPr lang="en-US" b="1" i="0" u="none" strike="noStrike" baseline="0" dirty="0">
                <a:latin typeface="URWPalladioL-Roma"/>
              </a:rPr>
              <a:t> to the queue and make its turn ready.</a:t>
            </a:r>
            <a:endParaRPr lang="en-US" b="0" i="0" u="none" strike="noStrike" baseline="0" dirty="0">
              <a:latin typeface="URWPalladioL-Roma"/>
            </a:endParaRPr>
          </a:p>
          <a:p>
            <a:pPr lvl="1" algn="l">
              <a:lnSpc>
                <a:spcPct val="150000"/>
              </a:lnSpc>
            </a:pPr>
            <a:endParaRPr lang="en-US" dirty="0"/>
          </a:p>
          <a:p>
            <a:pPr lvl="1" algn="l">
              <a:lnSpc>
                <a:spcPct val="150000"/>
              </a:lnSpc>
            </a:pPr>
            <a:endParaRPr lang="en-US" dirty="0"/>
          </a:p>
          <a:p>
            <a:pPr algn="l">
              <a:lnSpc>
                <a:spcPct val="150000"/>
              </a:lnSpc>
            </a:pPr>
            <a:endParaRPr lang="en-US" sz="2000" dirty="0"/>
          </a:p>
          <a:p>
            <a:pPr algn="l">
              <a:lnSpc>
                <a:spcPct val="150000"/>
              </a:lnSpc>
            </a:pPr>
            <a:endParaRPr lang="en-US" sz="2000" dirty="0"/>
          </a:p>
        </p:txBody>
      </p:sp>
      <p:pic>
        <p:nvPicPr>
          <p:cNvPr id="6" name="Picture 5">
            <a:extLst>
              <a:ext uri="{FF2B5EF4-FFF2-40B4-BE49-F238E27FC236}">
                <a16:creationId xmlns:a16="http://schemas.microsoft.com/office/drawing/2014/main" id="{21FC29B8-9C9F-0861-DE47-0ED60B60C8B6}"/>
              </a:ext>
            </a:extLst>
          </p:cNvPr>
          <p:cNvPicPr>
            <a:picLocks noChangeAspect="1"/>
          </p:cNvPicPr>
          <p:nvPr/>
        </p:nvPicPr>
        <p:blipFill>
          <a:blip r:embed="rId3"/>
          <a:stretch>
            <a:fillRect/>
          </a:stretch>
        </p:blipFill>
        <p:spPr>
          <a:xfrm>
            <a:off x="3202659" y="3675611"/>
            <a:ext cx="5786681" cy="2743200"/>
          </a:xfrm>
          <a:prstGeom prst="rect">
            <a:avLst/>
          </a:prstGeom>
        </p:spPr>
      </p:pic>
    </p:spTree>
    <p:extLst>
      <p:ext uri="{BB962C8B-B14F-4D97-AF65-F5344CB8AC3E}">
        <p14:creationId xmlns:p14="http://schemas.microsoft.com/office/powerpoint/2010/main" val="29244286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056801" y="76574"/>
            <a:ext cx="10452740" cy="742228"/>
          </a:xfrm>
        </p:spPr>
        <p:txBody>
          <a:bodyPr>
            <a:noAutofit/>
          </a:bodyPr>
          <a:lstStyle/>
          <a:p>
            <a:r>
              <a:rPr lang="en-US" sz="4200" dirty="0">
                <a:solidFill>
                  <a:srgbClr val="C00000"/>
                </a:solidFill>
              </a:rPr>
              <a:t>Using queue - 2</a:t>
            </a:r>
          </a:p>
        </p:txBody>
      </p:sp>
      <p:pic>
        <p:nvPicPr>
          <p:cNvPr id="6" name="Picture 5">
            <a:extLst>
              <a:ext uri="{FF2B5EF4-FFF2-40B4-BE49-F238E27FC236}">
                <a16:creationId xmlns:a16="http://schemas.microsoft.com/office/drawing/2014/main" id="{3FCF44D4-99D1-B941-360F-852F3A94874E}"/>
              </a:ext>
            </a:extLst>
          </p:cNvPr>
          <p:cNvPicPr>
            <a:picLocks noChangeAspect="1"/>
          </p:cNvPicPr>
          <p:nvPr/>
        </p:nvPicPr>
        <p:blipFill>
          <a:blip r:embed="rId3"/>
          <a:stretch>
            <a:fillRect/>
          </a:stretch>
        </p:blipFill>
        <p:spPr>
          <a:xfrm>
            <a:off x="914404" y="885006"/>
            <a:ext cx="3988329" cy="2651760"/>
          </a:xfrm>
          <a:prstGeom prst="rect">
            <a:avLst/>
          </a:prstGeom>
        </p:spPr>
      </p:pic>
      <p:pic>
        <p:nvPicPr>
          <p:cNvPr id="10" name="Picture 9">
            <a:extLst>
              <a:ext uri="{FF2B5EF4-FFF2-40B4-BE49-F238E27FC236}">
                <a16:creationId xmlns:a16="http://schemas.microsoft.com/office/drawing/2014/main" id="{EA34C77F-3A16-BC50-432C-1C0EE945F098}"/>
              </a:ext>
            </a:extLst>
          </p:cNvPr>
          <p:cNvPicPr>
            <a:picLocks noChangeAspect="1"/>
          </p:cNvPicPr>
          <p:nvPr/>
        </p:nvPicPr>
        <p:blipFill>
          <a:blip r:embed="rId4"/>
          <a:stretch>
            <a:fillRect/>
          </a:stretch>
        </p:blipFill>
        <p:spPr>
          <a:xfrm>
            <a:off x="914404" y="3804888"/>
            <a:ext cx="9469297" cy="2560320"/>
          </a:xfrm>
          <a:prstGeom prst="rect">
            <a:avLst/>
          </a:prstGeom>
        </p:spPr>
      </p:pic>
    </p:spTree>
    <p:extLst>
      <p:ext uri="{BB962C8B-B14F-4D97-AF65-F5344CB8AC3E}">
        <p14:creationId xmlns:p14="http://schemas.microsoft.com/office/powerpoint/2010/main" val="20217025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056801" y="76574"/>
            <a:ext cx="10452740" cy="742228"/>
          </a:xfrm>
        </p:spPr>
        <p:txBody>
          <a:bodyPr>
            <a:noAutofit/>
          </a:bodyPr>
          <a:lstStyle/>
          <a:p>
            <a:r>
              <a:rPr lang="en-US" sz="4200" dirty="0">
                <a:solidFill>
                  <a:srgbClr val="C00000"/>
                </a:solidFill>
              </a:rPr>
              <a:t>Using </a:t>
            </a:r>
            <a:r>
              <a:rPr lang="en-US" sz="4200" dirty="0" err="1">
                <a:solidFill>
                  <a:srgbClr val="C00000"/>
                </a:solidFill>
              </a:rPr>
              <a:t>futex</a:t>
            </a:r>
            <a:r>
              <a:rPr lang="en-US" sz="4200" dirty="0">
                <a:solidFill>
                  <a:srgbClr val="C00000"/>
                </a:solidFill>
              </a:rPr>
              <a:t> in Linux - 1</a:t>
            </a:r>
          </a:p>
        </p:txBody>
      </p:sp>
      <p:pic>
        <p:nvPicPr>
          <p:cNvPr id="4" name="Picture 3">
            <a:extLst>
              <a:ext uri="{FF2B5EF4-FFF2-40B4-BE49-F238E27FC236}">
                <a16:creationId xmlns:a16="http://schemas.microsoft.com/office/drawing/2014/main" id="{26333D89-4168-F3F7-7189-E184796B6F43}"/>
              </a:ext>
            </a:extLst>
          </p:cNvPr>
          <p:cNvPicPr>
            <a:picLocks noChangeAspect="1"/>
          </p:cNvPicPr>
          <p:nvPr/>
        </p:nvPicPr>
        <p:blipFill>
          <a:blip r:embed="rId3"/>
          <a:stretch>
            <a:fillRect/>
          </a:stretch>
        </p:blipFill>
        <p:spPr>
          <a:xfrm>
            <a:off x="1640822" y="1143000"/>
            <a:ext cx="8910356" cy="4572000"/>
          </a:xfrm>
          <a:prstGeom prst="rect">
            <a:avLst/>
          </a:prstGeom>
        </p:spPr>
      </p:pic>
    </p:spTree>
    <p:extLst>
      <p:ext uri="{BB962C8B-B14F-4D97-AF65-F5344CB8AC3E}">
        <p14:creationId xmlns:p14="http://schemas.microsoft.com/office/powerpoint/2010/main" val="2295304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056801" y="76574"/>
            <a:ext cx="10452740" cy="742228"/>
          </a:xfrm>
        </p:spPr>
        <p:txBody>
          <a:bodyPr>
            <a:noAutofit/>
          </a:bodyPr>
          <a:lstStyle/>
          <a:p>
            <a:r>
              <a:rPr lang="en-US" sz="4200" dirty="0">
                <a:solidFill>
                  <a:srgbClr val="C00000"/>
                </a:solidFill>
              </a:rPr>
              <a:t>Using </a:t>
            </a:r>
            <a:r>
              <a:rPr lang="en-US" sz="4200" dirty="0" err="1">
                <a:solidFill>
                  <a:srgbClr val="C00000"/>
                </a:solidFill>
              </a:rPr>
              <a:t>futex</a:t>
            </a:r>
            <a:r>
              <a:rPr lang="en-US" sz="4200" dirty="0">
                <a:solidFill>
                  <a:srgbClr val="C00000"/>
                </a:solidFill>
              </a:rPr>
              <a:t> in Linux - 2</a:t>
            </a:r>
          </a:p>
        </p:txBody>
      </p:sp>
      <p:pic>
        <p:nvPicPr>
          <p:cNvPr id="4" name="Picture 3">
            <a:extLst>
              <a:ext uri="{FF2B5EF4-FFF2-40B4-BE49-F238E27FC236}">
                <a16:creationId xmlns:a16="http://schemas.microsoft.com/office/drawing/2014/main" id="{608FCF7B-DB11-504C-B37C-8EBCC6DFCDB1}"/>
              </a:ext>
            </a:extLst>
          </p:cNvPr>
          <p:cNvPicPr>
            <a:picLocks noChangeAspect="1"/>
          </p:cNvPicPr>
          <p:nvPr/>
        </p:nvPicPr>
        <p:blipFill>
          <a:blip r:embed="rId3"/>
          <a:stretch>
            <a:fillRect/>
          </a:stretch>
        </p:blipFill>
        <p:spPr>
          <a:xfrm>
            <a:off x="1394569" y="3441259"/>
            <a:ext cx="9402859" cy="2743200"/>
          </a:xfrm>
          <a:prstGeom prst="rect">
            <a:avLst/>
          </a:prstGeom>
        </p:spPr>
      </p:pic>
      <p:sp>
        <p:nvSpPr>
          <p:cNvPr id="5" name="Subtitle 2">
            <a:extLst>
              <a:ext uri="{FF2B5EF4-FFF2-40B4-BE49-F238E27FC236}">
                <a16:creationId xmlns:a16="http://schemas.microsoft.com/office/drawing/2014/main" id="{051CF799-A0B7-6CCF-D0A5-98F00F50DB8A}"/>
              </a:ext>
            </a:extLst>
          </p:cNvPr>
          <p:cNvSpPr>
            <a:spLocks noGrp="1"/>
          </p:cNvSpPr>
          <p:nvPr>
            <p:ph type="subTitle" idx="1"/>
          </p:nvPr>
        </p:nvSpPr>
        <p:spPr>
          <a:xfrm>
            <a:off x="577443" y="966531"/>
            <a:ext cx="11037112" cy="2190326"/>
          </a:xfrm>
        </p:spPr>
        <p:txBody>
          <a:bodyPr>
            <a:noAutofit/>
          </a:bodyPr>
          <a:lstStyle/>
          <a:p>
            <a:pPr marL="342900" indent="-342900" algn="l">
              <a:lnSpc>
                <a:spcPct val="150000"/>
              </a:lnSpc>
              <a:buFont typeface="Arial" panose="020B0604020202020204" pitchFamily="34" charset="0"/>
              <a:buChar char="•"/>
            </a:pPr>
            <a:r>
              <a:rPr lang="en-US" sz="2000" dirty="0"/>
              <a:t>Performance</a:t>
            </a:r>
          </a:p>
          <a:p>
            <a:pPr marL="800100" lvl="1" indent="-342900" algn="l">
              <a:lnSpc>
                <a:spcPct val="150000"/>
              </a:lnSpc>
              <a:buFont typeface="Wingdings" panose="05000000000000000000" pitchFamily="2" charset="2"/>
              <a:buChar char="§"/>
            </a:pPr>
            <a:r>
              <a:rPr lang="en-US" b="1" i="0" u="none" strike="noStrike" baseline="0" dirty="0">
                <a:latin typeface="URWPalladioL-Roma"/>
              </a:rPr>
              <a:t>In the lock, when the mutex value in the caller is negative, the caller sleeps.</a:t>
            </a:r>
          </a:p>
          <a:p>
            <a:pPr marL="800100" lvl="1" indent="-342900" algn="l">
              <a:lnSpc>
                <a:spcPct val="150000"/>
              </a:lnSpc>
              <a:buFont typeface="Wingdings" panose="05000000000000000000" pitchFamily="2" charset="2"/>
              <a:buChar char="§"/>
            </a:pPr>
            <a:r>
              <a:rPr lang="en-US" i="0" u="none" strike="noStrike" baseline="0" dirty="0">
                <a:latin typeface="URWPalladioL-Roma"/>
              </a:rPr>
              <a:t>It is effic</a:t>
            </a:r>
            <a:r>
              <a:rPr lang="en-US" dirty="0">
                <a:latin typeface="URWPalladioL-Roma"/>
              </a:rPr>
              <a:t>ient to use the caller sleeping instead of spin wait.</a:t>
            </a:r>
          </a:p>
          <a:p>
            <a:pPr marL="800100" lvl="1" indent="-342900" algn="l">
              <a:lnSpc>
                <a:spcPct val="150000"/>
              </a:lnSpc>
              <a:buFont typeface="Wingdings" panose="05000000000000000000" pitchFamily="2" charset="2"/>
              <a:buChar char="§"/>
            </a:pPr>
            <a:r>
              <a:rPr lang="en-US" dirty="0">
                <a:latin typeface="URWPalladioL-Roma"/>
              </a:rPr>
              <a:t>The caller will be waken in the unlock</a:t>
            </a:r>
          </a:p>
          <a:p>
            <a:pPr marL="800100" lvl="1" indent="-342900" algn="l">
              <a:lnSpc>
                <a:spcPct val="150000"/>
              </a:lnSpc>
              <a:buFont typeface="Wingdings" panose="05000000000000000000" pitchFamily="2" charset="2"/>
              <a:buChar char="§"/>
            </a:pPr>
            <a:endParaRPr lang="en-US" b="1" i="0" u="none" strike="noStrike" baseline="0" dirty="0">
              <a:latin typeface="URWPalladioL-Roma"/>
            </a:endParaRPr>
          </a:p>
          <a:p>
            <a:pPr marL="800100" lvl="1" indent="-342900" algn="l">
              <a:lnSpc>
                <a:spcPct val="150000"/>
              </a:lnSpc>
              <a:buFont typeface="Wingdings" panose="05000000000000000000" pitchFamily="2" charset="2"/>
              <a:buChar char="§"/>
            </a:pPr>
            <a:endParaRPr lang="en-US" b="0" i="0" u="none" strike="noStrike" baseline="0" dirty="0">
              <a:latin typeface="URWPalladioL-Roma"/>
            </a:endParaRPr>
          </a:p>
          <a:p>
            <a:pPr lvl="1" algn="l">
              <a:lnSpc>
                <a:spcPct val="150000"/>
              </a:lnSpc>
            </a:pPr>
            <a:endParaRPr lang="en-US" dirty="0"/>
          </a:p>
          <a:p>
            <a:pPr algn="l">
              <a:lnSpc>
                <a:spcPct val="150000"/>
              </a:lnSpc>
            </a:pPr>
            <a:endParaRPr lang="en-US" sz="2000" i="1" dirty="0"/>
          </a:p>
          <a:p>
            <a:pPr algn="l">
              <a:lnSpc>
                <a:spcPct val="150000"/>
              </a:lnSpc>
            </a:pPr>
            <a:endParaRPr lang="en-US" sz="2000" dirty="0"/>
          </a:p>
        </p:txBody>
      </p:sp>
    </p:spTree>
    <p:extLst>
      <p:ext uri="{BB962C8B-B14F-4D97-AF65-F5344CB8AC3E}">
        <p14:creationId xmlns:p14="http://schemas.microsoft.com/office/powerpoint/2010/main" val="435109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1138</TotalTime>
  <Words>928</Words>
  <Application>Microsoft Office PowerPoint</Application>
  <PresentationFormat>Widescreen</PresentationFormat>
  <Paragraphs>120</Paragraphs>
  <Slides>19</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19</vt:i4>
      </vt:variant>
    </vt:vector>
  </HeadingPairs>
  <TitlesOfParts>
    <vt:vector size="27" baseType="lpstr">
      <vt:lpstr>Google Sans</vt:lpstr>
      <vt:lpstr>URWPalladioL-Bold</vt:lpstr>
      <vt:lpstr>URWPalladioL-Roma</vt:lpstr>
      <vt:lpstr>Arial</vt:lpstr>
      <vt:lpstr>Calibri</vt:lpstr>
      <vt:lpstr>Calibri Light</vt:lpstr>
      <vt:lpstr>Wingdings</vt:lpstr>
      <vt:lpstr>Office Theme</vt:lpstr>
      <vt:lpstr>PowerPoint Presentation</vt:lpstr>
      <vt:lpstr>Reading Assignment</vt:lpstr>
      <vt:lpstr>Agenda</vt:lpstr>
      <vt:lpstr>The motivation</vt:lpstr>
      <vt:lpstr>Basic idea of the lock</vt:lpstr>
      <vt:lpstr>Criteria to the lock</vt:lpstr>
      <vt:lpstr>Controlling Interrupts</vt:lpstr>
      <vt:lpstr>Single variable lock</vt:lpstr>
      <vt:lpstr>Performance of the single variable lock</vt:lpstr>
      <vt:lpstr>Peterson’s algorithm</vt:lpstr>
      <vt:lpstr>Test and set lock - 1</vt:lpstr>
      <vt:lpstr>Test and set lock - 2</vt:lpstr>
      <vt:lpstr>Compare and swap</vt:lpstr>
      <vt:lpstr>Fetch and add - 1</vt:lpstr>
      <vt:lpstr>Fetch and add - 2</vt:lpstr>
      <vt:lpstr>Using queue - 1</vt:lpstr>
      <vt:lpstr>Using queue - 2</vt:lpstr>
      <vt:lpstr>Using futex in Linux - 1</vt:lpstr>
      <vt:lpstr>Using futex in Linux - 2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Jie Zhao</dc:creator>
  <cp:lastModifiedBy>Zhao, Jie</cp:lastModifiedBy>
  <cp:revision>10</cp:revision>
  <cp:lastPrinted>2024-11-11T18:06:58Z</cp:lastPrinted>
  <dcterms:created xsi:type="dcterms:W3CDTF">2023-08-19T20:44:10Z</dcterms:created>
  <dcterms:modified xsi:type="dcterms:W3CDTF">2026-04-01T03:47:27Z</dcterms:modified>
</cp:coreProperties>
</file>