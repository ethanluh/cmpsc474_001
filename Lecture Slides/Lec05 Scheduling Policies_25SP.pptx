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96" r:id="rId4"/>
    <p:sldId id="297" r:id="rId5"/>
    <p:sldId id="285" r:id="rId6"/>
    <p:sldId id="293" r:id="rId7"/>
    <p:sldId id="299" r:id="rId8"/>
    <p:sldId id="287" r:id="rId9"/>
    <p:sldId id="290" r:id="rId10"/>
    <p:sldId id="295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59562-622D-4CE0-A947-BAB1243434D1}" v="5" dt="2026-02-09T19:44:34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2920" autoAdjust="0"/>
  </p:normalViewPr>
  <p:slideViewPr>
    <p:cSldViewPr snapToGrid="0">
      <p:cViewPr varScale="1">
        <p:scale>
          <a:sx n="69" d="100"/>
          <a:sy n="69" d="100"/>
        </p:scale>
        <p:origin x="787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custSel modSld">
      <pc:chgData name="Zhao, Jie" userId="7be6526a-30ba-445c-b3a9-aabf2c8f5828" providerId="ADAL" clId="{DEC740C7-2239-4DCB-A2EC-28D5B021DFB5}" dt="2026-02-09T19:44:34.641" v="16" actId="115"/>
      <pc:docMkLst>
        <pc:docMk/>
      </pc:docMkLst>
      <pc:sldChg chg="modSp mod">
        <pc:chgData name="Zhao, Jie" userId="7be6526a-30ba-445c-b3a9-aabf2c8f5828" providerId="ADAL" clId="{DEC740C7-2239-4DCB-A2EC-28D5B021DFB5}" dt="2026-02-09T19:31:02.438" v="5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2-09T19:31:02.438" v="5" actId="20577"/>
          <ac:spMkLst>
            <pc:docMk/>
            <pc:sldMk cId="2199995263" sldId="256"/>
            <ac:spMk id="3" creationId="{2C5DF914-4B40-4A23-8AAC-9CFE7F215ACD}"/>
          </ac:spMkLst>
        </pc:spChg>
      </pc:sldChg>
      <pc:sldChg chg="addSp modSp mod modAnim">
        <pc:chgData name="Zhao, Jie" userId="7be6526a-30ba-445c-b3a9-aabf2c8f5828" providerId="ADAL" clId="{DEC740C7-2239-4DCB-A2EC-28D5B021DFB5}" dt="2026-02-09T19:44:34.641" v="16" actId="115"/>
        <pc:sldMkLst>
          <pc:docMk/>
          <pc:sldMk cId="1713008912" sldId="299"/>
        </pc:sldMkLst>
        <pc:spChg chg="mod">
          <ac:chgData name="Zhao, Jie" userId="7be6526a-30ba-445c-b3a9-aabf2c8f5828" providerId="ADAL" clId="{DEC740C7-2239-4DCB-A2EC-28D5B021DFB5}" dt="2026-02-09T19:44:34.641" v="16" actId="115"/>
          <ac:spMkLst>
            <pc:docMk/>
            <pc:sldMk cId="1713008912" sldId="299"/>
            <ac:spMk id="2" creationId="{291EEBBC-6556-3AAD-6D50-FD562835DE64}"/>
          </ac:spMkLst>
        </pc:spChg>
        <pc:spChg chg="mod">
          <ac:chgData name="Zhao, Jie" userId="7be6526a-30ba-445c-b3a9-aabf2c8f5828" providerId="ADAL" clId="{DEC740C7-2239-4DCB-A2EC-28D5B021DFB5}" dt="2026-02-09T19:42:32.513" v="9" actId="14100"/>
          <ac:spMkLst>
            <pc:docMk/>
            <pc:sldMk cId="1713008912" sldId="299"/>
            <ac:spMk id="3" creationId="{2436FB65-44E2-0FF5-AC4D-9FF40FD1E95A}"/>
          </ac:spMkLst>
        </pc:spChg>
        <pc:spChg chg="add mod">
          <ac:chgData name="Zhao, Jie" userId="7be6526a-30ba-445c-b3a9-aabf2c8f5828" providerId="ADAL" clId="{DEC740C7-2239-4DCB-A2EC-28D5B021DFB5}" dt="2026-02-09T19:43:00.557" v="14" actId="1076"/>
          <ac:spMkLst>
            <pc:docMk/>
            <pc:sldMk cId="1713008912" sldId="299"/>
            <ac:spMk id="4" creationId="{6C92B929-5BA0-BD1E-B0BB-AA7427E761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66252-275C-F32D-96B1-D966205AD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DBFAF-04F8-12E3-C606-AE7860D04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2D768-1EF9-71CC-DCCA-C87F78DEA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F777-663B-6927-7A26-1302A1AA4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89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or working load: The processes running in the systems.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95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CF2B8-0C46-59D6-4AF2-05DC439F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69A9C-1316-89B1-CA0B-057D28B89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37E06-120D-BCE1-32DC-59813B95D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EC5A4-94A7-D7F1-8B71-714848DB8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532FC-0C26-41ED-91C4-2A1C58AE2C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</a:t>
            </a:r>
            <a:r>
              <a:rPr lang="fr-FR" dirty="0" err="1"/>
              <a:t>Scheduling</a:t>
            </a:r>
            <a:r>
              <a:rPr lang="fr-FR" dirty="0"/>
              <a:t> </a:t>
            </a:r>
            <a:r>
              <a:rPr lang="fr-FR" dirty="0" err="1"/>
              <a:t>Policies</a:t>
            </a:r>
            <a:endParaRPr lang="fr-FR" dirty="0"/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02/09/2025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Assignment: Ch. 7 &amp;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79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A9298-9E16-44B1-FF00-1E719B5C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EDA1-92C3-386B-3BDE-29100017F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Agenda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5128B05-4B93-A04F-0751-5E6090529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6320" y="2659929"/>
            <a:ext cx="10313324" cy="2133599"/>
          </a:xfrm>
        </p:spPr>
        <p:txBody>
          <a:bodyPr numCol="2">
            <a:normAutofit fontScale="77500" lnSpcReduction="20000"/>
          </a:bodyPr>
          <a:lstStyle/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Definition of scheduling policies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FIFO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SJF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STCF</a:t>
            </a:r>
          </a:p>
          <a:p>
            <a:pPr marL="800100" lvl="1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RR</a:t>
            </a:r>
          </a:p>
          <a:p>
            <a:pPr lvl="1"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125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8CCCD-CE11-7932-3603-88F8B388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1ADA-6300-952A-B97B-38B0FE34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Motivation of scheduling policies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5A34AA5-C0FC-C13E-2499-335E3D238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35205"/>
            <a:ext cx="9144000" cy="47829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 a scenario where multiple processes are in the ready state and wait for the CPU resource to run, the OS will make a strategy to decide which process to run first, which process to run next, and which process to run last. 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 the strategy, there are the following factors that need to be considered: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Is the process exemptive? (This means that the process won’t be interrupted until its complement.)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If the processes are cooperative, how long is each process allocated to use the CPU resource?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02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Working load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64525" y="1279124"/>
                <a:ext cx="10062950" cy="5255504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400" b="0" i="0" u="none" strike="noStrike" baseline="0" dirty="0">
                    <a:latin typeface="URWPalladioL-Roma"/>
                  </a:rPr>
                  <a:t>Workload assumptions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b="0" i="0" u="none" strike="noStrike" baseline="0" dirty="0">
                    <a:latin typeface="URWPalladioL-Roma"/>
                  </a:rPr>
                  <a:t>1. Each job runs for the same amount of time.                  </a:t>
                </a:r>
                <a:r>
                  <a:rPr lang="en-US" b="0" i="0" u="none" strike="noStrike" baseline="0" dirty="0">
                    <a:solidFill>
                      <a:srgbClr val="C00000"/>
                    </a:solidFill>
                    <a:latin typeface="URWPalladioL-Roma"/>
                  </a:rPr>
                  <a:t>What is a job or workload?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b="0" i="0" u="none" strike="noStrike" baseline="0" dirty="0">
                    <a:latin typeface="URWPalladioL-Roma"/>
                  </a:rPr>
                  <a:t>2. All jobs arrive at the same time.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b="0" i="0" u="none" strike="noStrike" baseline="0" dirty="0">
                    <a:latin typeface="URWPalladioL-Roma"/>
                  </a:rPr>
                  <a:t>3. All jobs only use the CPU (i.e., they perform no I/O)</a:t>
                </a:r>
              </a:p>
              <a:p>
                <a:pPr lvl="1" algn="l">
                  <a:lnSpc>
                    <a:spcPct val="150000"/>
                  </a:lnSpc>
                </a:pPr>
                <a:r>
                  <a:rPr lang="en-US" b="0" i="0" u="none" strike="noStrike" baseline="0" dirty="0">
                    <a:latin typeface="URWPalladioL-Roma"/>
                  </a:rPr>
                  <a:t>4. The run-time of each job is known.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URWPalladioL-Roma"/>
                  </a:rPr>
                  <a:t>Scheduling metrics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𝑡𝑢𝑟𝑛𝑎𝑟𝑜𝑢𝑛𝑑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𝑐𝑜𝑚𝑝𝑙𝑒𝑡𝑖𝑜𝑛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𝑎𝑟𝑟𝑖𝑣𝑎𝑙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64525" y="1279124"/>
                <a:ext cx="10062950" cy="5255504"/>
              </a:xfrm>
              <a:blipFill>
                <a:blip r:embed="rId3"/>
                <a:stretch>
                  <a:fillRect l="-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79A64F6F-CF1E-D5A4-3C13-E25ABBB895C1}"/>
              </a:ext>
            </a:extLst>
          </p:cNvPr>
          <p:cNvSpPr/>
          <p:nvPr/>
        </p:nvSpPr>
        <p:spPr>
          <a:xfrm rot="10800000">
            <a:off x="6622253" y="2133600"/>
            <a:ext cx="524627" cy="17287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1AC5C7-2948-E09D-121D-F0E915257699}"/>
              </a:ext>
            </a:extLst>
          </p:cNvPr>
          <p:cNvSpPr/>
          <p:nvPr/>
        </p:nvSpPr>
        <p:spPr>
          <a:xfrm>
            <a:off x="3666699" y="4713027"/>
            <a:ext cx="4785814" cy="5823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A221C2-24D7-B3A4-7E38-D127A1A0E3DE}"/>
                  </a:ext>
                </a:extLst>
              </p:cNvPr>
              <p:cNvSpPr txBox="1"/>
              <p:nvPr/>
            </p:nvSpPr>
            <p:spPr>
              <a:xfrm>
                <a:off x="2754284" y="5634202"/>
                <a:ext cx="6096000" cy="491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𝑓𝑖𝑟𝑠𝑡𝑟𝑢𝑛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𝑎𝑟𝑟𝑖𝑣𝑎𝑙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A221C2-24D7-B3A4-7E38-D127A1A0E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284" y="5634202"/>
                <a:ext cx="6096000" cy="491288"/>
              </a:xfrm>
              <a:prstGeom prst="rect">
                <a:avLst/>
              </a:prstGeom>
              <a:blipFill>
                <a:blip r:embed="rId4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F097EF9-FBD3-03EB-2153-6713DA4A9407}"/>
              </a:ext>
            </a:extLst>
          </p:cNvPr>
          <p:cNvSpPr/>
          <p:nvPr/>
        </p:nvSpPr>
        <p:spPr>
          <a:xfrm>
            <a:off x="3666699" y="5538841"/>
            <a:ext cx="4785814" cy="5823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9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36852"/>
            <a:ext cx="10452740" cy="527339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First- In- First – Out (FIFO)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81704" y="811697"/>
                <a:ext cx="9391836" cy="3225819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/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u="sng" dirty="0"/>
                  <a:t>Question: if scheduler is FIFO, what is average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sng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u="sng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</m:sub>
                    </m:sSub>
                  </m:oMath>
                </a14:m>
                <a:r>
                  <a:rPr lang="en-US" sz="1800" u="sng" dirty="0"/>
                  <a:t>?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𝐶𝑎𝑠𝑒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10−0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20−0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+(30−0)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=20(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𝐶𝑎𝑠𝑒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100−0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110−0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+(120−0)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=110</m:t>
                    </m:r>
                    <m:r>
                      <m:rPr>
                        <m:nor/>
                      </m:rPr>
                      <a:rPr lang="en-US" sz="1800" dirty="0"/>
                      <m:t>(</m:t>
                    </m:r>
                    <m:r>
                      <m:rPr>
                        <m:nor/>
                      </m:rPr>
                      <a:rPr lang="en-US" sz="1800" dirty="0"/>
                      <m:t>right</m:t>
                    </m:r>
                    <m:r>
                      <m:rPr>
                        <m:nor/>
                      </m:rPr>
                      <a:rPr lang="en-US" sz="1800" dirty="0"/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nor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sz="1800" dirty="0"/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C5DF914-4B40-4A23-8AAC-9CFE7F215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81704" y="811697"/>
                <a:ext cx="9391836" cy="3225819"/>
              </a:xfrm>
              <a:blipFill>
                <a:blip r:embed="rId2"/>
                <a:stretch>
                  <a:fillRect l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63C66B4-2CF3-CE05-598E-507AAD26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641" y="4163763"/>
            <a:ext cx="4070510" cy="2011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595063-140A-5057-5F3E-C0BC76F7E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682" y="4163763"/>
            <a:ext cx="4321970" cy="2011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DB6723-5421-835A-477A-953A438696FF}"/>
              </a:ext>
            </a:extLst>
          </p:cNvPr>
          <p:cNvSpPr txBox="1"/>
          <p:nvPr/>
        </p:nvSpPr>
        <p:spPr>
          <a:xfrm>
            <a:off x="786938" y="4621877"/>
            <a:ext cx="1052945" cy="37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5A2BA-4E4B-08D7-B2DD-B52B2AD42757}"/>
              </a:ext>
            </a:extLst>
          </p:cNvPr>
          <p:cNvSpPr txBox="1"/>
          <p:nvPr/>
        </p:nvSpPr>
        <p:spPr>
          <a:xfrm>
            <a:off x="6277622" y="4616335"/>
            <a:ext cx="1052945" cy="37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B</a:t>
            </a:r>
          </a:p>
        </p:txBody>
      </p:sp>
    </p:spTree>
    <p:extLst>
      <p:ext uri="{BB962C8B-B14F-4D97-AF65-F5344CB8AC3E}">
        <p14:creationId xmlns:p14="http://schemas.microsoft.com/office/powerpoint/2010/main" val="1600943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AB5C7-A5BD-D49C-70E3-EE5D611A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EBBC-6556-3AAD-6D50-FD562835D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36852"/>
            <a:ext cx="10452740" cy="527339"/>
          </a:xfrm>
        </p:spPr>
        <p:txBody>
          <a:bodyPr>
            <a:noAutofit/>
          </a:bodyPr>
          <a:lstStyle/>
          <a:p>
            <a:r>
              <a:rPr lang="en-US" sz="3600" u="sng" dirty="0">
                <a:solidFill>
                  <a:srgbClr val="C00000"/>
                </a:solidFill>
              </a:rPr>
              <a:t>Practice</a:t>
            </a:r>
            <a:r>
              <a:rPr lang="en-US" sz="3600" dirty="0">
                <a:solidFill>
                  <a:srgbClr val="C00000"/>
                </a:solidFill>
              </a:rPr>
              <a:t>: First- In- First – Out (FIFO)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436FB65-44E2-0FF5-AC4D-9FF40FD1E95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81704" y="811697"/>
                <a:ext cx="9391836" cy="1754165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/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u="sng" dirty="0"/>
                  <a:t>Question: if scheduler is FIFO, what is average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sng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u="sng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</m:sub>
                    </m:sSub>
                  </m:oMath>
                </a14:m>
                <a:r>
                  <a:rPr lang="en-US" sz="1800" u="sng" dirty="0"/>
                  <a:t>?</a:t>
                </a:r>
              </a:p>
              <a:p>
                <a:pPr algn="l">
                  <a:lnSpc>
                    <a:spcPct val="160000"/>
                  </a:lnSpc>
                </a:pPr>
                <a:endParaRPr lang="en-US" sz="1800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436FB65-44E2-0FF5-AC4D-9FF40FD1E9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81704" y="811697"/>
                <a:ext cx="9391836" cy="1754165"/>
              </a:xfrm>
              <a:blipFill>
                <a:blip r:embed="rId2"/>
                <a:stretch>
                  <a:fillRect l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92B929-5BA0-BD1E-B0BB-AA7427E7618B}"/>
                  </a:ext>
                </a:extLst>
              </p:cNvPr>
              <p:cNvSpPr txBox="1"/>
              <p:nvPr/>
            </p:nvSpPr>
            <p:spPr>
              <a:xfrm>
                <a:off x="1581704" y="2621279"/>
                <a:ext cx="9549293" cy="3033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Case A</a:t>
                </a:r>
                <a:r>
                  <a:rPr lang="en-US" dirty="0"/>
                  <a:t>: Proc D is added,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𝑡𝑢𝑟𝑛𝑎𝑟𝑜𝑢𝑛𝑑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10−0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20−0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30−0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+(40−0)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dirty="0"/>
              </a:p>
              <a:p>
                <a:pPr marL="342900" indent="-342900">
                  <a:lnSpc>
                    <a:spcPct val="16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Case B</a:t>
                </a:r>
                <a:r>
                  <a:rPr lang="en-US" dirty="0">
                    <a:latin typeface="Cambria Math" panose="02040503050406030204" pitchFamily="18" charset="0"/>
                  </a:rPr>
                  <a:t>: The duration of three proc are changed.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𝑡𝑢𝑟𝑛𝑎𝑟𝑜𝑢𝑛𝑑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20−0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40−0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+(60−0)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92B929-5BA0-BD1E-B0BB-AA7427E76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704" y="2621279"/>
                <a:ext cx="9549293" cy="3033010"/>
              </a:xfrm>
              <a:prstGeom prst="rect">
                <a:avLst/>
              </a:prstGeom>
              <a:blipFill>
                <a:blip r:embed="rId3"/>
                <a:stretch>
                  <a:fillRect l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00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32303"/>
            <a:ext cx="10452740" cy="495494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Shortest Job First (SJF)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1F7A3-0E26-AF5E-5935-6CD9D240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449" y="4215438"/>
            <a:ext cx="3893329" cy="2011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FB0599-F241-176B-6867-940A7688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756" y="4124865"/>
            <a:ext cx="4464582" cy="2011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DCF168EB-49B1-FA4C-CE46-3D4DB03655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8460" y="721455"/>
                <a:ext cx="10563445" cy="31954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sz="1800" dirty="0"/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800" dirty="0"/>
                  <a:t>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u="sng" dirty="0"/>
                  <a:t>Question: if scheduler is SJF, what is average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u="sng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 u="sng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</m:sub>
                    </m:sSub>
                  </m:oMath>
                </a14:m>
                <a:r>
                  <a:rPr lang="en-US" sz="1800" u="sng" dirty="0"/>
                  <a:t>?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𝐶𝑎𝑠𝑒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10−0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20−0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+(120−0)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=50(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𝐶𝑎𝑠𝑒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100−0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110−10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+(120−10)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=103.33 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𝑟𝑖𝑔h𝑡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sz="18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DCF168EB-49B1-FA4C-CE46-3D4DB0365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460" y="721455"/>
                <a:ext cx="10563445" cy="3195452"/>
              </a:xfrm>
              <a:prstGeom prst="rect">
                <a:avLst/>
              </a:prstGeom>
              <a:blipFill>
                <a:blip r:embed="rId4"/>
                <a:stretch>
                  <a:fillRect l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AA0E405-28AB-0297-604B-AE2BA8D5F07B}"/>
              </a:ext>
            </a:extLst>
          </p:cNvPr>
          <p:cNvSpPr txBox="1"/>
          <p:nvPr/>
        </p:nvSpPr>
        <p:spPr>
          <a:xfrm>
            <a:off x="792479" y="4691150"/>
            <a:ext cx="1052945" cy="37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F1904-FEDE-B66D-24E0-08C7EF320837}"/>
              </a:ext>
            </a:extLst>
          </p:cNvPr>
          <p:cNvSpPr txBox="1"/>
          <p:nvPr/>
        </p:nvSpPr>
        <p:spPr>
          <a:xfrm>
            <a:off x="6353694" y="4691150"/>
            <a:ext cx="1052945" cy="37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B</a:t>
            </a:r>
          </a:p>
        </p:txBody>
      </p:sp>
    </p:spTree>
    <p:extLst>
      <p:ext uri="{BB962C8B-B14F-4D97-AF65-F5344CB8AC3E}">
        <p14:creationId xmlns:p14="http://schemas.microsoft.com/office/powerpoint/2010/main" val="134411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4105"/>
            <a:ext cx="10452740" cy="550085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Shortest Time-to-Completion First (STCF)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482CA-4E0D-3E94-4BCD-ABE2472BF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119" y="4290495"/>
            <a:ext cx="4095422" cy="21945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A074A857-CCD7-7ADA-FEDD-5D95524B42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50110" y="995652"/>
                <a:ext cx="8767848" cy="29349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                   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800" dirty="0"/>
                  <a:t>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Preemptive scheduler</a:t>
                </a:r>
                <a:endParaRPr lang="en-US" sz="1800" b="1" i="1" dirty="0">
                  <a:latin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u="sng" dirty="0"/>
                  <a:t>Question: if scheduler is STCF, what is average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u="sng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 u="sng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</m:sub>
                    </m:sSub>
                  </m:oMath>
                </a14:m>
                <a:r>
                  <a:rPr lang="en-US" sz="1800" u="sng" dirty="0"/>
                  <a:t>?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120−0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20−10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+(30−10)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Subtitle 2">
                <a:extLst>
                  <a:ext uri="{FF2B5EF4-FFF2-40B4-BE49-F238E27FC236}">
                    <a16:creationId xmlns:a16="http://schemas.microsoft.com/office/drawing/2014/main" id="{A074A857-CCD7-7ADA-FEDD-5D95524B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10" y="995652"/>
                <a:ext cx="8767848" cy="2934903"/>
              </a:xfrm>
              <a:prstGeom prst="rect">
                <a:avLst/>
              </a:prstGeom>
              <a:blipFill>
                <a:blip r:embed="rId3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63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43058"/>
            <a:ext cx="10452740" cy="64851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Round Robin (RR)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017FD-AE88-2289-1078-4CAA1C37D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273" y="1639285"/>
            <a:ext cx="4062473" cy="365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Subtitle 2">
                <a:extLst>
                  <a:ext uri="{FF2B5EF4-FFF2-40B4-BE49-F238E27FC236}">
                    <a16:creationId xmlns:a16="http://schemas.microsoft.com/office/drawing/2014/main" id="{B6770250-3ECA-4C31-F3A8-4D5CA8819B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3532" y="885663"/>
                <a:ext cx="6462533" cy="51648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i="1" dirty="0">
                    <a:latin typeface="Cambria Math" panose="02040503050406030204" pitchFamily="18" charset="0"/>
                  </a:rPr>
                  <a:t>Round Robin: Running a job not to completion, but for a time slice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𝑎𝑟𝑟𝑖𝑣𝑎𝑙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Preemptive scheduler</a:t>
                </a:r>
                <a:endParaRPr lang="en-US" sz="1800" b="1" i="1" dirty="0">
                  <a:latin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u="sng" dirty="0"/>
                  <a:t>Question: if scheduler is RR, what is average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u="sng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u="sng" smtClean="0">
                            <a:latin typeface="Cambria Math" panose="02040503050406030204" pitchFamily="18" charset="0"/>
                          </a:rPr>
                          <m:t>𝑟𝑒𝑠𝑝𝑜𝑛𝑠𝑒</m:t>
                        </m:r>
                      </m:sub>
                    </m:sSub>
                  </m:oMath>
                </a14:m>
                <a:r>
                  <a:rPr lang="en-US" sz="1800" u="sng" dirty="0"/>
                  <a:t>?</a:t>
                </a: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𝐶𝑎𝑠𝑒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𝑟𝑒𝑠𝑝𝑜𝑛𝑠𝑒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(0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−0)+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5−0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10−0</m:t>
                            </m:r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=5(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𝑡𝑜𝑝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𝐶𝑎𝑠𝑒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𝑟𝑒𝑠𝑝𝑜𝑛𝑠𝑒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1−0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2−0</m:t>
                            </m:r>
                          </m:e>
                        </m:d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𝑑𝑜𝑤𝑛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Trade-off: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𝑟𝑒𝑠𝑝𝑜𝑛𝑠𝑒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𝑐𝑜𝑛𝑡𝑒𝑥𝑡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𝑠𝑤𝑖𝑡𝑐h</m:t>
                        </m:r>
                      </m:sub>
                    </m:sSub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Subtitle 2">
                <a:extLst>
                  <a:ext uri="{FF2B5EF4-FFF2-40B4-BE49-F238E27FC236}">
                    <a16:creationId xmlns:a16="http://schemas.microsoft.com/office/drawing/2014/main" id="{B6770250-3ECA-4C31-F3A8-4D5CA8819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32" y="885663"/>
                <a:ext cx="6462533" cy="5164844"/>
              </a:xfrm>
              <a:prstGeom prst="rect">
                <a:avLst/>
              </a:prstGeom>
              <a:blipFill>
                <a:blip r:embed="rId3"/>
                <a:stretch>
                  <a:fillRect l="-660" r="-1038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6DC0091-E9D6-FE8B-0828-B80347FDCE78}"/>
              </a:ext>
            </a:extLst>
          </p:cNvPr>
          <p:cNvSpPr txBox="1"/>
          <p:nvPr/>
        </p:nvSpPr>
        <p:spPr>
          <a:xfrm>
            <a:off x="7253800" y="2047703"/>
            <a:ext cx="1052945" cy="37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E4851-83C5-0CC1-C1A8-535CE785ADA3}"/>
              </a:ext>
            </a:extLst>
          </p:cNvPr>
          <p:cNvSpPr txBox="1"/>
          <p:nvPr/>
        </p:nvSpPr>
        <p:spPr>
          <a:xfrm>
            <a:off x="7253799" y="3920837"/>
            <a:ext cx="1052945" cy="37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B</a:t>
            </a:r>
          </a:p>
        </p:txBody>
      </p:sp>
    </p:spTree>
    <p:extLst>
      <p:ext uri="{BB962C8B-B14F-4D97-AF65-F5344CB8AC3E}">
        <p14:creationId xmlns:p14="http://schemas.microsoft.com/office/powerpoint/2010/main" val="3647568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2ABFB-5BCB-7D54-28E2-27DD3A0F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9F73-5839-A5CE-DA34-3EDD6F6A2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Summary[1]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8EBF59-AF9D-2659-A7EB-F7AF6A59D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71" y="1065600"/>
            <a:ext cx="11912602" cy="4114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16BD43-2F90-EEA2-880A-66CCDFB93703}"/>
              </a:ext>
            </a:extLst>
          </p:cNvPr>
          <p:cNvSpPr txBox="1"/>
          <p:nvPr/>
        </p:nvSpPr>
        <p:spPr>
          <a:xfrm>
            <a:off x="1112288" y="5792400"/>
            <a:ext cx="100805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[1] https://wiki.linuxfoundation.org/realtime/documentation/technical_basics/sched_policy_prio/start</a:t>
            </a:r>
          </a:p>
        </p:txBody>
      </p:sp>
    </p:spTree>
    <p:extLst>
      <p:ext uri="{BB962C8B-B14F-4D97-AF65-F5344CB8AC3E}">
        <p14:creationId xmlns:p14="http://schemas.microsoft.com/office/powerpoint/2010/main" val="299329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641</Words>
  <Application>Microsoft Office PowerPoint</Application>
  <PresentationFormat>Widescreen</PresentationFormat>
  <Paragraphs>74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URWPalladioL-Roma</vt:lpstr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Reading Assignment</vt:lpstr>
      <vt:lpstr>Agenda</vt:lpstr>
      <vt:lpstr>Motivation of scheduling policies</vt:lpstr>
      <vt:lpstr>Working load assumptions</vt:lpstr>
      <vt:lpstr>First- In- First – Out (FIFO)</vt:lpstr>
      <vt:lpstr>Practice: First- In- First – Out (FIFO)</vt:lpstr>
      <vt:lpstr>Shortest Job First (SJF)</vt:lpstr>
      <vt:lpstr>Shortest Time-to-Completion First (STCF)</vt:lpstr>
      <vt:lpstr>Round Robin (RR)</vt:lpstr>
      <vt:lpstr>Summary[1]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15</cp:revision>
  <dcterms:created xsi:type="dcterms:W3CDTF">2023-08-19T20:44:10Z</dcterms:created>
  <dcterms:modified xsi:type="dcterms:W3CDTF">2026-02-09T19:44:45Z</dcterms:modified>
</cp:coreProperties>
</file>