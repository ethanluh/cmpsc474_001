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349" r:id="rId4"/>
    <p:sldId id="322" r:id="rId5"/>
    <p:sldId id="281" r:id="rId6"/>
    <p:sldId id="338" r:id="rId7"/>
    <p:sldId id="340" r:id="rId8"/>
    <p:sldId id="341" r:id="rId9"/>
    <p:sldId id="342" r:id="rId10"/>
    <p:sldId id="343" r:id="rId11"/>
    <p:sldId id="345" r:id="rId12"/>
    <p:sldId id="344" r:id="rId13"/>
    <p:sldId id="350" r:id="rId14"/>
    <p:sldId id="351" r:id="rId15"/>
    <p:sldId id="352" r:id="rId16"/>
    <p:sldId id="346" r:id="rId17"/>
    <p:sldId id="347" r:id="rId18"/>
    <p:sldId id="34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09" autoAdjust="0"/>
    <p:restoredTop sz="77123" autoAdjust="0"/>
  </p:normalViewPr>
  <p:slideViewPr>
    <p:cSldViewPr snapToGrid="0">
      <p:cViewPr varScale="1">
        <p:scale>
          <a:sx n="64" d="100"/>
          <a:sy n="64" d="100"/>
        </p:scale>
        <p:origin x="98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undo custSel addSld modSld">
      <pc:chgData name="Zhao, Jie" userId="7be6526a-30ba-445c-b3a9-aabf2c8f5828" providerId="ADAL" clId="{DEC740C7-2239-4DCB-A2EC-28D5B021DFB5}" dt="2026-04-12T22:17:06.857" v="304" actId="20577"/>
      <pc:docMkLst>
        <pc:docMk/>
      </pc:docMkLst>
      <pc:sldChg chg="modSp mod">
        <pc:chgData name="Zhao, Jie" userId="7be6526a-30ba-445c-b3a9-aabf2c8f5828" providerId="ADAL" clId="{DEC740C7-2239-4DCB-A2EC-28D5B021DFB5}" dt="2026-04-12T22:17:06.857" v="304" actId="20577"/>
        <pc:sldMkLst>
          <pc:docMk/>
          <pc:sldMk cId="2199995263" sldId="256"/>
        </pc:sldMkLst>
        <pc:spChg chg="mod">
          <ac:chgData name="Zhao, Jie" userId="7be6526a-30ba-445c-b3a9-aabf2c8f5828" providerId="ADAL" clId="{DEC740C7-2239-4DCB-A2EC-28D5B021DFB5}" dt="2026-04-12T22:17:06.857" v="304"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7AA05-894D-3AF4-0551-9D6C6AEB3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99B458-6A63-FD60-9BEA-FF780B0973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58083-B160-47DC-81E2-90C7507021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790B0D-0259-BA16-C0AA-D9A90FF5CC3B}"/>
              </a:ext>
            </a:extLst>
          </p:cNvPr>
          <p:cNvSpPr>
            <a:spLocks noGrp="1"/>
          </p:cNvSpPr>
          <p:nvPr>
            <p:ph type="sldNum" sz="quarter" idx="5"/>
          </p:nvPr>
        </p:nvSpPr>
        <p:spPr/>
        <p:txBody>
          <a:bodyPr/>
          <a:lstStyle/>
          <a:p>
            <a:fld id="{7B9532FC-0C26-41ED-91C4-2A1C58AE2C83}" type="slidenum">
              <a:rPr lang="en-US" smtClean="0"/>
              <a:t>13</a:t>
            </a:fld>
            <a:endParaRPr lang="en-US"/>
          </a:p>
        </p:txBody>
      </p:sp>
    </p:spTree>
    <p:extLst>
      <p:ext uri="{BB962C8B-B14F-4D97-AF65-F5344CB8AC3E}">
        <p14:creationId xmlns:p14="http://schemas.microsoft.com/office/powerpoint/2010/main" val="3200936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AA9B7-395F-4758-0EA4-7C037D31C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0289E-93D3-4629-09BF-A52882A9F2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FD21A-3F4F-AC55-F636-F4EBFD51C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E2740C-DB06-10C0-5E5F-3BFBEA5C6618}"/>
              </a:ext>
            </a:extLst>
          </p:cNvPr>
          <p:cNvSpPr>
            <a:spLocks noGrp="1"/>
          </p:cNvSpPr>
          <p:nvPr>
            <p:ph type="sldNum" sz="quarter" idx="5"/>
          </p:nvPr>
        </p:nvSpPr>
        <p:spPr/>
        <p:txBody>
          <a:bodyPr/>
          <a:lstStyle/>
          <a:p>
            <a:fld id="{7B9532FC-0C26-41ED-91C4-2A1C58AE2C83}" type="slidenum">
              <a:rPr lang="en-US" smtClean="0"/>
              <a:t>14</a:t>
            </a:fld>
            <a:endParaRPr lang="en-US"/>
          </a:p>
        </p:txBody>
      </p:sp>
    </p:spTree>
    <p:extLst>
      <p:ext uri="{BB962C8B-B14F-4D97-AF65-F5344CB8AC3E}">
        <p14:creationId xmlns:p14="http://schemas.microsoft.com/office/powerpoint/2010/main" val="4616473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EFD5F-9ECC-FD0B-FAE8-192FBD134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6860A-CF6A-5C87-EA66-E962CE3B9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326548-4A04-17F0-4A28-ECB4515B0D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CD6C55-7812-C459-1330-0A0A87BE93BD}"/>
              </a:ext>
            </a:extLst>
          </p:cNvPr>
          <p:cNvSpPr>
            <a:spLocks noGrp="1"/>
          </p:cNvSpPr>
          <p:nvPr>
            <p:ph type="sldNum" sz="quarter" idx="5"/>
          </p:nvPr>
        </p:nvSpPr>
        <p:spPr/>
        <p:txBody>
          <a:bodyPr/>
          <a:lstStyle/>
          <a:p>
            <a:fld id="{7B9532FC-0C26-41ED-91C4-2A1C58AE2C83}" type="slidenum">
              <a:rPr lang="en-US" smtClean="0"/>
              <a:t>15</a:t>
            </a:fld>
            <a:endParaRPr lang="en-US"/>
          </a:p>
        </p:txBody>
      </p:sp>
    </p:spTree>
    <p:extLst>
      <p:ext uri="{BB962C8B-B14F-4D97-AF65-F5344CB8AC3E}">
        <p14:creationId xmlns:p14="http://schemas.microsoft.com/office/powerpoint/2010/main" val="170857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16</a:t>
            </a:fld>
            <a:endParaRPr lang="en-US"/>
          </a:p>
        </p:txBody>
      </p:sp>
    </p:spTree>
    <p:extLst>
      <p:ext uri="{BB962C8B-B14F-4D97-AF65-F5344CB8AC3E}">
        <p14:creationId xmlns:p14="http://schemas.microsoft.com/office/powerpoint/2010/main" val="206668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4/12/2026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4/12/2026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exploredatabase.com/2021/06/find-single-source-shortest-path-using-Dijkstras-algorithm.html" TargetMode="Externa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en.wikipedia.org/wiki/Deadlock_(computer_science)"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Semaphores</a:t>
            </a:r>
          </a:p>
          <a:p>
            <a:r>
              <a:rPr lang="en-US" dirty="0"/>
              <a:t>Lecture: Dr. Zhao Jie</a:t>
            </a:r>
          </a:p>
          <a:p>
            <a:r>
              <a:rPr lang="en-US" dirty="0"/>
              <a:t>Date: 04/15/2025</a:t>
            </a:r>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b="0" i="0" dirty="0">
                <a:solidFill>
                  <a:srgbClr val="000000"/>
                </a:solidFill>
                <a:effectLst/>
                <a:latin typeface="Arial" panose="020B0604020202020204" pitchFamily="34" charset="0"/>
              </a:rPr>
              <a:t>Chapters</a:t>
            </a:r>
            <a:r>
              <a:rPr lang="en-US" dirty="0">
                <a:solidFill>
                  <a:srgbClr val="000000"/>
                </a:solidFill>
                <a:latin typeface="Arial" panose="020B0604020202020204" pitchFamily="34" charset="0"/>
              </a:rPr>
              <a:t> 31</a:t>
            </a:r>
            <a:endParaRPr lang="pl-PL" b="0" i="0" dirty="0">
              <a:solidFill>
                <a:srgbClr val="000000"/>
              </a:solidFill>
              <a:effectLst/>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2</a:t>
            </a:fld>
            <a:endParaRPr lang="en-US"/>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630441"/>
            <a:ext cx="9144000" cy="1079299"/>
          </a:xfrm>
        </p:spPr>
        <p:txBody>
          <a:bodyPr/>
          <a:lstStyle/>
          <a:p>
            <a:r>
              <a:rPr lang="en-US" b="0" i="0" dirty="0">
                <a:solidFill>
                  <a:srgbClr val="000000"/>
                </a:solidFill>
                <a:effectLst/>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860630" y="2085756"/>
            <a:ext cx="8470739" cy="3140213"/>
          </a:xfrm>
        </p:spPr>
        <p:txBody>
          <a:bodyPr>
            <a:normAutofit/>
          </a:bodyPr>
          <a:lstStyle/>
          <a:p>
            <a:pPr marL="342900" indent="-342900" algn="l">
              <a:lnSpc>
                <a:spcPct val="150000"/>
              </a:lnSpc>
              <a:buFont typeface="Arial" panose="020B0604020202020204" pitchFamily="34" charset="0"/>
              <a:buChar char="•"/>
            </a:pPr>
            <a:r>
              <a:rPr lang="en-US" dirty="0"/>
              <a:t>Semaphore </a:t>
            </a:r>
          </a:p>
          <a:p>
            <a:pPr marL="342900" indent="-342900" algn="l">
              <a:lnSpc>
                <a:spcPct val="150000"/>
              </a:lnSpc>
              <a:buFont typeface="Arial" panose="020B0604020202020204" pitchFamily="34" charset="0"/>
              <a:buChar char="•"/>
            </a:pPr>
            <a:r>
              <a:rPr lang="en-US" dirty="0"/>
              <a:t>Parent waiting for child </a:t>
            </a:r>
          </a:p>
          <a:p>
            <a:pPr marL="342900" indent="-342900" algn="l">
              <a:lnSpc>
                <a:spcPct val="150000"/>
              </a:lnSpc>
              <a:buFont typeface="Arial" panose="020B0604020202020204" pitchFamily="34" charset="0"/>
              <a:buChar char="•"/>
            </a:pPr>
            <a:r>
              <a:rPr lang="en-US" dirty="0"/>
              <a:t>Bounded buffer between producer and consumer</a:t>
            </a:r>
          </a:p>
          <a:p>
            <a:pPr marL="342900" indent="-342900" algn="l">
              <a:lnSpc>
                <a:spcPct val="150000"/>
              </a:lnSpc>
              <a:buFont typeface="Arial" panose="020B0604020202020204" pitchFamily="34" charset="0"/>
              <a:buChar char="•"/>
            </a:pPr>
            <a:r>
              <a:rPr lang="en-US" dirty="0"/>
              <a:t>Philosopher dining problem</a:t>
            </a:r>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3</a:t>
            </a:fld>
            <a:endParaRPr lang="en-US"/>
          </a:p>
        </p:txBody>
      </p:sp>
    </p:spTree>
    <p:extLst>
      <p:ext uri="{BB962C8B-B14F-4D97-AF65-F5344CB8AC3E}">
        <p14:creationId xmlns:p14="http://schemas.microsoft.com/office/powerpoint/2010/main" val="1733646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15029"/>
            <a:ext cx="10452740" cy="742228"/>
          </a:xfrm>
        </p:spPr>
        <p:txBody>
          <a:bodyPr>
            <a:noAutofit/>
          </a:bodyPr>
          <a:lstStyle/>
          <a:p>
            <a:r>
              <a:rPr lang="en-US" sz="4200" dirty="0">
                <a:solidFill>
                  <a:srgbClr val="C00000"/>
                </a:solidFill>
              </a:rPr>
              <a:t>The motivation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49561" y="953585"/>
            <a:ext cx="9705735" cy="4891630"/>
          </a:xfrm>
        </p:spPr>
        <p:txBody>
          <a:bodyPr>
            <a:noAutofit/>
          </a:bodyPr>
          <a:lstStyle/>
          <a:p>
            <a:pPr marL="342900" indent="-342900" algn="l">
              <a:lnSpc>
                <a:spcPct val="150000"/>
              </a:lnSpc>
              <a:buFont typeface="Arial" panose="020B0604020202020204" pitchFamily="34" charset="0"/>
              <a:buChar char="•"/>
            </a:pPr>
            <a:r>
              <a:rPr lang="en-US" dirty="0"/>
              <a:t>Inventor</a:t>
            </a:r>
          </a:p>
          <a:p>
            <a:pPr lvl="1" algn="l">
              <a:lnSpc>
                <a:spcPct val="150000"/>
              </a:lnSpc>
            </a:pPr>
            <a:r>
              <a:rPr lang="en-US" dirty="0" err="1"/>
              <a:t>Edsger</a:t>
            </a:r>
            <a:r>
              <a:rPr lang="en-US" dirty="0"/>
              <a:t> Dijkstra, who introduced the “shortest paths” algorithm in graph theory [1]</a:t>
            </a:r>
          </a:p>
          <a:p>
            <a:pPr algn="l">
              <a:lnSpc>
                <a:spcPct val="150000"/>
              </a:lnSpc>
            </a:pPr>
            <a:endParaRPr lang="en-US" dirty="0"/>
          </a:p>
          <a:p>
            <a:pPr algn="l">
              <a:lnSpc>
                <a:spcPct val="150000"/>
              </a:lnSpc>
            </a:pPr>
            <a:endParaRPr lang="en-US" b="1" dirty="0"/>
          </a:p>
          <a:p>
            <a:pPr algn="l">
              <a:lnSpc>
                <a:spcPct val="150000"/>
              </a:lnSpc>
            </a:pPr>
            <a:endParaRPr lang="en-US" dirty="0"/>
          </a:p>
          <a:p>
            <a:pPr marL="342900" indent="-342900" algn="l">
              <a:lnSpc>
                <a:spcPct val="150000"/>
              </a:lnSpc>
              <a:buFont typeface="Arial" panose="020B0604020202020204" pitchFamily="34" charset="0"/>
              <a:buChar char="•"/>
            </a:pPr>
            <a:r>
              <a:rPr lang="en-US" dirty="0"/>
              <a:t>Background</a:t>
            </a:r>
          </a:p>
          <a:p>
            <a:pPr lvl="1" algn="l">
              <a:lnSpc>
                <a:spcPct val="150000"/>
              </a:lnSpc>
            </a:pPr>
            <a:r>
              <a:rPr lang="en-US" dirty="0"/>
              <a:t>Both locks and condition variables are necessary to solve the concurrency problem.</a:t>
            </a:r>
          </a:p>
          <a:p>
            <a:pPr algn="l">
              <a:lnSpc>
                <a:spcPct val="150000"/>
              </a:lnSpc>
            </a:pPr>
            <a:endParaRPr lang="en-US" dirty="0"/>
          </a:p>
        </p:txBody>
      </p:sp>
      <p:pic>
        <p:nvPicPr>
          <p:cNvPr id="1026" name="Picture 2">
            <a:extLst>
              <a:ext uri="{FF2B5EF4-FFF2-40B4-BE49-F238E27FC236}">
                <a16:creationId xmlns:a16="http://schemas.microsoft.com/office/drawing/2014/main" id="{951529D6-6B34-BA79-343F-F02FBB4AD5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2266950"/>
            <a:ext cx="3810000" cy="2324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DBCF0A7-C077-2AA2-6078-CE2E0F980F59}"/>
              </a:ext>
            </a:extLst>
          </p:cNvPr>
          <p:cNvSpPr txBox="1"/>
          <p:nvPr/>
        </p:nvSpPr>
        <p:spPr>
          <a:xfrm>
            <a:off x="780326" y="6163518"/>
            <a:ext cx="10631347" cy="369332"/>
          </a:xfrm>
          <a:prstGeom prst="rect">
            <a:avLst/>
          </a:prstGeom>
          <a:noFill/>
        </p:spPr>
        <p:txBody>
          <a:bodyPr wrap="square" rtlCol="0">
            <a:spAutoFit/>
          </a:bodyPr>
          <a:lstStyle/>
          <a:p>
            <a:r>
              <a:rPr lang="en-US" dirty="0"/>
              <a:t>[1] </a:t>
            </a:r>
            <a:r>
              <a:rPr lang="en-US" dirty="0">
                <a:hlinkClick r:id="rId3"/>
              </a:rPr>
              <a:t>https://www.exploredatabase.com/2021/06/find-single-source-shortest-path-using-Dijkstras-algorithm.html</a:t>
            </a:r>
            <a:r>
              <a:rPr lang="en-US" dirty="0"/>
              <a:t> </a:t>
            </a:r>
          </a:p>
        </p:txBody>
      </p:sp>
    </p:spTree>
    <p:extLst>
      <p:ext uri="{BB962C8B-B14F-4D97-AF65-F5344CB8AC3E}">
        <p14:creationId xmlns:p14="http://schemas.microsoft.com/office/powerpoint/2010/main" val="135764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99082"/>
            <a:ext cx="9755080" cy="737510"/>
          </a:xfrm>
        </p:spPr>
        <p:txBody>
          <a:bodyPr>
            <a:noAutofit/>
          </a:bodyPr>
          <a:lstStyle/>
          <a:p>
            <a:r>
              <a:rPr lang="en-US" sz="4200" dirty="0">
                <a:solidFill>
                  <a:srgbClr val="C00000"/>
                </a:solidFill>
              </a:rPr>
              <a:t>Definition of Semaphore</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671439" y="1050780"/>
            <a:ext cx="8817527" cy="3399686"/>
          </a:xfrm>
        </p:spPr>
        <p:txBody>
          <a:bodyPr>
            <a:normAutofit lnSpcReduction="10000"/>
          </a:bodyPr>
          <a:lstStyle/>
          <a:p>
            <a:pPr marL="342900" indent="-342900" algn="l">
              <a:lnSpc>
                <a:spcPct val="100000"/>
              </a:lnSpc>
              <a:buFont typeface="Arial" panose="020B0604020202020204" pitchFamily="34" charset="0"/>
              <a:buChar char="•"/>
            </a:pPr>
            <a:r>
              <a:rPr lang="en-US" dirty="0"/>
              <a:t>Definition</a:t>
            </a:r>
          </a:p>
          <a:p>
            <a:pPr marL="800100" lvl="1" indent="-342900" algn="l">
              <a:lnSpc>
                <a:spcPct val="100000"/>
              </a:lnSpc>
              <a:buFont typeface="Wingdings" panose="05000000000000000000" pitchFamily="2" charset="2"/>
              <a:buChar char="§"/>
            </a:pPr>
            <a:r>
              <a:rPr lang="en-US" dirty="0"/>
              <a:t>An object with an integer value</a:t>
            </a:r>
          </a:p>
          <a:p>
            <a:pPr marL="800100" lvl="1" indent="-342900" algn="l">
              <a:lnSpc>
                <a:spcPct val="100000"/>
              </a:lnSpc>
              <a:buFont typeface="Wingdings" panose="05000000000000000000" pitchFamily="2" charset="2"/>
              <a:buChar char="§"/>
            </a:pPr>
            <a:r>
              <a:rPr lang="en-US" dirty="0" err="1"/>
              <a:t>sem_wait</a:t>
            </a:r>
            <a:r>
              <a:rPr lang="en-US" dirty="0"/>
              <a:t>( ) – </a:t>
            </a:r>
            <a:r>
              <a:rPr lang="en-US" b="1" dirty="0"/>
              <a:t>decremental</a:t>
            </a:r>
            <a:r>
              <a:rPr lang="en-US" dirty="0"/>
              <a:t> the value and the caller’s self-sleep if negative</a:t>
            </a:r>
          </a:p>
          <a:p>
            <a:pPr marL="800100" lvl="1" indent="-342900" algn="l">
              <a:lnSpc>
                <a:spcPct val="100000"/>
              </a:lnSpc>
              <a:buFont typeface="Wingdings" panose="05000000000000000000" pitchFamily="2" charset="2"/>
              <a:buChar char="§"/>
            </a:pPr>
            <a:r>
              <a:rPr lang="en-US" dirty="0" err="1"/>
              <a:t>sem_post</a:t>
            </a:r>
            <a:r>
              <a:rPr lang="en-US" dirty="0"/>
              <a:t>( ) – </a:t>
            </a:r>
            <a:r>
              <a:rPr lang="en-US" b="1" dirty="0"/>
              <a:t>incremental</a:t>
            </a:r>
            <a:r>
              <a:rPr lang="en-US" dirty="0"/>
              <a:t> the value and the caller’s being woken</a:t>
            </a:r>
          </a:p>
          <a:p>
            <a:pPr marL="342900" indent="-342900" algn="l">
              <a:lnSpc>
                <a:spcPct val="150000"/>
              </a:lnSpc>
              <a:buFont typeface="Arial" panose="020B0604020202020204" pitchFamily="34" charset="0"/>
              <a:buChar char="•"/>
            </a:pPr>
            <a:r>
              <a:rPr lang="en-US" dirty="0"/>
              <a:t>Init function</a:t>
            </a:r>
          </a:p>
          <a:p>
            <a:pPr marL="800100" lvl="1" indent="-342900" algn="l">
              <a:lnSpc>
                <a:spcPct val="100000"/>
              </a:lnSpc>
              <a:buFont typeface="Wingdings" panose="05000000000000000000" pitchFamily="2" charset="2"/>
              <a:buChar char="§"/>
            </a:pPr>
            <a:r>
              <a:rPr lang="en-US" dirty="0" err="1"/>
              <a:t>Func</a:t>
            </a:r>
            <a:r>
              <a:rPr lang="en-US" dirty="0"/>
              <a:t>: Initialize a semaphore</a:t>
            </a:r>
          </a:p>
          <a:p>
            <a:pPr marL="800100" lvl="1" indent="-342900" algn="l">
              <a:lnSpc>
                <a:spcPct val="100000"/>
              </a:lnSpc>
              <a:buFont typeface="Wingdings" panose="05000000000000000000" pitchFamily="2" charset="2"/>
              <a:buChar char="§"/>
            </a:pPr>
            <a:r>
              <a:rPr lang="en-US" dirty="0"/>
              <a:t>Arg2: set the value by 0, Semaphore is shared with all threads in the same process.</a:t>
            </a:r>
          </a:p>
          <a:p>
            <a:pPr marL="800100" lvl="1" indent="-342900" algn="l">
              <a:lnSpc>
                <a:spcPct val="100000"/>
              </a:lnSpc>
              <a:buFont typeface="Wingdings" panose="05000000000000000000" pitchFamily="2" charset="2"/>
              <a:buChar char="§"/>
            </a:pPr>
            <a:r>
              <a:rPr lang="en-US" dirty="0"/>
              <a:t>Arg3: Pass value 1 to the 3</a:t>
            </a:r>
            <a:r>
              <a:rPr lang="en-US" baseline="30000" dirty="0"/>
              <a:t>rd</a:t>
            </a:r>
            <a:r>
              <a:rPr lang="en-US" dirty="0"/>
              <a:t> argument</a:t>
            </a:r>
          </a:p>
          <a:p>
            <a:pPr algn="l">
              <a:lnSpc>
                <a:spcPct val="150000"/>
              </a:lnSpc>
            </a:pPr>
            <a:endParaRPr lang="en-US" dirty="0"/>
          </a:p>
          <a:p>
            <a:pPr algn="l">
              <a:lnSpc>
                <a:spcPct val="150000"/>
              </a:lnSpc>
            </a:pPr>
            <a:endParaRPr lang="en-US" dirty="0"/>
          </a:p>
          <a:p>
            <a:pPr algn="l">
              <a:lnSpc>
                <a:spcPct val="150000"/>
              </a:lnSpc>
            </a:pPr>
            <a:endParaRPr lang="en-US" dirty="0"/>
          </a:p>
        </p:txBody>
      </p:sp>
      <p:pic>
        <p:nvPicPr>
          <p:cNvPr id="8" name="Picture 7">
            <a:extLst>
              <a:ext uri="{FF2B5EF4-FFF2-40B4-BE49-F238E27FC236}">
                <a16:creationId xmlns:a16="http://schemas.microsoft.com/office/drawing/2014/main" id="{4D3BB7E9-5482-039F-6A1A-19AA96FC50A8}"/>
              </a:ext>
            </a:extLst>
          </p:cNvPr>
          <p:cNvPicPr>
            <a:picLocks noChangeAspect="1"/>
          </p:cNvPicPr>
          <p:nvPr/>
        </p:nvPicPr>
        <p:blipFill>
          <a:blip r:embed="rId2"/>
          <a:stretch>
            <a:fillRect/>
          </a:stretch>
        </p:blipFill>
        <p:spPr>
          <a:xfrm>
            <a:off x="2012822" y="4903613"/>
            <a:ext cx="8123181" cy="1645920"/>
          </a:xfrm>
          <a:prstGeom prst="rect">
            <a:avLst/>
          </a:prstGeom>
        </p:spPr>
      </p:pic>
      <p:sp>
        <p:nvSpPr>
          <p:cNvPr id="9" name="Rectangle 8">
            <a:extLst>
              <a:ext uri="{FF2B5EF4-FFF2-40B4-BE49-F238E27FC236}">
                <a16:creationId xmlns:a16="http://schemas.microsoft.com/office/drawing/2014/main" id="{158EC97B-2413-484B-CEF4-1C372217B13B}"/>
              </a:ext>
            </a:extLst>
          </p:cNvPr>
          <p:cNvSpPr/>
          <p:nvPr/>
        </p:nvSpPr>
        <p:spPr>
          <a:xfrm>
            <a:off x="1687236" y="4826642"/>
            <a:ext cx="8817527" cy="17998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0905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Binary semaphore (lock)</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687235" y="917672"/>
            <a:ext cx="9187180" cy="5608138"/>
          </a:xfrm>
        </p:spPr>
        <p:txBody>
          <a:bodyPr>
            <a:noAutofit/>
          </a:bodyPr>
          <a:lstStyle/>
          <a:p>
            <a:pPr marL="342900" indent="-342900" algn="l">
              <a:lnSpc>
                <a:spcPct val="150000"/>
              </a:lnSpc>
              <a:buFont typeface="Arial" panose="020B0604020202020204" pitchFamily="34" charset="0"/>
              <a:buChar char="•"/>
            </a:pPr>
            <a:r>
              <a:rPr lang="en-US" sz="2000" dirty="0"/>
              <a:t>Implementation</a:t>
            </a:r>
          </a:p>
          <a:p>
            <a:pPr marL="342900" indent="-342900" algn="l">
              <a:lnSpc>
                <a:spcPct val="150000"/>
              </a:lnSpc>
              <a:buFont typeface="Arial" panose="020B0604020202020204" pitchFamily="34" charset="0"/>
              <a:buChar char="•"/>
            </a:pPr>
            <a:endParaRPr lang="en-US" sz="2000" dirty="0"/>
          </a:p>
          <a:p>
            <a:pPr lvl="1" algn="l">
              <a:lnSpc>
                <a:spcPct val="150000"/>
              </a:lnSpc>
            </a:pPr>
            <a:endParaRPr lang="en-US" dirty="0"/>
          </a:p>
          <a:p>
            <a:pPr lvl="1" algn="l">
              <a:lnSpc>
                <a:spcPct val="150000"/>
              </a:lnSpc>
            </a:pPr>
            <a:endParaRPr lang="en-US" dirty="0"/>
          </a:p>
          <a:p>
            <a:pPr marL="342900" indent="-342900" algn="l">
              <a:lnSpc>
                <a:spcPct val="150000"/>
              </a:lnSpc>
              <a:buFont typeface="Arial" panose="020B0604020202020204" pitchFamily="34" charset="0"/>
              <a:buChar char="•"/>
            </a:pPr>
            <a:r>
              <a:rPr lang="en-US" sz="2000" dirty="0"/>
              <a:t>Explanation</a:t>
            </a:r>
          </a:p>
          <a:p>
            <a:pPr marL="800100" lvl="1" indent="-342900" algn="l">
              <a:lnSpc>
                <a:spcPct val="150000"/>
              </a:lnSpc>
              <a:buFont typeface="Wingdings" panose="05000000000000000000" pitchFamily="2" charset="2"/>
              <a:buChar char="§"/>
            </a:pPr>
            <a:r>
              <a:rPr lang="en-US" sz="1800" b="1" dirty="0"/>
              <a:t>X value is 1.</a:t>
            </a:r>
          </a:p>
          <a:p>
            <a:pPr marL="800100" lvl="1" indent="-342900" algn="l">
              <a:lnSpc>
                <a:spcPct val="150000"/>
              </a:lnSpc>
              <a:buFont typeface="Wingdings" panose="05000000000000000000" pitchFamily="2" charset="2"/>
              <a:buChar char="§"/>
            </a:pPr>
            <a:r>
              <a:rPr lang="en-US" sz="1800" dirty="0"/>
              <a:t>When </a:t>
            </a:r>
            <a:r>
              <a:rPr lang="en-US" sz="1800" dirty="0" err="1"/>
              <a:t>sem_wait</a:t>
            </a:r>
            <a:r>
              <a:rPr lang="en-US" sz="1800" dirty="0"/>
              <a:t>() is triggered by one thread, the value is decremental, and the thread enters the critical section. This time, when the 2</a:t>
            </a:r>
            <a:r>
              <a:rPr lang="en-US" sz="1800" baseline="30000" dirty="0"/>
              <a:t>nd</a:t>
            </a:r>
            <a:r>
              <a:rPr lang="en-US" sz="1800" dirty="0"/>
              <a:t> thread wants to enter the critical section using the lock, the 2</a:t>
            </a:r>
            <a:r>
              <a:rPr lang="en-US" sz="1800" baseline="30000" dirty="0"/>
              <a:t>nd</a:t>
            </a:r>
            <a:r>
              <a:rPr lang="en-US" sz="1800" dirty="0"/>
              <a:t> thread has to pair-wise use </a:t>
            </a:r>
            <a:r>
              <a:rPr lang="en-US" sz="1800" dirty="0" err="1"/>
              <a:t>sem_wait</a:t>
            </a:r>
            <a:r>
              <a:rPr lang="en-US" sz="1800" dirty="0"/>
              <a:t>() and </a:t>
            </a:r>
            <a:r>
              <a:rPr lang="en-US" sz="1800" dirty="0" err="1"/>
              <a:t>sem_post</a:t>
            </a:r>
            <a:r>
              <a:rPr lang="en-US" sz="1800" dirty="0"/>
              <a:t>(). This means the 2</a:t>
            </a:r>
            <a:r>
              <a:rPr lang="en-US" sz="1800" baseline="30000" dirty="0"/>
              <a:t>nd</a:t>
            </a:r>
            <a:r>
              <a:rPr lang="en-US" sz="1800" dirty="0"/>
              <a:t> thread needs to call </a:t>
            </a:r>
            <a:r>
              <a:rPr lang="en-US" sz="1800" dirty="0" err="1"/>
              <a:t>sem_wait</a:t>
            </a:r>
            <a:r>
              <a:rPr lang="en-US" sz="1800" dirty="0"/>
              <a:t>(). Since the value becomes 0, after decrement, the value will be negative, which will make the 2</a:t>
            </a:r>
            <a:r>
              <a:rPr lang="en-US" sz="1800" baseline="30000" dirty="0"/>
              <a:t>nd</a:t>
            </a:r>
            <a:r>
              <a:rPr lang="en-US" sz="1800" dirty="0"/>
              <a:t> thread self-sleep.</a:t>
            </a:r>
          </a:p>
          <a:p>
            <a:pPr algn="l">
              <a:lnSpc>
                <a:spcPct val="150000"/>
              </a:lnSpc>
            </a:pPr>
            <a:endParaRPr lang="en-US" sz="2000" dirty="0"/>
          </a:p>
        </p:txBody>
      </p:sp>
      <p:pic>
        <p:nvPicPr>
          <p:cNvPr id="6" name="Picture 5">
            <a:extLst>
              <a:ext uri="{FF2B5EF4-FFF2-40B4-BE49-F238E27FC236}">
                <a16:creationId xmlns:a16="http://schemas.microsoft.com/office/drawing/2014/main" id="{8E300B8F-BEF3-177F-4121-764AA3F581EA}"/>
              </a:ext>
            </a:extLst>
          </p:cNvPr>
          <p:cNvPicPr>
            <a:picLocks noChangeAspect="1"/>
          </p:cNvPicPr>
          <p:nvPr/>
        </p:nvPicPr>
        <p:blipFill>
          <a:blip r:embed="rId2"/>
          <a:stretch>
            <a:fillRect/>
          </a:stretch>
        </p:blipFill>
        <p:spPr>
          <a:xfrm>
            <a:off x="2166852" y="1414229"/>
            <a:ext cx="7858295" cy="1828800"/>
          </a:xfrm>
          <a:prstGeom prst="rect">
            <a:avLst/>
          </a:prstGeom>
        </p:spPr>
      </p:pic>
      <p:sp>
        <p:nvSpPr>
          <p:cNvPr id="7" name="Rectangle 6">
            <a:extLst>
              <a:ext uri="{FF2B5EF4-FFF2-40B4-BE49-F238E27FC236}">
                <a16:creationId xmlns:a16="http://schemas.microsoft.com/office/drawing/2014/main" id="{7DAF1817-B594-A0AD-A1D2-D12AD171D262}"/>
              </a:ext>
            </a:extLst>
          </p:cNvPr>
          <p:cNvSpPr/>
          <p:nvPr/>
        </p:nvSpPr>
        <p:spPr>
          <a:xfrm>
            <a:off x="1779833" y="1443166"/>
            <a:ext cx="8817527" cy="17998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20997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Semaphores for ordering - 1</a:t>
            </a:r>
          </a:p>
        </p:txBody>
      </p:sp>
      <p:sp>
        <p:nvSpPr>
          <p:cNvPr id="7" name="Rectangle 6">
            <a:extLst>
              <a:ext uri="{FF2B5EF4-FFF2-40B4-BE49-F238E27FC236}">
                <a16:creationId xmlns:a16="http://schemas.microsoft.com/office/drawing/2014/main" id="{7DAF1817-B594-A0AD-A1D2-D12AD171D262}"/>
              </a:ext>
            </a:extLst>
          </p:cNvPr>
          <p:cNvSpPr/>
          <p:nvPr/>
        </p:nvSpPr>
        <p:spPr>
          <a:xfrm>
            <a:off x="1779833" y="1209076"/>
            <a:ext cx="8817527" cy="50528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D3635F3-9F8F-DEF1-4411-F084F719E582}"/>
              </a:ext>
            </a:extLst>
          </p:cNvPr>
          <p:cNvPicPr>
            <a:picLocks noChangeAspect="1"/>
          </p:cNvPicPr>
          <p:nvPr/>
        </p:nvPicPr>
        <p:blipFill>
          <a:blip r:embed="rId2"/>
          <a:stretch>
            <a:fillRect/>
          </a:stretch>
        </p:blipFill>
        <p:spPr>
          <a:xfrm>
            <a:off x="2712825" y="1449490"/>
            <a:ext cx="6951542" cy="4572000"/>
          </a:xfrm>
          <a:prstGeom prst="rect">
            <a:avLst/>
          </a:prstGeom>
        </p:spPr>
      </p:pic>
    </p:spTree>
    <p:extLst>
      <p:ext uri="{BB962C8B-B14F-4D97-AF65-F5344CB8AC3E}">
        <p14:creationId xmlns:p14="http://schemas.microsoft.com/office/powerpoint/2010/main" val="276765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Semaphores for ordering - 2</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218460" y="946609"/>
            <a:ext cx="9755080" cy="5608138"/>
          </a:xfrm>
        </p:spPr>
        <p:txBody>
          <a:bodyPr>
            <a:noAutofit/>
          </a:bodyPr>
          <a:lstStyle/>
          <a:p>
            <a:pPr marL="342900" indent="-342900" algn="l">
              <a:lnSpc>
                <a:spcPct val="150000"/>
              </a:lnSpc>
              <a:buFont typeface="Arial" panose="020B0604020202020204" pitchFamily="34" charset="0"/>
              <a:buChar char="•"/>
            </a:pPr>
            <a:r>
              <a:rPr lang="en-US" dirty="0"/>
              <a:t>Explanation</a:t>
            </a:r>
          </a:p>
          <a:p>
            <a:pPr marL="800100" lvl="1" indent="-342900" algn="l">
              <a:lnSpc>
                <a:spcPct val="150000"/>
              </a:lnSpc>
              <a:buFont typeface="Wingdings" panose="05000000000000000000" pitchFamily="2" charset="2"/>
              <a:buChar char="§"/>
            </a:pPr>
            <a:r>
              <a:rPr lang="en-US" b="1" dirty="0"/>
              <a:t>X value is 0</a:t>
            </a:r>
            <a:r>
              <a:rPr lang="en-US" dirty="0"/>
              <a:t>.</a:t>
            </a:r>
          </a:p>
          <a:p>
            <a:pPr marL="800100" lvl="1" indent="-342900" algn="l">
              <a:lnSpc>
                <a:spcPct val="150000"/>
              </a:lnSpc>
              <a:buFont typeface="Wingdings" panose="05000000000000000000" pitchFamily="2" charset="2"/>
              <a:buChar char="§"/>
            </a:pPr>
            <a:r>
              <a:rPr lang="en-US" dirty="0"/>
              <a:t>Both </a:t>
            </a:r>
            <a:r>
              <a:rPr lang="en-US" dirty="0" err="1"/>
              <a:t>sem_init</a:t>
            </a:r>
            <a:r>
              <a:rPr lang="en-US" dirty="0"/>
              <a:t>() and </a:t>
            </a:r>
            <a:r>
              <a:rPr lang="en-US" dirty="0" err="1"/>
              <a:t>sem_wait</a:t>
            </a:r>
            <a:r>
              <a:rPr lang="en-US" dirty="0"/>
              <a:t>() are in parent thread, and </a:t>
            </a:r>
            <a:r>
              <a:rPr lang="en-US" dirty="0" err="1"/>
              <a:t>sem_post</a:t>
            </a:r>
            <a:r>
              <a:rPr lang="en-US" dirty="0"/>
              <a:t>() is in child thread.</a:t>
            </a:r>
          </a:p>
          <a:p>
            <a:pPr marL="800100" lvl="1" indent="-342900" algn="l">
              <a:lnSpc>
                <a:spcPct val="150000"/>
              </a:lnSpc>
              <a:buFont typeface="Wingdings" panose="05000000000000000000" pitchFamily="2" charset="2"/>
              <a:buChar char="§"/>
            </a:pPr>
            <a:r>
              <a:rPr lang="en-US" dirty="0"/>
              <a:t>When the parent thread first runs, the parent thread will trigger </a:t>
            </a:r>
            <a:r>
              <a:rPr lang="en-US" dirty="0" err="1"/>
              <a:t>sem_wait</a:t>
            </a:r>
            <a:r>
              <a:rPr lang="en-US" dirty="0"/>
              <a:t>(). Thus, the value will be decremented and become -1, and the parent thread will self-sleep until the child thread induces </a:t>
            </a:r>
            <a:r>
              <a:rPr lang="en-US" dirty="0" err="1"/>
              <a:t>sem_post</a:t>
            </a:r>
            <a:r>
              <a:rPr lang="en-US" dirty="0"/>
              <a:t>() to wake the parent thread. </a:t>
            </a:r>
          </a:p>
          <a:p>
            <a:pPr marL="800100" lvl="1" indent="-342900" algn="l">
              <a:lnSpc>
                <a:spcPct val="150000"/>
              </a:lnSpc>
              <a:buFont typeface="Wingdings" panose="05000000000000000000" pitchFamily="2" charset="2"/>
              <a:buChar char="§"/>
            </a:pPr>
            <a:r>
              <a:rPr lang="en-US" dirty="0"/>
              <a:t> When the child thread runs at first, the child thread will trigger </a:t>
            </a:r>
            <a:r>
              <a:rPr lang="en-US" dirty="0" err="1"/>
              <a:t>sem_post</a:t>
            </a:r>
            <a:r>
              <a:rPr lang="en-US" dirty="0"/>
              <a:t>(). The value, after incrementing, will become 1. Then, the parent runs at second and triggers </a:t>
            </a:r>
            <a:r>
              <a:rPr lang="en-US" dirty="0" err="1"/>
              <a:t>sem_wait</a:t>
            </a:r>
            <a:r>
              <a:rPr lang="en-US" dirty="0"/>
              <a:t>(). The value will decrement and become 0. Due to the value, the parent thread will continue running rather than self-sleep. </a:t>
            </a:r>
          </a:p>
          <a:p>
            <a:pPr algn="l">
              <a:lnSpc>
                <a:spcPct val="150000"/>
              </a:lnSpc>
            </a:pPr>
            <a:endParaRPr lang="en-US" dirty="0"/>
          </a:p>
        </p:txBody>
      </p:sp>
    </p:spTree>
    <p:extLst>
      <p:ext uri="{BB962C8B-B14F-4D97-AF65-F5344CB8AC3E}">
        <p14:creationId xmlns:p14="http://schemas.microsoft.com/office/powerpoint/2010/main" val="1391449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Semaphores for bounded buffer - 1</a:t>
            </a:r>
          </a:p>
        </p:txBody>
      </p:sp>
      <p:sp>
        <p:nvSpPr>
          <p:cNvPr id="7" name="Rectangle 6">
            <a:extLst>
              <a:ext uri="{FF2B5EF4-FFF2-40B4-BE49-F238E27FC236}">
                <a16:creationId xmlns:a16="http://schemas.microsoft.com/office/drawing/2014/main" id="{7DAF1817-B594-A0AD-A1D2-D12AD171D262}"/>
              </a:ext>
            </a:extLst>
          </p:cNvPr>
          <p:cNvSpPr/>
          <p:nvPr/>
        </p:nvSpPr>
        <p:spPr>
          <a:xfrm>
            <a:off x="1779833" y="836509"/>
            <a:ext cx="8817527" cy="58362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5957D75-582B-1C21-68A2-ACF8D462DD12}"/>
              </a:ext>
            </a:extLst>
          </p:cNvPr>
          <p:cNvPicPr>
            <a:picLocks noChangeAspect="1"/>
          </p:cNvPicPr>
          <p:nvPr/>
        </p:nvPicPr>
        <p:blipFill>
          <a:blip r:embed="rId2"/>
          <a:stretch>
            <a:fillRect/>
          </a:stretch>
        </p:blipFill>
        <p:spPr>
          <a:xfrm>
            <a:off x="2455072" y="1011456"/>
            <a:ext cx="7467048" cy="5486400"/>
          </a:xfrm>
          <a:prstGeom prst="rect">
            <a:avLst/>
          </a:prstGeom>
        </p:spPr>
      </p:pic>
    </p:spTree>
    <p:extLst>
      <p:ext uri="{BB962C8B-B14F-4D97-AF65-F5344CB8AC3E}">
        <p14:creationId xmlns:p14="http://schemas.microsoft.com/office/powerpoint/2010/main" val="2955026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Semaphores for bounded buffer - 2</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218460" y="946609"/>
            <a:ext cx="9755080" cy="5608138"/>
          </a:xfrm>
        </p:spPr>
        <p:txBody>
          <a:bodyPr>
            <a:noAutofit/>
          </a:bodyPr>
          <a:lstStyle/>
          <a:p>
            <a:pPr marL="342900" indent="-342900" algn="l">
              <a:lnSpc>
                <a:spcPct val="150000"/>
              </a:lnSpc>
              <a:buFont typeface="Arial" panose="020B0604020202020204" pitchFamily="34" charset="0"/>
              <a:buChar char="•"/>
            </a:pPr>
            <a:r>
              <a:rPr lang="en-US" dirty="0"/>
              <a:t>Explanation</a:t>
            </a:r>
          </a:p>
          <a:p>
            <a:pPr marL="800100" lvl="1" indent="-342900" algn="l">
              <a:lnSpc>
                <a:spcPct val="150000"/>
              </a:lnSpc>
              <a:buFont typeface="Wingdings" panose="05000000000000000000" pitchFamily="2" charset="2"/>
              <a:buChar char="§"/>
            </a:pPr>
            <a:r>
              <a:rPr lang="en-US" b="1" dirty="0"/>
              <a:t>MAX value is 1</a:t>
            </a:r>
            <a:r>
              <a:rPr lang="en-US" dirty="0"/>
              <a:t>.</a:t>
            </a:r>
          </a:p>
          <a:p>
            <a:pPr marL="800100" lvl="1" indent="-342900" algn="l">
              <a:lnSpc>
                <a:spcPct val="150000"/>
              </a:lnSpc>
              <a:buFont typeface="Wingdings" panose="05000000000000000000" pitchFamily="2" charset="2"/>
              <a:buChar char="§"/>
            </a:pPr>
            <a:r>
              <a:rPr lang="en-US" dirty="0"/>
              <a:t>The semaphore mechanism is that the producer must run at first and that the consumer runs at second.</a:t>
            </a:r>
          </a:p>
          <a:p>
            <a:pPr marL="800100" lvl="1" indent="-342900" algn="l">
              <a:lnSpc>
                <a:spcPct val="150000"/>
              </a:lnSpc>
              <a:buFont typeface="Wingdings" panose="05000000000000000000" pitchFamily="2" charset="2"/>
              <a:buChar char="§"/>
            </a:pPr>
            <a:r>
              <a:rPr lang="en-US" dirty="0"/>
              <a:t>How does it work? As the MAX value is 1, it guarantees the producer runs first by the semaphore “empty”. The producer won’t be blocked by </a:t>
            </a:r>
            <a:r>
              <a:rPr lang="en-US" dirty="0" err="1"/>
              <a:t>sem_wait</a:t>
            </a:r>
            <a:r>
              <a:rPr lang="en-US" dirty="0"/>
              <a:t>() and thus directly sends the data to the buffer by calling put(). On the other hand, the consumer will run secondly by the semaphore “full”. In turn, the consumer won’t get the data from the buffer until the producer calls </a:t>
            </a:r>
            <a:r>
              <a:rPr lang="en-US" dirty="0" err="1"/>
              <a:t>sem_post</a:t>
            </a:r>
            <a:r>
              <a:rPr lang="en-US" dirty="0"/>
              <a:t>(full).</a:t>
            </a:r>
          </a:p>
          <a:p>
            <a:pPr marL="342900" indent="-342900" algn="l">
              <a:lnSpc>
                <a:spcPct val="150000"/>
              </a:lnSpc>
              <a:buFont typeface="Arial" panose="020B0604020202020204" pitchFamily="34" charset="0"/>
              <a:buChar char="•"/>
            </a:pPr>
            <a:r>
              <a:rPr lang="en-US" dirty="0"/>
              <a:t>New issue</a:t>
            </a:r>
          </a:p>
          <a:p>
            <a:pPr marL="800100" lvl="1" indent="-342900" algn="l">
              <a:lnSpc>
                <a:spcPct val="150000"/>
              </a:lnSpc>
              <a:buFont typeface="Wingdings" panose="05000000000000000000" pitchFamily="2" charset="2"/>
              <a:buChar char="§"/>
            </a:pPr>
            <a:r>
              <a:rPr lang="en-US" dirty="0"/>
              <a:t>What about multi-producers and multi-consumers? – race condition</a:t>
            </a:r>
          </a:p>
          <a:p>
            <a:pPr algn="l">
              <a:lnSpc>
                <a:spcPct val="150000"/>
              </a:lnSpc>
            </a:pPr>
            <a:endParaRPr lang="en-US" dirty="0"/>
          </a:p>
        </p:txBody>
      </p:sp>
    </p:spTree>
    <p:extLst>
      <p:ext uri="{BB962C8B-B14F-4D97-AF65-F5344CB8AC3E}">
        <p14:creationId xmlns:p14="http://schemas.microsoft.com/office/powerpoint/2010/main" val="4211494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bounded buffer with deadlock- 3</a:t>
            </a:r>
          </a:p>
        </p:txBody>
      </p:sp>
      <p:sp>
        <p:nvSpPr>
          <p:cNvPr id="7" name="Rectangle 6">
            <a:extLst>
              <a:ext uri="{FF2B5EF4-FFF2-40B4-BE49-F238E27FC236}">
                <a16:creationId xmlns:a16="http://schemas.microsoft.com/office/drawing/2014/main" id="{7DAF1817-B594-A0AD-A1D2-D12AD171D262}"/>
              </a:ext>
            </a:extLst>
          </p:cNvPr>
          <p:cNvSpPr/>
          <p:nvPr/>
        </p:nvSpPr>
        <p:spPr>
          <a:xfrm>
            <a:off x="1779833" y="836509"/>
            <a:ext cx="8817527" cy="58362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BA494F1D-3F6B-9D7E-B759-B3EC134FD3F5}"/>
              </a:ext>
            </a:extLst>
          </p:cNvPr>
          <p:cNvPicPr>
            <a:picLocks noChangeAspect="1"/>
          </p:cNvPicPr>
          <p:nvPr/>
        </p:nvPicPr>
        <p:blipFill>
          <a:blip r:embed="rId2"/>
          <a:stretch>
            <a:fillRect/>
          </a:stretch>
        </p:blipFill>
        <p:spPr>
          <a:xfrm>
            <a:off x="3153906" y="1011456"/>
            <a:ext cx="6069380" cy="5486400"/>
          </a:xfrm>
          <a:prstGeom prst="rect">
            <a:avLst/>
          </a:prstGeom>
        </p:spPr>
      </p:pic>
      <p:sp>
        <p:nvSpPr>
          <p:cNvPr id="6" name="Rectangle 5">
            <a:extLst>
              <a:ext uri="{FF2B5EF4-FFF2-40B4-BE49-F238E27FC236}">
                <a16:creationId xmlns:a16="http://schemas.microsoft.com/office/drawing/2014/main" id="{30EA6F81-2304-A3B2-BC53-AE9470CD5A53}"/>
              </a:ext>
            </a:extLst>
          </p:cNvPr>
          <p:cNvSpPr/>
          <p:nvPr/>
        </p:nvSpPr>
        <p:spPr>
          <a:xfrm>
            <a:off x="4016829" y="2106386"/>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E1A80D6-9ACF-1460-F4F8-D006B21DF96A}"/>
              </a:ext>
            </a:extLst>
          </p:cNvPr>
          <p:cNvSpPr/>
          <p:nvPr/>
        </p:nvSpPr>
        <p:spPr>
          <a:xfrm>
            <a:off x="4027716" y="2699656"/>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5C1D7F-1B67-764D-C03A-4900CB13A9D3}"/>
              </a:ext>
            </a:extLst>
          </p:cNvPr>
          <p:cNvSpPr/>
          <p:nvPr/>
        </p:nvSpPr>
        <p:spPr>
          <a:xfrm>
            <a:off x="4022272" y="3761022"/>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2159D0A-AAE0-766A-7775-7182926FF206}"/>
              </a:ext>
            </a:extLst>
          </p:cNvPr>
          <p:cNvSpPr/>
          <p:nvPr/>
        </p:nvSpPr>
        <p:spPr>
          <a:xfrm>
            <a:off x="4038597" y="4359741"/>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8967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Correct bounded buffer - 4</a:t>
            </a:r>
          </a:p>
        </p:txBody>
      </p:sp>
      <p:sp>
        <p:nvSpPr>
          <p:cNvPr id="7" name="Rectangle 6">
            <a:extLst>
              <a:ext uri="{FF2B5EF4-FFF2-40B4-BE49-F238E27FC236}">
                <a16:creationId xmlns:a16="http://schemas.microsoft.com/office/drawing/2014/main" id="{7DAF1817-B594-A0AD-A1D2-D12AD171D262}"/>
              </a:ext>
            </a:extLst>
          </p:cNvPr>
          <p:cNvSpPr/>
          <p:nvPr/>
        </p:nvSpPr>
        <p:spPr>
          <a:xfrm>
            <a:off x="1779833" y="836509"/>
            <a:ext cx="8817527" cy="56613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C07348D-7C92-80EE-6240-CDEB3AE200BA}"/>
              </a:ext>
            </a:extLst>
          </p:cNvPr>
          <p:cNvPicPr>
            <a:picLocks noChangeAspect="1"/>
          </p:cNvPicPr>
          <p:nvPr/>
        </p:nvPicPr>
        <p:blipFill>
          <a:blip r:embed="rId2"/>
          <a:stretch>
            <a:fillRect/>
          </a:stretch>
        </p:blipFill>
        <p:spPr>
          <a:xfrm>
            <a:off x="2984432" y="886268"/>
            <a:ext cx="6223135" cy="5486400"/>
          </a:xfrm>
          <a:prstGeom prst="rect">
            <a:avLst/>
          </a:prstGeom>
        </p:spPr>
      </p:pic>
      <p:sp>
        <p:nvSpPr>
          <p:cNvPr id="9" name="Rectangle 8">
            <a:extLst>
              <a:ext uri="{FF2B5EF4-FFF2-40B4-BE49-F238E27FC236}">
                <a16:creationId xmlns:a16="http://schemas.microsoft.com/office/drawing/2014/main" id="{4D05E5EC-FB95-777F-781A-C3659DEE0E58}"/>
              </a:ext>
            </a:extLst>
          </p:cNvPr>
          <p:cNvSpPr/>
          <p:nvPr/>
        </p:nvSpPr>
        <p:spPr>
          <a:xfrm>
            <a:off x="3940629" y="2253343"/>
            <a:ext cx="1496785" cy="163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A4EB760-035C-063C-A00D-1B14D451EA49}"/>
              </a:ext>
            </a:extLst>
          </p:cNvPr>
          <p:cNvSpPr/>
          <p:nvPr/>
        </p:nvSpPr>
        <p:spPr>
          <a:xfrm>
            <a:off x="3929742" y="2579914"/>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DC950FC-03C4-AB61-AE9D-D08E44362AE0}"/>
              </a:ext>
            </a:extLst>
          </p:cNvPr>
          <p:cNvSpPr/>
          <p:nvPr/>
        </p:nvSpPr>
        <p:spPr>
          <a:xfrm>
            <a:off x="3918856" y="3967854"/>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7CB5CE4-E137-7B60-BC36-49E7777CA6F8}"/>
              </a:ext>
            </a:extLst>
          </p:cNvPr>
          <p:cNvSpPr/>
          <p:nvPr/>
        </p:nvSpPr>
        <p:spPr>
          <a:xfrm>
            <a:off x="3913414" y="4283541"/>
            <a:ext cx="1518557" cy="15784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02836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5DEBF-F0A5-226C-9252-B52FD885E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1F994-E6AA-9B47-CB5C-2A274395C824}"/>
              </a:ext>
            </a:extLst>
          </p:cNvPr>
          <p:cNvSpPr>
            <a:spLocks noGrp="1"/>
          </p:cNvSpPr>
          <p:nvPr>
            <p:ph type="ctrTitle"/>
          </p:nvPr>
        </p:nvSpPr>
        <p:spPr>
          <a:xfrm>
            <a:off x="1218460" y="115029"/>
            <a:ext cx="10452740" cy="1104189"/>
          </a:xfrm>
        </p:spPr>
        <p:txBody>
          <a:bodyPr>
            <a:noAutofit/>
          </a:bodyPr>
          <a:lstStyle/>
          <a:p>
            <a:r>
              <a:rPr lang="en-US" sz="2800" dirty="0">
                <a:solidFill>
                  <a:srgbClr val="C00000"/>
                </a:solidFill>
              </a:rPr>
              <a:t>Deadlock – 1 </a:t>
            </a:r>
            <a:r>
              <a:rPr lang="en-US" sz="1800" dirty="0">
                <a:solidFill>
                  <a:srgbClr val="C00000"/>
                </a:solidFill>
              </a:rPr>
              <a:t>[1]</a:t>
            </a:r>
            <a:br>
              <a:rPr lang="en-US" sz="1800" dirty="0">
                <a:solidFill>
                  <a:srgbClr val="C00000"/>
                </a:solidFill>
              </a:rPr>
            </a:br>
            <a:r>
              <a:rPr lang="en-US" sz="1800" dirty="0"/>
              <a:t>[1] Qi, H., et al. "Deadlock detection, cooperative avoidance and recovery protocol for mixed autonomous vehicles in unstructured environment. </a:t>
            </a:r>
          </a:p>
        </p:txBody>
      </p:sp>
      <p:pic>
        <p:nvPicPr>
          <p:cNvPr id="5" name="Picture 4">
            <a:extLst>
              <a:ext uri="{FF2B5EF4-FFF2-40B4-BE49-F238E27FC236}">
                <a16:creationId xmlns:a16="http://schemas.microsoft.com/office/drawing/2014/main" id="{745A188C-0473-7ABA-356A-7FC2AB376974}"/>
              </a:ext>
            </a:extLst>
          </p:cNvPr>
          <p:cNvPicPr>
            <a:picLocks noChangeAspect="1"/>
          </p:cNvPicPr>
          <p:nvPr/>
        </p:nvPicPr>
        <p:blipFill>
          <a:blip r:embed="rId3"/>
          <a:stretch>
            <a:fillRect/>
          </a:stretch>
        </p:blipFill>
        <p:spPr>
          <a:xfrm>
            <a:off x="3227131" y="1219218"/>
            <a:ext cx="6435398" cy="5486400"/>
          </a:xfrm>
          <a:prstGeom prst="rect">
            <a:avLst/>
          </a:prstGeom>
        </p:spPr>
      </p:pic>
    </p:spTree>
    <p:extLst>
      <p:ext uri="{BB962C8B-B14F-4D97-AF65-F5344CB8AC3E}">
        <p14:creationId xmlns:p14="http://schemas.microsoft.com/office/powerpoint/2010/main" val="3001919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03D64-9B6C-850E-1E14-68FAB6FF5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7B0FF-D566-A28E-53B8-DB3B8BFED6E6}"/>
              </a:ext>
            </a:extLst>
          </p:cNvPr>
          <p:cNvSpPr>
            <a:spLocks noGrp="1"/>
          </p:cNvSpPr>
          <p:nvPr>
            <p:ph type="ctrTitle"/>
          </p:nvPr>
        </p:nvSpPr>
        <p:spPr>
          <a:xfrm>
            <a:off x="1218460" y="115029"/>
            <a:ext cx="10452740" cy="742228"/>
          </a:xfrm>
        </p:spPr>
        <p:txBody>
          <a:bodyPr>
            <a:noAutofit/>
          </a:bodyPr>
          <a:lstStyle/>
          <a:p>
            <a:r>
              <a:rPr lang="en-US" sz="4200" dirty="0">
                <a:solidFill>
                  <a:srgbClr val="C00000"/>
                </a:solidFill>
              </a:rPr>
              <a:t>Deadlock - 2</a:t>
            </a:r>
          </a:p>
        </p:txBody>
      </p:sp>
      <p:sp>
        <p:nvSpPr>
          <p:cNvPr id="3" name="Subtitle 2">
            <a:extLst>
              <a:ext uri="{FF2B5EF4-FFF2-40B4-BE49-F238E27FC236}">
                <a16:creationId xmlns:a16="http://schemas.microsoft.com/office/drawing/2014/main" id="{EDCDE1EE-5ACD-E852-63B6-014FDD87CFFC}"/>
              </a:ext>
            </a:extLst>
          </p:cNvPr>
          <p:cNvSpPr>
            <a:spLocks noGrp="1"/>
          </p:cNvSpPr>
          <p:nvPr>
            <p:ph type="subTitle" idx="1"/>
          </p:nvPr>
        </p:nvSpPr>
        <p:spPr>
          <a:xfrm>
            <a:off x="1049562" y="1171300"/>
            <a:ext cx="9994956" cy="4091944"/>
          </a:xfrm>
        </p:spPr>
        <p:txBody>
          <a:bodyPr>
            <a:noAutofit/>
          </a:bodyPr>
          <a:lstStyle/>
          <a:p>
            <a:pPr marL="342900" indent="-342900" algn="l">
              <a:lnSpc>
                <a:spcPct val="150000"/>
              </a:lnSpc>
              <a:buFont typeface="Arial" panose="020B0604020202020204" pitchFamily="34" charset="0"/>
              <a:buChar char="•"/>
            </a:pPr>
            <a:r>
              <a:rPr lang="en-US" dirty="0"/>
              <a:t>Definition [1]</a:t>
            </a:r>
          </a:p>
          <a:p>
            <a:pPr marL="800100" lvl="1" indent="-342900" algn="l">
              <a:lnSpc>
                <a:spcPct val="150000"/>
              </a:lnSpc>
              <a:buFont typeface="Wingdings" panose="05000000000000000000" pitchFamily="2" charset="2"/>
              <a:buChar char="§"/>
            </a:pPr>
            <a:r>
              <a:rPr lang="en-US" dirty="0"/>
              <a:t>In an operating system, a deadlock occurs when a process or thread enters a waiting state because a requested system resource is held by another waiting process, which in turn is waiting for another resource held by another waiting process. </a:t>
            </a:r>
          </a:p>
          <a:p>
            <a:pPr lvl="1" algn="l">
              <a:lnSpc>
                <a:spcPct val="150000"/>
              </a:lnSpc>
            </a:pPr>
            <a:endParaRPr lang="en-US" dirty="0"/>
          </a:p>
          <a:p>
            <a:pPr marL="800100" lvl="1" indent="-342900" algn="l">
              <a:lnSpc>
                <a:spcPct val="150000"/>
              </a:lnSpc>
              <a:buFont typeface="Wingdings" panose="05000000000000000000" pitchFamily="2" charset="2"/>
              <a:buChar char="§"/>
            </a:pPr>
            <a:r>
              <a:rPr lang="en-US" dirty="0"/>
              <a:t>If a process remains indefinitely unable to change its state because the resources it requests are being used by another process that itself is waiting, then the system is said to be in a deadlock.</a:t>
            </a:r>
          </a:p>
        </p:txBody>
      </p:sp>
      <p:sp>
        <p:nvSpPr>
          <p:cNvPr id="4" name="TextBox 3">
            <a:extLst>
              <a:ext uri="{FF2B5EF4-FFF2-40B4-BE49-F238E27FC236}">
                <a16:creationId xmlns:a16="http://schemas.microsoft.com/office/drawing/2014/main" id="{26BAD9F2-C939-8E86-6902-148494F497DB}"/>
              </a:ext>
            </a:extLst>
          </p:cNvPr>
          <p:cNvSpPr txBox="1"/>
          <p:nvPr/>
        </p:nvSpPr>
        <p:spPr>
          <a:xfrm>
            <a:off x="1039906" y="5970494"/>
            <a:ext cx="10052423" cy="369332"/>
          </a:xfrm>
          <a:prstGeom prst="rect">
            <a:avLst/>
          </a:prstGeom>
          <a:noFill/>
        </p:spPr>
        <p:txBody>
          <a:bodyPr wrap="square" rtlCol="0">
            <a:spAutoFit/>
          </a:bodyPr>
          <a:lstStyle/>
          <a:p>
            <a:r>
              <a:rPr lang="en-US" dirty="0"/>
              <a:t>[1]. </a:t>
            </a:r>
            <a:r>
              <a:rPr lang="en-US" dirty="0">
                <a:hlinkClick r:id="rId3"/>
              </a:rPr>
              <a:t>https://en.wikipedia.org/wiki/Deadlock_(computer_science)</a:t>
            </a:r>
            <a:r>
              <a:rPr lang="en-US" dirty="0"/>
              <a:t> </a:t>
            </a:r>
          </a:p>
        </p:txBody>
      </p:sp>
    </p:spTree>
    <p:extLst>
      <p:ext uri="{BB962C8B-B14F-4D97-AF65-F5344CB8AC3E}">
        <p14:creationId xmlns:p14="http://schemas.microsoft.com/office/powerpoint/2010/main" val="2133203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BD89E-796A-3732-271F-9BD2B4DC2E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A801DF-BE14-A405-0BC0-5AA93CF32FD0}"/>
              </a:ext>
            </a:extLst>
          </p:cNvPr>
          <p:cNvSpPr>
            <a:spLocks noGrp="1"/>
          </p:cNvSpPr>
          <p:nvPr>
            <p:ph type="ctrTitle"/>
          </p:nvPr>
        </p:nvSpPr>
        <p:spPr>
          <a:xfrm>
            <a:off x="1218460" y="115029"/>
            <a:ext cx="10452740" cy="572265"/>
          </a:xfrm>
        </p:spPr>
        <p:txBody>
          <a:bodyPr>
            <a:noAutofit/>
          </a:bodyPr>
          <a:lstStyle/>
          <a:p>
            <a:r>
              <a:rPr lang="en-US" sz="3600" dirty="0">
                <a:solidFill>
                  <a:srgbClr val="C00000"/>
                </a:solidFill>
              </a:rPr>
              <a:t>Deadlock – 3</a:t>
            </a:r>
          </a:p>
        </p:txBody>
      </p:sp>
      <p:pic>
        <p:nvPicPr>
          <p:cNvPr id="4" name="Picture 3">
            <a:extLst>
              <a:ext uri="{FF2B5EF4-FFF2-40B4-BE49-F238E27FC236}">
                <a16:creationId xmlns:a16="http://schemas.microsoft.com/office/drawing/2014/main" id="{34264E2A-A91D-F579-0E19-B5410FF6B363}"/>
              </a:ext>
            </a:extLst>
          </p:cNvPr>
          <p:cNvPicPr>
            <a:picLocks noChangeAspect="1"/>
          </p:cNvPicPr>
          <p:nvPr/>
        </p:nvPicPr>
        <p:blipFill>
          <a:blip r:embed="rId3"/>
          <a:stretch>
            <a:fillRect/>
          </a:stretch>
        </p:blipFill>
        <p:spPr>
          <a:xfrm>
            <a:off x="6469987" y="687294"/>
            <a:ext cx="5289045" cy="5943600"/>
          </a:xfrm>
          <a:prstGeom prst="rect">
            <a:avLst/>
          </a:prstGeom>
        </p:spPr>
      </p:pic>
      <p:pic>
        <p:nvPicPr>
          <p:cNvPr id="7" name="Picture 6">
            <a:extLst>
              <a:ext uri="{FF2B5EF4-FFF2-40B4-BE49-F238E27FC236}">
                <a16:creationId xmlns:a16="http://schemas.microsoft.com/office/drawing/2014/main" id="{4B772612-D162-5A9B-F35B-1BA40697C04F}"/>
              </a:ext>
            </a:extLst>
          </p:cNvPr>
          <p:cNvPicPr>
            <a:picLocks noChangeAspect="1"/>
          </p:cNvPicPr>
          <p:nvPr/>
        </p:nvPicPr>
        <p:blipFill>
          <a:blip r:embed="rId4"/>
          <a:stretch>
            <a:fillRect/>
          </a:stretch>
        </p:blipFill>
        <p:spPr>
          <a:xfrm>
            <a:off x="591671" y="1920240"/>
            <a:ext cx="5297699" cy="3017520"/>
          </a:xfrm>
          <a:prstGeom prst="rect">
            <a:avLst/>
          </a:prstGeom>
        </p:spPr>
      </p:pic>
      <p:sp>
        <p:nvSpPr>
          <p:cNvPr id="8" name="TextBox 7">
            <a:extLst>
              <a:ext uri="{FF2B5EF4-FFF2-40B4-BE49-F238E27FC236}">
                <a16:creationId xmlns:a16="http://schemas.microsoft.com/office/drawing/2014/main" id="{BA0C712E-0E84-7D37-9581-25608D74C0A7}"/>
              </a:ext>
            </a:extLst>
          </p:cNvPr>
          <p:cNvSpPr txBox="1"/>
          <p:nvPr/>
        </p:nvSpPr>
        <p:spPr>
          <a:xfrm>
            <a:off x="591671" y="1033929"/>
            <a:ext cx="4948517" cy="430887"/>
          </a:xfrm>
          <a:prstGeom prst="rect">
            <a:avLst/>
          </a:prstGeom>
          <a:noFill/>
        </p:spPr>
        <p:txBody>
          <a:bodyPr wrap="square" rtlCol="0">
            <a:spAutoFit/>
          </a:bodyPr>
          <a:lstStyle/>
          <a:p>
            <a:pPr marL="285750" indent="-285750">
              <a:buFont typeface="Arial" panose="020B0604020202020204" pitchFamily="34" charset="0"/>
              <a:buChar char="•"/>
            </a:pPr>
            <a:r>
              <a:rPr lang="en-US" sz="2200" dirty="0"/>
              <a:t>Deadlock example</a:t>
            </a:r>
          </a:p>
        </p:txBody>
      </p:sp>
    </p:spTree>
    <p:extLst>
      <p:ext uri="{BB962C8B-B14F-4D97-AF65-F5344CB8AC3E}">
        <p14:creationId xmlns:p14="http://schemas.microsoft.com/office/powerpoint/2010/main" val="6754209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15029"/>
            <a:ext cx="10452740" cy="742228"/>
          </a:xfrm>
        </p:spPr>
        <p:txBody>
          <a:bodyPr>
            <a:noAutofit/>
          </a:bodyPr>
          <a:lstStyle/>
          <a:p>
            <a:r>
              <a:rPr lang="en-US" sz="4200" dirty="0">
                <a:solidFill>
                  <a:srgbClr val="C00000"/>
                </a:solidFill>
              </a:rPr>
              <a:t>The dining philosopher problem</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49562" y="1171300"/>
            <a:ext cx="5541738" cy="4091944"/>
          </a:xfrm>
        </p:spPr>
        <p:txBody>
          <a:bodyPr>
            <a:noAutofit/>
          </a:bodyPr>
          <a:lstStyle/>
          <a:p>
            <a:pPr marL="342900" indent="-342900" algn="l">
              <a:lnSpc>
                <a:spcPct val="150000"/>
              </a:lnSpc>
              <a:buFont typeface="Arial" panose="020B0604020202020204" pitchFamily="34" charset="0"/>
              <a:buChar char="•"/>
            </a:pPr>
            <a:r>
              <a:rPr lang="en-US" dirty="0"/>
              <a:t>Problem description </a:t>
            </a:r>
          </a:p>
          <a:p>
            <a:pPr marL="800100" lvl="1" indent="-342900" algn="l">
              <a:lnSpc>
                <a:spcPct val="150000"/>
              </a:lnSpc>
              <a:buFont typeface="Wingdings" panose="05000000000000000000" pitchFamily="2" charset="2"/>
              <a:buChar char="§"/>
            </a:pPr>
            <a:r>
              <a:rPr lang="en-US" dirty="0"/>
              <a:t>Pi: each philosopher</a:t>
            </a:r>
          </a:p>
          <a:p>
            <a:pPr marL="800100" lvl="1" indent="-342900" algn="l">
              <a:lnSpc>
                <a:spcPct val="150000"/>
              </a:lnSpc>
              <a:buFont typeface="Wingdings" panose="05000000000000000000" pitchFamily="2" charset="2"/>
              <a:buChar char="§"/>
            </a:pPr>
            <a:r>
              <a:rPr lang="en-US" dirty="0"/>
              <a:t>fi: each fork</a:t>
            </a:r>
          </a:p>
          <a:p>
            <a:pPr marL="800100" lvl="1" indent="-342900" algn="l">
              <a:lnSpc>
                <a:spcPct val="150000"/>
              </a:lnSpc>
              <a:buFont typeface="Wingdings" panose="05000000000000000000" pitchFamily="2" charset="2"/>
              <a:buChar char="§"/>
            </a:pPr>
            <a:r>
              <a:rPr lang="en-US" dirty="0"/>
              <a:t>Pi must hold two trajectory forks for eating.</a:t>
            </a:r>
          </a:p>
          <a:p>
            <a:pPr marL="800100" lvl="1" indent="-342900" algn="l">
              <a:lnSpc>
                <a:spcPct val="150000"/>
              </a:lnSpc>
              <a:buFont typeface="Wingdings" panose="05000000000000000000" pitchFamily="2" charset="2"/>
              <a:buChar char="§"/>
            </a:pPr>
            <a:r>
              <a:rPr lang="en-US" dirty="0"/>
              <a:t>Pi won’t eat when calling think() and eating when calling eat().</a:t>
            </a:r>
          </a:p>
          <a:p>
            <a:pPr algn="l">
              <a:lnSpc>
                <a:spcPct val="150000"/>
              </a:lnSpc>
            </a:pPr>
            <a:endParaRPr lang="en-US" dirty="0"/>
          </a:p>
        </p:txBody>
      </p:sp>
      <p:pic>
        <p:nvPicPr>
          <p:cNvPr id="6" name="Picture 5">
            <a:extLst>
              <a:ext uri="{FF2B5EF4-FFF2-40B4-BE49-F238E27FC236}">
                <a16:creationId xmlns:a16="http://schemas.microsoft.com/office/drawing/2014/main" id="{2752BBFD-90A9-344D-A5EA-5635B0BB2F4D}"/>
              </a:ext>
            </a:extLst>
          </p:cNvPr>
          <p:cNvPicPr>
            <a:picLocks noChangeAspect="1"/>
          </p:cNvPicPr>
          <p:nvPr/>
        </p:nvPicPr>
        <p:blipFill>
          <a:blip r:embed="rId3"/>
          <a:stretch>
            <a:fillRect/>
          </a:stretch>
        </p:blipFill>
        <p:spPr>
          <a:xfrm>
            <a:off x="7132458" y="1171300"/>
            <a:ext cx="3863022" cy="4572000"/>
          </a:xfrm>
          <a:prstGeom prst="rect">
            <a:avLst/>
          </a:prstGeom>
        </p:spPr>
      </p:pic>
    </p:spTree>
    <p:extLst>
      <p:ext uri="{BB962C8B-B14F-4D97-AF65-F5344CB8AC3E}">
        <p14:creationId xmlns:p14="http://schemas.microsoft.com/office/powerpoint/2010/main" val="1133708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a:solidFill>
                  <a:srgbClr val="C00000"/>
                </a:solidFill>
              </a:rPr>
              <a:t>The dining philosopher implementation</a:t>
            </a:r>
          </a:p>
        </p:txBody>
      </p:sp>
      <p:sp>
        <p:nvSpPr>
          <p:cNvPr id="7" name="Rectangle 6">
            <a:extLst>
              <a:ext uri="{FF2B5EF4-FFF2-40B4-BE49-F238E27FC236}">
                <a16:creationId xmlns:a16="http://schemas.microsoft.com/office/drawing/2014/main" id="{7DAF1817-B594-A0AD-A1D2-D12AD171D262}"/>
              </a:ext>
            </a:extLst>
          </p:cNvPr>
          <p:cNvSpPr/>
          <p:nvPr/>
        </p:nvSpPr>
        <p:spPr>
          <a:xfrm>
            <a:off x="1779833" y="836509"/>
            <a:ext cx="8817527" cy="56613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300C374-6FBC-663B-541C-33EECBFFA372}"/>
              </a:ext>
            </a:extLst>
          </p:cNvPr>
          <p:cNvPicPr>
            <a:picLocks noChangeAspect="1"/>
          </p:cNvPicPr>
          <p:nvPr/>
        </p:nvPicPr>
        <p:blipFill>
          <a:blip r:embed="rId2"/>
          <a:stretch>
            <a:fillRect/>
          </a:stretch>
        </p:blipFill>
        <p:spPr>
          <a:xfrm>
            <a:off x="2354015" y="3838908"/>
            <a:ext cx="7669161" cy="2286000"/>
          </a:xfrm>
          <a:prstGeom prst="rect">
            <a:avLst/>
          </a:prstGeom>
        </p:spPr>
      </p:pic>
      <p:pic>
        <p:nvPicPr>
          <p:cNvPr id="8" name="Picture 7">
            <a:extLst>
              <a:ext uri="{FF2B5EF4-FFF2-40B4-BE49-F238E27FC236}">
                <a16:creationId xmlns:a16="http://schemas.microsoft.com/office/drawing/2014/main" id="{1F09D23D-C7D4-F5A7-2D21-6E3A6F786BFC}"/>
              </a:ext>
            </a:extLst>
          </p:cNvPr>
          <p:cNvPicPr>
            <a:picLocks noChangeAspect="1"/>
          </p:cNvPicPr>
          <p:nvPr/>
        </p:nvPicPr>
        <p:blipFill>
          <a:blip r:embed="rId3"/>
          <a:stretch>
            <a:fillRect/>
          </a:stretch>
        </p:blipFill>
        <p:spPr>
          <a:xfrm>
            <a:off x="2354015" y="2880360"/>
            <a:ext cx="4745152" cy="548640"/>
          </a:xfrm>
          <a:prstGeom prst="rect">
            <a:avLst/>
          </a:prstGeom>
        </p:spPr>
      </p:pic>
      <p:pic>
        <p:nvPicPr>
          <p:cNvPr id="14" name="Picture 13">
            <a:extLst>
              <a:ext uri="{FF2B5EF4-FFF2-40B4-BE49-F238E27FC236}">
                <a16:creationId xmlns:a16="http://schemas.microsoft.com/office/drawing/2014/main" id="{06C3F8A6-0559-D830-7123-75339C8079E8}"/>
              </a:ext>
            </a:extLst>
          </p:cNvPr>
          <p:cNvPicPr>
            <a:picLocks noChangeAspect="1"/>
          </p:cNvPicPr>
          <p:nvPr/>
        </p:nvPicPr>
        <p:blipFill>
          <a:blip r:embed="rId4"/>
          <a:stretch>
            <a:fillRect/>
          </a:stretch>
        </p:blipFill>
        <p:spPr>
          <a:xfrm>
            <a:off x="2354015" y="1133124"/>
            <a:ext cx="1656381" cy="1371600"/>
          </a:xfrm>
          <a:prstGeom prst="rect">
            <a:avLst/>
          </a:prstGeom>
        </p:spPr>
      </p:pic>
    </p:spTree>
    <p:extLst>
      <p:ext uri="{BB962C8B-B14F-4D97-AF65-F5344CB8AC3E}">
        <p14:creationId xmlns:p14="http://schemas.microsoft.com/office/powerpoint/2010/main" val="28509436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89123"/>
            <a:ext cx="9755080" cy="737510"/>
          </a:xfrm>
        </p:spPr>
        <p:txBody>
          <a:bodyPr>
            <a:noAutofit/>
          </a:bodyPr>
          <a:lstStyle/>
          <a:p>
            <a:r>
              <a:rPr lang="en-US" sz="4200" dirty="0" err="1">
                <a:solidFill>
                  <a:srgbClr val="C00000"/>
                </a:solidFill>
              </a:rPr>
              <a:t>Zemaphore</a:t>
            </a:r>
            <a:r>
              <a:rPr lang="en-US" sz="4200" dirty="0">
                <a:solidFill>
                  <a:srgbClr val="C00000"/>
                </a:solidFill>
              </a:rPr>
              <a:t> implementation</a:t>
            </a:r>
          </a:p>
        </p:txBody>
      </p:sp>
      <p:sp>
        <p:nvSpPr>
          <p:cNvPr id="7" name="Rectangle 6">
            <a:extLst>
              <a:ext uri="{FF2B5EF4-FFF2-40B4-BE49-F238E27FC236}">
                <a16:creationId xmlns:a16="http://schemas.microsoft.com/office/drawing/2014/main" id="{7DAF1817-B594-A0AD-A1D2-D12AD171D262}"/>
              </a:ext>
            </a:extLst>
          </p:cNvPr>
          <p:cNvSpPr/>
          <p:nvPr/>
        </p:nvSpPr>
        <p:spPr>
          <a:xfrm>
            <a:off x="1779833" y="836509"/>
            <a:ext cx="8817527" cy="566134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71D5C40-0B37-E611-27C8-5E7F8BE0DBA7}"/>
              </a:ext>
            </a:extLst>
          </p:cNvPr>
          <p:cNvPicPr>
            <a:picLocks noChangeAspect="1"/>
          </p:cNvPicPr>
          <p:nvPr/>
        </p:nvPicPr>
        <p:blipFill>
          <a:blip r:embed="rId2"/>
          <a:stretch>
            <a:fillRect/>
          </a:stretch>
        </p:blipFill>
        <p:spPr>
          <a:xfrm>
            <a:off x="2696817" y="923982"/>
            <a:ext cx="6798365" cy="5486400"/>
          </a:xfrm>
          <a:prstGeom prst="rect">
            <a:avLst/>
          </a:prstGeom>
        </p:spPr>
      </p:pic>
    </p:spTree>
    <p:extLst>
      <p:ext uri="{BB962C8B-B14F-4D97-AF65-F5344CB8AC3E}">
        <p14:creationId xmlns:p14="http://schemas.microsoft.com/office/powerpoint/2010/main" val="11616392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749</Words>
  <Application>Microsoft Office PowerPoint</Application>
  <PresentationFormat>Widescreen</PresentationFormat>
  <Paragraphs>77</Paragraphs>
  <Slides>18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PowerPoint Presentation</vt:lpstr>
      <vt:lpstr>Reading Assignment</vt:lpstr>
      <vt:lpstr>Agenda</vt:lpstr>
      <vt:lpstr>The motivation </vt:lpstr>
      <vt:lpstr>Definition of Semaphore</vt:lpstr>
      <vt:lpstr>Binary semaphore (lock)</vt:lpstr>
      <vt:lpstr>Semaphores for ordering - 1</vt:lpstr>
      <vt:lpstr>Semaphores for ordering - 2</vt:lpstr>
      <vt:lpstr>Semaphores for bounded buffer - 1</vt:lpstr>
      <vt:lpstr>Semaphores for bounded buffer - 2</vt:lpstr>
      <vt:lpstr>bounded buffer with deadlock- 3</vt:lpstr>
      <vt:lpstr>Correct bounded buffer - 4</vt:lpstr>
      <vt:lpstr>Deadlock – 1 [1] [1] Qi, H., et al. "Deadlock detection, cooperative avoidance and recovery protocol for mixed autonomous vehicles in unstructured environment. </vt:lpstr>
      <vt:lpstr>Deadlock - 2</vt:lpstr>
      <vt:lpstr>Deadlock – 3</vt:lpstr>
      <vt:lpstr>The dining philosopher problem</vt:lpstr>
      <vt:lpstr>The dining philosopher implementation</vt:lpstr>
      <vt:lpstr>Zemaphore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2026-04-12T22:17:10Z</dcterms:modified>
</cp:coreProperties>
</file>