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311" r:id="rId4"/>
    <p:sldId id="312" r:id="rId5"/>
    <p:sldId id="313" r:id="rId6"/>
    <p:sldId id="314" r:id="rId7"/>
    <p:sldId id="281" r:id="rId8"/>
    <p:sldId id="293" r:id="rId9"/>
    <p:sldId id="287" r:id="rId10"/>
    <p:sldId id="315" r:id="rId11"/>
    <p:sldId id="290" r:id="rId12"/>
    <p:sldId id="309" r:id="rId13"/>
    <p:sldId id="3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9" autoAdjust="0"/>
    <p:restoredTop sz="84791" autoAdjust="0"/>
  </p:normalViewPr>
  <p:slideViewPr>
    <p:cSldViewPr snapToGrid="0">
      <p:cViewPr varScale="1">
        <p:scale>
          <a:sx n="71" d="100"/>
          <a:sy n="71" d="100"/>
        </p:scale>
        <p:origin x="710"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undo redo custSel addSld delSld modSld">
      <pc:chgData name="Zhao, Jie" userId="7be6526a-30ba-445c-b3a9-aabf2c8f5828" providerId="ADAL" clId="{DEC740C7-2239-4DCB-A2EC-28D5B021DFB5}" dt="2026-03-22T21:39:19.593" v="3137" actId="20577"/>
      <pc:docMkLst>
        <pc:docMk/>
      </pc:docMkLst>
      <pc:sldChg chg="modSp mod">
        <pc:chgData name="Zhao, Jie" userId="7be6526a-30ba-445c-b3a9-aabf2c8f5828" providerId="ADAL" clId="{DEC740C7-2239-4DCB-A2EC-28D5B021DFB5}" dt="2026-03-22T21:39:19.593" v="3137" actId="20577"/>
        <pc:sldMkLst>
          <pc:docMk/>
          <pc:sldMk cId="2199995263" sldId="256"/>
        </pc:sldMkLst>
        <pc:spChg chg="mod">
          <ac:chgData name="Zhao, Jie" userId="7be6526a-30ba-445c-b3a9-aabf2c8f5828" providerId="ADAL" clId="{DEC740C7-2239-4DCB-A2EC-28D5B021DFB5}" dt="2026-03-22T21:39:19.593" v="3137"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A7E2B-9D39-5DB7-7DDB-F5D3EA9DA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FA09F-3D74-E2F5-9F99-40405009FE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B9E61-2D90-33DC-7D9F-8B266F59C09C}"/>
              </a:ext>
            </a:extLst>
          </p:cNvPr>
          <p:cNvSpPr>
            <a:spLocks noGrp="1"/>
          </p:cNvSpPr>
          <p:nvPr>
            <p:ph type="body" idx="1"/>
          </p:nvPr>
        </p:nvSpPr>
        <p:spPr/>
        <p:txBody>
          <a:bodyPr/>
          <a:lstStyle/>
          <a:p>
            <a:r>
              <a:rPr lang="en-US" dirty="0"/>
              <a:t>Q1: Where is swap space?</a:t>
            </a:r>
          </a:p>
          <a:p>
            <a:endParaRPr lang="en-US" dirty="0"/>
          </a:p>
          <a:p>
            <a:r>
              <a:rPr lang="en-US" dirty="0"/>
              <a:t>C1: In hard disk, basic storage unit is block.</a:t>
            </a:r>
          </a:p>
        </p:txBody>
      </p:sp>
      <p:sp>
        <p:nvSpPr>
          <p:cNvPr id="4" name="Slide Number Placeholder 3">
            <a:extLst>
              <a:ext uri="{FF2B5EF4-FFF2-40B4-BE49-F238E27FC236}">
                <a16:creationId xmlns:a16="http://schemas.microsoft.com/office/drawing/2014/main" id="{80BC9672-41D1-C17E-91B9-28D30264AB21}"/>
              </a:ext>
            </a:extLst>
          </p:cNvPr>
          <p:cNvSpPr>
            <a:spLocks noGrp="1"/>
          </p:cNvSpPr>
          <p:nvPr>
            <p:ph type="sldNum" sz="quarter" idx="5"/>
          </p:nvPr>
        </p:nvSpPr>
        <p:spPr/>
        <p:txBody>
          <a:bodyPr/>
          <a:lstStyle/>
          <a:p>
            <a:fld id="{7B9532FC-0C26-41ED-91C4-2A1C58AE2C83}" type="slidenum">
              <a:rPr lang="en-US" smtClean="0"/>
              <a:t>4</a:t>
            </a:fld>
            <a:endParaRPr lang="en-US"/>
          </a:p>
        </p:txBody>
      </p:sp>
    </p:spTree>
    <p:extLst>
      <p:ext uri="{BB962C8B-B14F-4D97-AF65-F5344CB8AC3E}">
        <p14:creationId xmlns:p14="http://schemas.microsoft.com/office/powerpoint/2010/main" val="2994935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EC1D5-51C6-0C4F-2973-62B5033E0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60EDA-FD1B-98F7-ECB2-AE16BD9D7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68EC5-582F-EB68-FF03-7B18F8F214F3}"/>
              </a:ext>
            </a:extLst>
          </p:cNvPr>
          <p:cNvSpPr>
            <a:spLocks noGrp="1"/>
          </p:cNvSpPr>
          <p:nvPr>
            <p:ph type="body" idx="1"/>
          </p:nvPr>
        </p:nvSpPr>
        <p:spPr/>
        <p:txBody>
          <a:bodyPr/>
          <a:lstStyle/>
          <a:p>
            <a:r>
              <a:rPr lang="en-US" dirty="0"/>
              <a:t>Q1: Where is swap space?</a:t>
            </a:r>
          </a:p>
          <a:p>
            <a:endParaRPr lang="en-US" dirty="0"/>
          </a:p>
          <a:p>
            <a:r>
              <a:rPr lang="en-US" dirty="0"/>
              <a:t>C1: In hard disk, basic storage unit is block.</a:t>
            </a:r>
          </a:p>
        </p:txBody>
      </p:sp>
      <p:sp>
        <p:nvSpPr>
          <p:cNvPr id="4" name="Slide Number Placeholder 3">
            <a:extLst>
              <a:ext uri="{FF2B5EF4-FFF2-40B4-BE49-F238E27FC236}">
                <a16:creationId xmlns:a16="http://schemas.microsoft.com/office/drawing/2014/main" id="{335F4E18-E66A-30AC-26E2-3C1EA0704971}"/>
              </a:ext>
            </a:extLst>
          </p:cNvPr>
          <p:cNvSpPr>
            <a:spLocks noGrp="1"/>
          </p:cNvSpPr>
          <p:nvPr>
            <p:ph type="sldNum" sz="quarter" idx="5"/>
          </p:nvPr>
        </p:nvSpPr>
        <p:spPr/>
        <p:txBody>
          <a:bodyPr/>
          <a:lstStyle/>
          <a:p>
            <a:fld id="{7B9532FC-0C26-41ED-91C4-2A1C58AE2C83}" type="slidenum">
              <a:rPr lang="en-US" smtClean="0"/>
              <a:t>5</a:t>
            </a:fld>
            <a:endParaRPr lang="en-US"/>
          </a:p>
        </p:txBody>
      </p:sp>
    </p:spTree>
    <p:extLst>
      <p:ext uri="{BB962C8B-B14F-4D97-AF65-F5344CB8AC3E}">
        <p14:creationId xmlns:p14="http://schemas.microsoft.com/office/powerpoint/2010/main" val="2836289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9A033-43C0-B015-F6B6-BC5ED23C5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A9AB4-FB89-1A61-DD56-9C82329BF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A324D-7B25-31C8-CAE8-BE959F7DD841}"/>
              </a:ext>
            </a:extLst>
          </p:cNvPr>
          <p:cNvSpPr>
            <a:spLocks noGrp="1"/>
          </p:cNvSpPr>
          <p:nvPr>
            <p:ph type="body" idx="1"/>
          </p:nvPr>
        </p:nvSpPr>
        <p:spPr/>
        <p:txBody>
          <a:bodyPr/>
          <a:lstStyle/>
          <a:p>
            <a:r>
              <a:rPr lang="en-US" dirty="0"/>
              <a:t>Q1: Where is swap space?</a:t>
            </a:r>
          </a:p>
          <a:p>
            <a:endParaRPr lang="en-US" dirty="0"/>
          </a:p>
          <a:p>
            <a:r>
              <a:rPr lang="en-US" dirty="0"/>
              <a:t>C1: In hard disk, basic storage unit is block.</a:t>
            </a:r>
          </a:p>
        </p:txBody>
      </p:sp>
      <p:sp>
        <p:nvSpPr>
          <p:cNvPr id="4" name="Slide Number Placeholder 3">
            <a:extLst>
              <a:ext uri="{FF2B5EF4-FFF2-40B4-BE49-F238E27FC236}">
                <a16:creationId xmlns:a16="http://schemas.microsoft.com/office/drawing/2014/main" id="{CC37BFC3-84EF-3DB7-E81F-D857C66CBF29}"/>
              </a:ext>
            </a:extLst>
          </p:cNvPr>
          <p:cNvSpPr>
            <a:spLocks noGrp="1"/>
          </p:cNvSpPr>
          <p:nvPr>
            <p:ph type="sldNum" sz="quarter" idx="5"/>
          </p:nvPr>
        </p:nvSpPr>
        <p:spPr/>
        <p:txBody>
          <a:bodyPr/>
          <a:lstStyle/>
          <a:p>
            <a:fld id="{7B9532FC-0C26-41ED-91C4-2A1C58AE2C83}" type="slidenum">
              <a:rPr lang="en-US" smtClean="0"/>
              <a:t>6</a:t>
            </a:fld>
            <a:endParaRPr lang="en-US"/>
          </a:p>
        </p:txBody>
      </p:sp>
    </p:spTree>
    <p:extLst>
      <p:ext uri="{BB962C8B-B14F-4D97-AF65-F5344CB8AC3E}">
        <p14:creationId xmlns:p14="http://schemas.microsoft.com/office/powerpoint/2010/main" val="1706033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
            </a:r>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7</a:t>
            </a:fld>
            <a:endParaRPr lang="en-US"/>
          </a:p>
        </p:txBody>
      </p:sp>
    </p:spTree>
    <p:extLst>
      <p:ext uri="{BB962C8B-B14F-4D97-AF65-F5344CB8AC3E}">
        <p14:creationId xmlns:p14="http://schemas.microsoft.com/office/powerpoint/2010/main" val="2092948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Table: VPN -&gt; Block No. in disk, not PFN</a:t>
            </a:r>
          </a:p>
        </p:txBody>
      </p:sp>
      <p:sp>
        <p:nvSpPr>
          <p:cNvPr id="4" name="Slide Number Placeholder 3"/>
          <p:cNvSpPr>
            <a:spLocks noGrp="1"/>
          </p:cNvSpPr>
          <p:nvPr>
            <p:ph type="sldNum" sz="quarter" idx="5"/>
          </p:nvPr>
        </p:nvSpPr>
        <p:spPr/>
        <p:txBody>
          <a:bodyPr/>
          <a:lstStyle/>
          <a:p>
            <a:fld id="{7B9532FC-0C26-41ED-91C4-2A1C58AE2C83}" type="slidenum">
              <a:rPr lang="en-US" smtClean="0"/>
              <a:t>8</a:t>
            </a:fld>
            <a:endParaRPr lang="en-US"/>
          </a:p>
        </p:txBody>
      </p:sp>
    </p:spTree>
    <p:extLst>
      <p:ext uri="{BB962C8B-B14F-4D97-AF65-F5344CB8AC3E}">
        <p14:creationId xmlns:p14="http://schemas.microsoft.com/office/powerpoint/2010/main" val="1784107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9</a:t>
            </a:fld>
            <a:endParaRPr lang="en-US"/>
          </a:p>
        </p:txBody>
      </p:sp>
    </p:spTree>
    <p:extLst>
      <p:ext uri="{BB962C8B-B14F-4D97-AF65-F5344CB8AC3E}">
        <p14:creationId xmlns:p14="http://schemas.microsoft.com/office/powerpoint/2010/main" val="819042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A4F9D-DE83-7228-28DA-1902D6C20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E16C6-58CB-B435-2E09-D83D071E0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D68CF-6691-3997-0D6D-F2B7415D8A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13334A-C2CC-88DF-07D8-FCCCE62D172A}"/>
              </a:ext>
            </a:extLst>
          </p:cNvPr>
          <p:cNvSpPr>
            <a:spLocks noGrp="1"/>
          </p:cNvSpPr>
          <p:nvPr>
            <p:ph type="sldNum" sz="quarter" idx="5"/>
          </p:nvPr>
        </p:nvSpPr>
        <p:spPr/>
        <p:txBody>
          <a:bodyPr/>
          <a:lstStyle/>
          <a:p>
            <a:fld id="{7B9532FC-0C26-41ED-91C4-2A1C58AE2C83}" type="slidenum">
              <a:rPr lang="en-US" smtClean="0"/>
              <a:t>10</a:t>
            </a:fld>
            <a:endParaRPr lang="en-US"/>
          </a:p>
        </p:txBody>
      </p:sp>
    </p:spTree>
    <p:extLst>
      <p:ext uri="{BB962C8B-B14F-4D97-AF65-F5344CB8AC3E}">
        <p14:creationId xmlns:p14="http://schemas.microsoft.com/office/powerpoint/2010/main" val="516508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11</a:t>
            </a:fld>
            <a:endParaRPr lang="en-US"/>
          </a:p>
        </p:txBody>
      </p:sp>
    </p:spTree>
    <p:extLst>
      <p:ext uri="{BB962C8B-B14F-4D97-AF65-F5344CB8AC3E}">
        <p14:creationId xmlns:p14="http://schemas.microsoft.com/office/powerpoint/2010/main" val="3891994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13</a:t>
            </a:fld>
            <a:endParaRPr lang="en-US"/>
          </a:p>
        </p:txBody>
      </p:sp>
    </p:spTree>
    <p:extLst>
      <p:ext uri="{BB962C8B-B14F-4D97-AF65-F5344CB8AC3E}">
        <p14:creationId xmlns:p14="http://schemas.microsoft.com/office/powerpoint/2010/main" val="1889673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3/22/2026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Free Memory Management</a:t>
            </a:r>
          </a:p>
          <a:p>
            <a:r>
              <a:rPr lang="en-US" dirty="0"/>
              <a:t>Lecture: Dr. Zhao Jie</a:t>
            </a:r>
          </a:p>
          <a:p>
            <a:r>
              <a:rPr lang="en-US" dirty="0"/>
              <a:t>Date: 03/25/2026</a:t>
            </a:r>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566"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sz="2800" b="0" i="0" dirty="0">
                <a:solidFill>
                  <a:srgbClr val="000000"/>
                </a:solidFill>
                <a:effectLst/>
                <a:latin typeface="Arial" panose="020B0604020202020204" pitchFamily="34" charset="0"/>
              </a:rPr>
              <a:t>Chapters</a:t>
            </a:r>
            <a:r>
              <a:rPr lang="en-US" sz="2800" dirty="0">
                <a:solidFill>
                  <a:srgbClr val="000000"/>
                </a:solidFill>
                <a:latin typeface="Arial" panose="020B0604020202020204" pitchFamily="34" charset="0"/>
              </a:rPr>
              <a:t> 17</a:t>
            </a:r>
            <a:endParaRPr lang="pl-PL" sz="2800" b="0" i="0" dirty="0">
              <a:solidFill>
                <a:srgbClr val="000000"/>
              </a:solidFill>
              <a:effectLst/>
              <a:latin typeface="Arial" panose="020B0604020202020204" pitchFamily="34" charset="0"/>
            </a:endParaRPr>
          </a:p>
          <a:p>
            <a:endParaRPr lang="en-US" sz="2800"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850656"/>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736745" y="2421160"/>
            <a:ext cx="10878747" cy="2709935"/>
          </a:xfrm>
        </p:spPr>
        <p:txBody>
          <a:bodyPr>
            <a:normAutofit/>
          </a:bodyPr>
          <a:lstStyle/>
          <a:p>
            <a:pPr marL="457200" indent="-457200" algn="l">
              <a:lnSpc>
                <a:spcPct val="150000"/>
              </a:lnSpc>
              <a:buFont typeface="Arial" panose="020B0604020202020204" pitchFamily="34" charset="0"/>
              <a:buChar char="•"/>
            </a:pPr>
            <a:r>
              <a:rPr lang="en-US" sz="2800" b="0" i="0" dirty="0">
                <a:solidFill>
                  <a:srgbClr val="000000"/>
                </a:solidFill>
                <a:effectLst/>
                <a:latin typeface="Arial" panose="020B0604020202020204" pitchFamily="34" charset="0"/>
              </a:rPr>
              <a:t>Variable size allocation</a:t>
            </a:r>
          </a:p>
          <a:p>
            <a:pPr marL="457200" indent="-457200" algn="l">
              <a:lnSpc>
                <a:spcPct val="150000"/>
              </a:lnSpc>
              <a:buFont typeface="Arial" panose="020B0604020202020204" pitchFamily="34" charset="0"/>
              <a:buChar char="•"/>
            </a:pPr>
            <a:r>
              <a:rPr lang="en-US" sz="2800" b="0" i="0" dirty="0">
                <a:solidFill>
                  <a:srgbClr val="000000"/>
                </a:solidFill>
                <a:effectLst/>
                <a:latin typeface="Arial" panose="020B0604020202020204" pitchFamily="34" charset="0"/>
              </a:rPr>
              <a:t>Internal fragmentation and external fragmentation</a:t>
            </a:r>
          </a:p>
          <a:p>
            <a:pPr marL="457200" indent="-457200" algn="l">
              <a:lnSpc>
                <a:spcPct val="150000"/>
              </a:lnSpc>
              <a:buFont typeface="Arial" panose="020B0604020202020204" pitchFamily="34" charset="0"/>
              <a:buChar char="•"/>
            </a:pPr>
            <a:r>
              <a:rPr lang="en-US" sz="2800" b="0" i="0" dirty="0">
                <a:solidFill>
                  <a:srgbClr val="000000"/>
                </a:solidFill>
                <a:effectLst/>
                <a:latin typeface="Arial" panose="020B0604020202020204" pitchFamily="34" charset="0"/>
              </a:rPr>
              <a:t>Variable size allocation strategies (first fit, best fit, and worst fit)</a:t>
            </a:r>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1824221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E1ED6-9D42-D3BD-FD45-D97492667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569C7-59B1-E562-C1CB-11AC143C0BFB}"/>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The motivation of the varied-size piece - 1</a:t>
            </a:r>
          </a:p>
        </p:txBody>
      </p:sp>
      <p:sp>
        <p:nvSpPr>
          <p:cNvPr id="3" name="Subtitle 2">
            <a:extLst>
              <a:ext uri="{FF2B5EF4-FFF2-40B4-BE49-F238E27FC236}">
                <a16:creationId xmlns:a16="http://schemas.microsoft.com/office/drawing/2014/main" id="{0407D40A-20B7-EF38-CA30-EEA18F32F88B}"/>
              </a:ext>
            </a:extLst>
          </p:cNvPr>
          <p:cNvSpPr>
            <a:spLocks noGrp="1"/>
          </p:cNvSpPr>
          <p:nvPr>
            <p:ph type="subTitle" idx="1"/>
          </p:nvPr>
        </p:nvSpPr>
        <p:spPr>
          <a:xfrm>
            <a:off x="1130243" y="1147703"/>
            <a:ext cx="9379977" cy="2111863"/>
          </a:xfrm>
        </p:spPr>
        <p:txBody>
          <a:bodyPr>
            <a:noAutofit/>
          </a:bodyPr>
          <a:lstStyle/>
          <a:p>
            <a:pPr marL="342900" indent="-342900" algn="l">
              <a:lnSpc>
                <a:spcPct val="150000"/>
              </a:lnSpc>
              <a:buFont typeface="Arial" panose="020B0604020202020204" pitchFamily="34" charset="0"/>
              <a:buChar char="•"/>
            </a:pPr>
            <a:r>
              <a:rPr lang="en-US" sz="2200" dirty="0"/>
              <a:t>The advantage of using the fixed-size piece</a:t>
            </a:r>
          </a:p>
          <a:p>
            <a:pPr lvl="1" algn="l">
              <a:lnSpc>
                <a:spcPct val="150000"/>
              </a:lnSpc>
            </a:pPr>
            <a:r>
              <a:rPr lang="en-US" sz="1800" dirty="0"/>
              <a:t>-    Each page has the same size, like 1KB or 4KB</a:t>
            </a:r>
          </a:p>
          <a:p>
            <a:pPr marL="742950" lvl="1" indent="-285750" algn="l">
              <a:lnSpc>
                <a:spcPct val="150000"/>
              </a:lnSpc>
              <a:buFontTx/>
              <a:buChar char="-"/>
            </a:pPr>
            <a:r>
              <a:rPr lang="en-US" sz="1800" dirty="0"/>
              <a:t>Easy to compute the memory address. </a:t>
            </a:r>
            <a:r>
              <a:rPr lang="en-US" sz="1800" u="sng" dirty="0"/>
              <a:t>In the example, if the PFN is known, the memory address can be calculated.</a:t>
            </a:r>
          </a:p>
          <a:p>
            <a:pPr algn="l">
              <a:lnSpc>
                <a:spcPct val="150000"/>
              </a:lnSpc>
            </a:pPr>
            <a:endParaRPr lang="en-US" sz="2200" dirty="0"/>
          </a:p>
          <a:p>
            <a:pPr algn="l">
              <a:lnSpc>
                <a:spcPct val="150000"/>
              </a:lnSpc>
            </a:pPr>
            <a:endParaRPr lang="en-US" sz="2200" dirty="0"/>
          </a:p>
        </p:txBody>
      </p:sp>
      <p:pic>
        <p:nvPicPr>
          <p:cNvPr id="5" name="Picture 4">
            <a:extLst>
              <a:ext uri="{FF2B5EF4-FFF2-40B4-BE49-F238E27FC236}">
                <a16:creationId xmlns:a16="http://schemas.microsoft.com/office/drawing/2014/main" id="{0C29D494-B85F-D2D9-7294-A5388F814965}"/>
              </a:ext>
            </a:extLst>
          </p:cNvPr>
          <p:cNvPicPr>
            <a:picLocks noChangeAspect="1"/>
          </p:cNvPicPr>
          <p:nvPr/>
        </p:nvPicPr>
        <p:blipFill>
          <a:blip r:embed="rId3"/>
          <a:stretch>
            <a:fillRect/>
          </a:stretch>
        </p:blipFill>
        <p:spPr>
          <a:xfrm>
            <a:off x="4171122" y="3305287"/>
            <a:ext cx="3849756" cy="3200400"/>
          </a:xfrm>
          <a:prstGeom prst="rect">
            <a:avLst/>
          </a:prstGeom>
        </p:spPr>
      </p:pic>
    </p:spTree>
    <p:extLst>
      <p:ext uri="{BB962C8B-B14F-4D97-AF65-F5344CB8AC3E}">
        <p14:creationId xmlns:p14="http://schemas.microsoft.com/office/powerpoint/2010/main" val="275605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F7FA-2C2D-70EE-A571-7D2E5D6BC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401F8-30F1-697A-5CCE-8DFF735423C5}"/>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The motivation of the varied-size piece - 2</a:t>
            </a:r>
          </a:p>
        </p:txBody>
      </p:sp>
      <p:sp>
        <p:nvSpPr>
          <p:cNvPr id="3" name="Subtitle 2">
            <a:extLst>
              <a:ext uri="{FF2B5EF4-FFF2-40B4-BE49-F238E27FC236}">
                <a16:creationId xmlns:a16="http://schemas.microsoft.com/office/drawing/2014/main" id="{058DEF48-E707-8AE9-7860-936AC085E2CD}"/>
              </a:ext>
            </a:extLst>
          </p:cNvPr>
          <p:cNvSpPr>
            <a:spLocks noGrp="1"/>
          </p:cNvSpPr>
          <p:nvPr>
            <p:ph type="subTitle" idx="1"/>
          </p:nvPr>
        </p:nvSpPr>
        <p:spPr>
          <a:xfrm>
            <a:off x="1135621" y="1271417"/>
            <a:ext cx="9379977" cy="3779299"/>
          </a:xfrm>
        </p:spPr>
        <p:txBody>
          <a:bodyPr>
            <a:noAutofit/>
          </a:bodyPr>
          <a:lstStyle/>
          <a:p>
            <a:pPr marL="342900" indent="-342900" algn="l">
              <a:lnSpc>
                <a:spcPct val="150000"/>
              </a:lnSpc>
              <a:buFont typeface="Arial" panose="020B0604020202020204" pitchFamily="34" charset="0"/>
              <a:buChar char="•"/>
            </a:pPr>
            <a:r>
              <a:rPr lang="en-US" sz="2200" dirty="0"/>
              <a:t>The disadvantage of using the fixed-size piece</a:t>
            </a:r>
          </a:p>
          <a:p>
            <a:pPr lvl="1" algn="l">
              <a:lnSpc>
                <a:spcPct val="150000"/>
              </a:lnSpc>
            </a:pPr>
            <a:r>
              <a:rPr lang="en-US" sz="1800" dirty="0"/>
              <a:t>-    If each page has the same size, it will cause internal fragmentation and external fragmentation.</a:t>
            </a:r>
          </a:p>
          <a:p>
            <a:pPr marL="742950" lvl="1" indent="-285750" algn="l">
              <a:lnSpc>
                <a:spcPct val="150000"/>
              </a:lnSpc>
              <a:buFontTx/>
              <a:buChar char="-"/>
            </a:pPr>
            <a:r>
              <a:rPr lang="en-US" sz="1800" b="1" dirty="0"/>
              <a:t>The internal fragmentation </a:t>
            </a:r>
            <a:r>
              <a:rPr lang="en-US" sz="1800" dirty="0"/>
              <a:t>means that the allocated memory piece is larger than the user request, so that the surplus becomes the waste.</a:t>
            </a:r>
          </a:p>
          <a:p>
            <a:pPr marL="742950" lvl="1" indent="-285750" algn="l">
              <a:lnSpc>
                <a:spcPct val="150000"/>
              </a:lnSpc>
              <a:buFontTx/>
              <a:buChar char="-"/>
            </a:pPr>
            <a:r>
              <a:rPr lang="en-US" sz="1800" b="1" dirty="0"/>
              <a:t>The external fragmentation </a:t>
            </a:r>
            <a:r>
              <a:rPr lang="en-US" sz="1800" dirty="0"/>
              <a:t>means that the user cannot get the requested memory, even though the total size of the free memory pieces is enough, but these pieces are not consecutive. </a:t>
            </a:r>
            <a:endParaRPr lang="en-US" sz="2200" dirty="0"/>
          </a:p>
          <a:p>
            <a:pPr algn="l">
              <a:lnSpc>
                <a:spcPct val="150000"/>
              </a:lnSpc>
            </a:pPr>
            <a:endParaRPr lang="en-US" sz="2200" dirty="0"/>
          </a:p>
        </p:txBody>
      </p:sp>
      <p:pic>
        <p:nvPicPr>
          <p:cNvPr id="6" name="Picture 5">
            <a:extLst>
              <a:ext uri="{FF2B5EF4-FFF2-40B4-BE49-F238E27FC236}">
                <a16:creationId xmlns:a16="http://schemas.microsoft.com/office/drawing/2014/main" id="{C8D28750-87E2-248C-3677-3531606D6263}"/>
              </a:ext>
            </a:extLst>
          </p:cNvPr>
          <p:cNvPicPr>
            <a:picLocks noChangeAspect="1"/>
          </p:cNvPicPr>
          <p:nvPr/>
        </p:nvPicPr>
        <p:blipFill>
          <a:blip r:embed="rId3"/>
          <a:stretch>
            <a:fillRect/>
          </a:stretch>
        </p:blipFill>
        <p:spPr>
          <a:xfrm>
            <a:off x="3479802" y="5129383"/>
            <a:ext cx="5232396" cy="914400"/>
          </a:xfrm>
          <a:prstGeom prst="rect">
            <a:avLst/>
          </a:prstGeom>
        </p:spPr>
      </p:pic>
    </p:spTree>
    <p:extLst>
      <p:ext uri="{BB962C8B-B14F-4D97-AF65-F5344CB8AC3E}">
        <p14:creationId xmlns:p14="http://schemas.microsoft.com/office/powerpoint/2010/main" val="4036118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06934-B88B-CFDF-C66E-B9E92E55C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491BD-9BC7-0761-AD29-DE2A68DE823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Low-level mechanism</a:t>
            </a:r>
          </a:p>
        </p:txBody>
      </p:sp>
      <p:sp>
        <p:nvSpPr>
          <p:cNvPr id="3" name="Subtitle 2">
            <a:extLst>
              <a:ext uri="{FF2B5EF4-FFF2-40B4-BE49-F238E27FC236}">
                <a16:creationId xmlns:a16="http://schemas.microsoft.com/office/drawing/2014/main" id="{C78BD996-6867-7414-FBDC-960D6D52C6F1}"/>
              </a:ext>
            </a:extLst>
          </p:cNvPr>
          <p:cNvSpPr>
            <a:spLocks noGrp="1"/>
          </p:cNvSpPr>
          <p:nvPr>
            <p:ph type="subTitle" idx="1"/>
          </p:nvPr>
        </p:nvSpPr>
        <p:spPr>
          <a:xfrm>
            <a:off x="1135621" y="1271417"/>
            <a:ext cx="9379977" cy="4370969"/>
          </a:xfrm>
        </p:spPr>
        <p:txBody>
          <a:bodyPr>
            <a:noAutofit/>
          </a:bodyPr>
          <a:lstStyle/>
          <a:p>
            <a:pPr marL="342900" indent="-342900" algn="l">
              <a:lnSpc>
                <a:spcPct val="150000"/>
              </a:lnSpc>
              <a:buFont typeface="Arial" panose="020B0604020202020204" pitchFamily="34" charset="0"/>
              <a:buChar char="•"/>
            </a:pPr>
            <a:r>
              <a:rPr lang="en-US" sz="2200" dirty="0"/>
              <a:t>The free list of memory (unit assumed: KB)</a:t>
            </a:r>
          </a:p>
          <a:p>
            <a:pPr lvl="1" algn="l">
              <a:lnSpc>
                <a:spcPct val="300000"/>
              </a:lnSpc>
            </a:pPr>
            <a:r>
              <a:rPr lang="en-US" sz="1800" dirty="0"/>
              <a:t>-   </a:t>
            </a:r>
            <a:r>
              <a:rPr lang="en-US" dirty="0"/>
              <a:t> Initial state:</a:t>
            </a:r>
          </a:p>
          <a:p>
            <a:pPr marL="742950" lvl="1" indent="-285750" algn="l">
              <a:lnSpc>
                <a:spcPct val="300000"/>
              </a:lnSpc>
              <a:buFontTx/>
              <a:buChar char="-"/>
            </a:pPr>
            <a:r>
              <a:rPr lang="en-US" dirty="0"/>
              <a:t>Request 1KB:</a:t>
            </a:r>
          </a:p>
          <a:p>
            <a:pPr marL="742950" lvl="1" indent="-285750" algn="l">
              <a:lnSpc>
                <a:spcPct val="300000"/>
              </a:lnSpc>
              <a:buFontTx/>
              <a:buChar char="-"/>
            </a:pPr>
            <a:r>
              <a:rPr lang="en-US" dirty="0"/>
              <a:t>After returning 10KB:</a:t>
            </a:r>
          </a:p>
          <a:p>
            <a:pPr marL="742950" lvl="1" indent="-285750" algn="l">
              <a:lnSpc>
                <a:spcPct val="300000"/>
              </a:lnSpc>
              <a:buFontTx/>
              <a:buChar char="-"/>
            </a:pPr>
            <a:r>
              <a:rPr lang="en-US" dirty="0"/>
              <a:t>Coalescing to get a big whole chunk of free memory:</a:t>
            </a:r>
          </a:p>
          <a:p>
            <a:pPr algn="l">
              <a:lnSpc>
                <a:spcPct val="150000"/>
              </a:lnSpc>
            </a:pPr>
            <a:endParaRPr lang="en-US" sz="2200" dirty="0"/>
          </a:p>
        </p:txBody>
      </p:sp>
      <p:pic>
        <p:nvPicPr>
          <p:cNvPr id="5" name="Picture 4">
            <a:extLst>
              <a:ext uri="{FF2B5EF4-FFF2-40B4-BE49-F238E27FC236}">
                <a16:creationId xmlns:a16="http://schemas.microsoft.com/office/drawing/2014/main" id="{F97CCE40-30E2-952C-D39C-18C9FB39861A}"/>
              </a:ext>
            </a:extLst>
          </p:cNvPr>
          <p:cNvPicPr>
            <a:picLocks noChangeAspect="1"/>
          </p:cNvPicPr>
          <p:nvPr/>
        </p:nvPicPr>
        <p:blipFill>
          <a:blip r:embed="rId3"/>
          <a:stretch>
            <a:fillRect/>
          </a:stretch>
        </p:blipFill>
        <p:spPr>
          <a:xfrm>
            <a:off x="7302868" y="2144075"/>
            <a:ext cx="3426600" cy="731520"/>
          </a:xfrm>
          <a:prstGeom prst="rect">
            <a:avLst/>
          </a:prstGeom>
        </p:spPr>
      </p:pic>
      <p:pic>
        <p:nvPicPr>
          <p:cNvPr id="8" name="Picture 7">
            <a:extLst>
              <a:ext uri="{FF2B5EF4-FFF2-40B4-BE49-F238E27FC236}">
                <a16:creationId xmlns:a16="http://schemas.microsoft.com/office/drawing/2014/main" id="{F3FCB560-1CB6-14B4-53A6-FA529714E14D}"/>
              </a:ext>
            </a:extLst>
          </p:cNvPr>
          <p:cNvPicPr>
            <a:picLocks noChangeAspect="1"/>
          </p:cNvPicPr>
          <p:nvPr/>
        </p:nvPicPr>
        <p:blipFill>
          <a:blip r:embed="rId4"/>
          <a:stretch>
            <a:fillRect/>
          </a:stretch>
        </p:blipFill>
        <p:spPr>
          <a:xfrm>
            <a:off x="7067296" y="3117427"/>
            <a:ext cx="3662172" cy="822960"/>
          </a:xfrm>
          <a:prstGeom prst="rect">
            <a:avLst/>
          </a:prstGeom>
        </p:spPr>
      </p:pic>
      <p:pic>
        <p:nvPicPr>
          <p:cNvPr id="10" name="Picture 9">
            <a:extLst>
              <a:ext uri="{FF2B5EF4-FFF2-40B4-BE49-F238E27FC236}">
                <a16:creationId xmlns:a16="http://schemas.microsoft.com/office/drawing/2014/main" id="{D35D55F2-5FFC-8403-9217-8A7E84DFCD59}"/>
              </a:ext>
            </a:extLst>
          </p:cNvPr>
          <p:cNvPicPr>
            <a:picLocks noChangeAspect="1"/>
          </p:cNvPicPr>
          <p:nvPr/>
        </p:nvPicPr>
        <p:blipFill>
          <a:blip r:embed="rId5"/>
          <a:stretch>
            <a:fillRect/>
          </a:stretch>
        </p:blipFill>
        <p:spPr>
          <a:xfrm>
            <a:off x="5998974" y="4182219"/>
            <a:ext cx="4730494" cy="731520"/>
          </a:xfrm>
          <a:prstGeom prst="rect">
            <a:avLst/>
          </a:prstGeom>
        </p:spPr>
      </p:pic>
      <p:pic>
        <p:nvPicPr>
          <p:cNvPr id="12" name="Picture 11">
            <a:extLst>
              <a:ext uri="{FF2B5EF4-FFF2-40B4-BE49-F238E27FC236}">
                <a16:creationId xmlns:a16="http://schemas.microsoft.com/office/drawing/2014/main" id="{E5C0EFCF-3CB5-9077-CF86-41ED387AB874}"/>
              </a:ext>
            </a:extLst>
          </p:cNvPr>
          <p:cNvPicPr>
            <a:picLocks noChangeAspect="1"/>
          </p:cNvPicPr>
          <p:nvPr/>
        </p:nvPicPr>
        <p:blipFill>
          <a:blip r:embed="rId6"/>
          <a:stretch>
            <a:fillRect/>
          </a:stretch>
        </p:blipFill>
        <p:spPr>
          <a:xfrm>
            <a:off x="8106249" y="5152698"/>
            <a:ext cx="2814201" cy="731520"/>
          </a:xfrm>
          <a:prstGeom prst="rect">
            <a:avLst/>
          </a:prstGeom>
        </p:spPr>
      </p:pic>
    </p:spTree>
    <p:extLst>
      <p:ext uri="{BB962C8B-B14F-4D97-AF65-F5344CB8AC3E}">
        <p14:creationId xmlns:p14="http://schemas.microsoft.com/office/powerpoint/2010/main" val="167497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Free memory with meta data</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979493" y="1433737"/>
            <a:ext cx="4783840" cy="4317273"/>
          </a:xfrm>
        </p:spPr>
        <p:txBody>
          <a:bodyPr>
            <a:normAutofit fontScale="92500" lnSpcReduction="10000"/>
          </a:bodyPr>
          <a:lstStyle/>
          <a:p>
            <a:pPr marL="342900" indent="-342900" algn="l">
              <a:lnSpc>
                <a:spcPct val="150000"/>
              </a:lnSpc>
              <a:buFont typeface="Arial" panose="020B0604020202020204" pitchFamily="34" charset="0"/>
              <a:buChar char="•"/>
            </a:pPr>
            <a:r>
              <a:rPr lang="en-US" dirty="0"/>
              <a:t>Free memory chunk</a:t>
            </a:r>
          </a:p>
          <a:p>
            <a:pPr lvl="1" algn="l">
              <a:lnSpc>
                <a:spcPct val="150000"/>
              </a:lnSpc>
            </a:pPr>
            <a:r>
              <a:rPr lang="en-US" dirty="0"/>
              <a:t>Header + Free size</a:t>
            </a:r>
          </a:p>
          <a:p>
            <a:pPr lvl="1" algn="l">
              <a:lnSpc>
                <a:spcPct val="150000"/>
              </a:lnSpc>
            </a:pPr>
            <a:r>
              <a:rPr lang="en-US" b="1" dirty="0"/>
              <a:t>Header size: 8B</a:t>
            </a:r>
          </a:p>
          <a:p>
            <a:pPr marL="342900" indent="-342900" algn="l">
              <a:lnSpc>
                <a:spcPct val="150000"/>
              </a:lnSpc>
              <a:buFont typeface="Arial" panose="020B0604020202020204" pitchFamily="34" charset="0"/>
              <a:buChar char="•"/>
            </a:pPr>
            <a:endParaRPr lang="en-US" dirty="0"/>
          </a:p>
          <a:p>
            <a:pPr algn="l">
              <a:lnSpc>
                <a:spcPct val="150000"/>
              </a:lnSpc>
            </a:pPr>
            <a:endParaRPr lang="en-US" dirty="0"/>
          </a:p>
          <a:p>
            <a:pPr marL="342900" indent="-342900" algn="l">
              <a:lnSpc>
                <a:spcPct val="150000"/>
              </a:lnSpc>
              <a:buFont typeface="Arial" panose="020B0604020202020204" pitchFamily="34" charset="0"/>
              <a:buChar char="•"/>
            </a:pPr>
            <a:r>
              <a:rPr lang="en-US" dirty="0"/>
              <a:t>An allocated memory chunk </a:t>
            </a:r>
          </a:p>
          <a:p>
            <a:pPr lvl="1" algn="l">
              <a:lnSpc>
                <a:spcPct val="150000"/>
              </a:lnSpc>
            </a:pPr>
            <a:r>
              <a:rPr lang="en-US" dirty="0"/>
              <a:t>Flag: 1234567 indicates that the memory is a flag, as allocated and occupied.</a:t>
            </a:r>
          </a:p>
        </p:txBody>
      </p:sp>
      <p:pic>
        <p:nvPicPr>
          <p:cNvPr id="7" name="Picture 6">
            <a:extLst>
              <a:ext uri="{FF2B5EF4-FFF2-40B4-BE49-F238E27FC236}">
                <a16:creationId xmlns:a16="http://schemas.microsoft.com/office/drawing/2014/main" id="{8F5A21FF-BC53-21EB-790C-04EFD986FB4B}"/>
              </a:ext>
            </a:extLst>
          </p:cNvPr>
          <p:cNvPicPr>
            <a:picLocks noChangeAspect="1"/>
          </p:cNvPicPr>
          <p:nvPr/>
        </p:nvPicPr>
        <p:blipFill>
          <a:blip r:embed="rId3"/>
          <a:stretch>
            <a:fillRect/>
          </a:stretch>
        </p:blipFill>
        <p:spPr>
          <a:xfrm>
            <a:off x="6152333" y="1155233"/>
            <a:ext cx="5273890" cy="4842933"/>
          </a:xfrm>
          <a:prstGeom prst="rect">
            <a:avLst/>
          </a:prstGeom>
        </p:spPr>
      </p:pic>
    </p:spTree>
    <p:extLst>
      <p:ext uri="{BB962C8B-B14F-4D97-AF65-F5344CB8AC3E}">
        <p14:creationId xmlns:p14="http://schemas.microsoft.com/office/powerpoint/2010/main" val="3760905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Free memory list with meta data - 1</a:t>
            </a:r>
          </a:p>
        </p:txBody>
      </p:sp>
      <p:pic>
        <p:nvPicPr>
          <p:cNvPr id="9" name="Picture 8">
            <a:extLst>
              <a:ext uri="{FF2B5EF4-FFF2-40B4-BE49-F238E27FC236}">
                <a16:creationId xmlns:a16="http://schemas.microsoft.com/office/drawing/2014/main" id="{FE926964-1BBC-003A-77BC-6AD05243B45E}"/>
              </a:ext>
            </a:extLst>
          </p:cNvPr>
          <p:cNvPicPr>
            <a:picLocks noChangeAspect="1"/>
          </p:cNvPicPr>
          <p:nvPr/>
        </p:nvPicPr>
        <p:blipFill>
          <a:blip r:embed="rId3"/>
          <a:stretch>
            <a:fillRect/>
          </a:stretch>
        </p:blipFill>
        <p:spPr>
          <a:xfrm>
            <a:off x="6571694" y="1138876"/>
            <a:ext cx="4542752" cy="2011680"/>
          </a:xfrm>
          <a:prstGeom prst="rect">
            <a:avLst/>
          </a:prstGeom>
        </p:spPr>
      </p:pic>
      <p:pic>
        <p:nvPicPr>
          <p:cNvPr id="11" name="Picture 10">
            <a:extLst>
              <a:ext uri="{FF2B5EF4-FFF2-40B4-BE49-F238E27FC236}">
                <a16:creationId xmlns:a16="http://schemas.microsoft.com/office/drawing/2014/main" id="{C80676BF-1CF1-607A-401E-AB1903C84290}"/>
              </a:ext>
            </a:extLst>
          </p:cNvPr>
          <p:cNvPicPr>
            <a:picLocks noChangeAspect="1"/>
          </p:cNvPicPr>
          <p:nvPr/>
        </p:nvPicPr>
        <p:blipFill>
          <a:blip r:embed="rId4"/>
          <a:stretch>
            <a:fillRect/>
          </a:stretch>
        </p:blipFill>
        <p:spPr>
          <a:xfrm>
            <a:off x="6728100" y="3288129"/>
            <a:ext cx="4229940" cy="3474720"/>
          </a:xfrm>
          <a:prstGeom prst="rect">
            <a:avLst/>
          </a:prstGeom>
        </p:spPr>
      </p:pic>
      <p:sp>
        <p:nvSpPr>
          <p:cNvPr id="7" name="Subtitle 2">
            <a:extLst>
              <a:ext uri="{FF2B5EF4-FFF2-40B4-BE49-F238E27FC236}">
                <a16:creationId xmlns:a16="http://schemas.microsoft.com/office/drawing/2014/main" id="{34520592-C0B8-C9A2-E09B-08A9A008E160}"/>
              </a:ext>
            </a:extLst>
          </p:cNvPr>
          <p:cNvSpPr txBox="1">
            <a:spLocks/>
          </p:cNvSpPr>
          <p:nvPr/>
        </p:nvSpPr>
        <p:spPr>
          <a:xfrm>
            <a:off x="979493" y="1433737"/>
            <a:ext cx="4783840" cy="51008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en-US" dirty="0"/>
              <a:t>A free memory chunk</a:t>
            </a:r>
          </a:p>
          <a:p>
            <a:pPr lvl="1" algn="l">
              <a:lnSpc>
                <a:spcPct val="150000"/>
              </a:lnSpc>
            </a:pPr>
            <a:r>
              <a:rPr lang="en-US" dirty="0"/>
              <a:t>Header(8B) + Free size (4088 B) = 4KB</a:t>
            </a:r>
          </a:p>
          <a:p>
            <a:pPr marL="342900" indent="-342900" algn="l">
              <a:lnSpc>
                <a:spcPct val="150000"/>
              </a:lnSpc>
              <a:buFont typeface="Arial" panose="020B0604020202020204" pitchFamily="34" charset="0"/>
              <a:buChar char="•"/>
            </a:pPr>
            <a:endParaRPr lang="en-US" dirty="0"/>
          </a:p>
          <a:p>
            <a:pPr algn="l">
              <a:lnSpc>
                <a:spcPct val="150000"/>
              </a:lnSpc>
            </a:pPr>
            <a:endParaRPr lang="en-US" dirty="0"/>
          </a:p>
          <a:p>
            <a:pPr marL="342900" indent="-342900" algn="l">
              <a:lnSpc>
                <a:spcPct val="150000"/>
              </a:lnSpc>
              <a:buFont typeface="Arial" panose="020B0604020202020204" pitchFamily="34" charset="0"/>
              <a:buChar char="•"/>
            </a:pPr>
            <a:r>
              <a:rPr lang="en-US" dirty="0"/>
              <a:t>An allocated memory chunk and a free chunk</a:t>
            </a:r>
          </a:p>
          <a:p>
            <a:pPr marL="800100" lvl="1" indent="-342900" algn="l">
              <a:lnSpc>
                <a:spcPct val="150000"/>
              </a:lnSpc>
              <a:buFontTx/>
              <a:buChar char="-"/>
            </a:pPr>
            <a:r>
              <a:rPr lang="en-US" dirty="0"/>
              <a:t>Allocated: 100B+8B</a:t>
            </a:r>
          </a:p>
          <a:p>
            <a:pPr marL="800100" lvl="1" indent="-342900" algn="l">
              <a:lnSpc>
                <a:spcPct val="150000"/>
              </a:lnSpc>
              <a:buFontTx/>
              <a:buChar char="-"/>
            </a:pPr>
            <a:r>
              <a:rPr lang="en-US" dirty="0"/>
              <a:t>The rest free: 3980B + 8B</a:t>
            </a:r>
          </a:p>
        </p:txBody>
      </p:sp>
    </p:spTree>
    <p:extLst>
      <p:ext uri="{BB962C8B-B14F-4D97-AF65-F5344CB8AC3E}">
        <p14:creationId xmlns:p14="http://schemas.microsoft.com/office/powerpoint/2010/main" val="160094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440B5D2D-EB88-5768-6CE5-299572434538}"/>
              </a:ext>
            </a:extLst>
          </p:cNvPr>
          <p:cNvSpPr txBox="1">
            <a:spLocks/>
          </p:cNvSpPr>
          <p:nvPr/>
        </p:nvSpPr>
        <p:spPr>
          <a:xfrm>
            <a:off x="979492" y="1433737"/>
            <a:ext cx="5770931" cy="51008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en-US" dirty="0"/>
              <a:t>Three allocated memory chunks and a free chunk</a:t>
            </a:r>
          </a:p>
          <a:p>
            <a:pPr marL="800100" lvl="1" indent="-342900" algn="l">
              <a:lnSpc>
                <a:spcPct val="150000"/>
              </a:lnSpc>
              <a:buFontTx/>
              <a:buChar char="-"/>
            </a:pPr>
            <a:r>
              <a:rPr lang="en-US" dirty="0"/>
              <a:t>Allocated: three blocks (100B+8B), but consecutive.</a:t>
            </a:r>
          </a:p>
          <a:p>
            <a:pPr marL="800100" lvl="1" indent="-342900" algn="l">
              <a:lnSpc>
                <a:spcPct val="150000"/>
              </a:lnSpc>
              <a:buFontTx/>
              <a:buChar char="-"/>
            </a:pPr>
            <a:r>
              <a:rPr lang="en-US" dirty="0"/>
              <a:t>Free: 3764B + 8B</a:t>
            </a:r>
          </a:p>
          <a:p>
            <a:pPr marL="342900" indent="-342900" algn="l">
              <a:lnSpc>
                <a:spcPct val="150000"/>
              </a:lnSpc>
              <a:buFont typeface="Arial" panose="020B0604020202020204" pitchFamily="34" charset="0"/>
              <a:buChar char="•"/>
            </a:pPr>
            <a:r>
              <a:rPr lang="en-US" dirty="0">
                <a:solidFill>
                  <a:srgbClr val="C00000"/>
                </a:solidFill>
              </a:rPr>
              <a:t>Practice</a:t>
            </a:r>
            <a:r>
              <a:rPr lang="en-US" dirty="0"/>
              <a:t>: </a:t>
            </a:r>
            <a:r>
              <a:rPr lang="en-US" sz="2200" dirty="0"/>
              <a:t>Can you draw a free memory list using single link direction(from head to tail)?</a:t>
            </a:r>
          </a:p>
        </p:txBody>
      </p:sp>
      <p:sp>
        <p:nvSpPr>
          <p:cNvPr id="11" name="Title 1">
            <a:extLst>
              <a:ext uri="{FF2B5EF4-FFF2-40B4-BE49-F238E27FC236}">
                <a16:creationId xmlns:a16="http://schemas.microsoft.com/office/drawing/2014/main" id="{051C5DF6-C516-0C68-85EE-C8CC0B9E947B}"/>
              </a:ext>
            </a:extLst>
          </p:cNvPr>
          <p:cNvSpPr txBox="1">
            <a:spLocks/>
          </p:cNvSpPr>
          <p:nvPr/>
        </p:nvSpPr>
        <p:spPr>
          <a:xfrm>
            <a:off x="1218460" y="323372"/>
            <a:ext cx="10452740" cy="7422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200" dirty="0">
                <a:solidFill>
                  <a:srgbClr val="C00000"/>
                </a:solidFill>
              </a:rPr>
              <a:t>Free memory list with meta data - 2</a:t>
            </a:r>
          </a:p>
        </p:txBody>
      </p:sp>
      <p:pic>
        <p:nvPicPr>
          <p:cNvPr id="13" name="Picture 12">
            <a:extLst>
              <a:ext uri="{FF2B5EF4-FFF2-40B4-BE49-F238E27FC236}">
                <a16:creationId xmlns:a16="http://schemas.microsoft.com/office/drawing/2014/main" id="{C06BC249-C621-5FFF-416A-4BB784D38FE0}"/>
              </a:ext>
            </a:extLst>
          </p:cNvPr>
          <p:cNvPicPr>
            <a:picLocks noChangeAspect="1"/>
          </p:cNvPicPr>
          <p:nvPr/>
        </p:nvPicPr>
        <p:blipFill>
          <a:blip r:embed="rId3"/>
          <a:stretch>
            <a:fillRect/>
          </a:stretch>
        </p:blipFill>
        <p:spPr>
          <a:xfrm>
            <a:off x="7526079" y="1240982"/>
            <a:ext cx="3686428" cy="5486400"/>
          </a:xfrm>
          <a:prstGeom prst="rect">
            <a:avLst/>
          </a:prstGeom>
        </p:spPr>
      </p:pic>
    </p:spTree>
    <p:extLst>
      <p:ext uri="{BB962C8B-B14F-4D97-AF65-F5344CB8AC3E}">
        <p14:creationId xmlns:p14="http://schemas.microsoft.com/office/powerpoint/2010/main" val="1344119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CDCDD-F98B-215B-6941-C23CD0491BD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E26BCF5-CBBE-1BA6-008F-DD8B1E66AA72}"/>
              </a:ext>
            </a:extLst>
          </p:cNvPr>
          <p:cNvPicPr>
            <a:picLocks noChangeAspect="1"/>
          </p:cNvPicPr>
          <p:nvPr/>
        </p:nvPicPr>
        <p:blipFill>
          <a:blip r:embed="rId3"/>
          <a:stretch>
            <a:fillRect/>
          </a:stretch>
        </p:blipFill>
        <p:spPr>
          <a:xfrm>
            <a:off x="7380686" y="972147"/>
            <a:ext cx="4019974" cy="5669280"/>
          </a:xfrm>
          <a:prstGeom prst="rect">
            <a:avLst/>
          </a:prstGeom>
        </p:spPr>
      </p:pic>
      <p:sp>
        <p:nvSpPr>
          <p:cNvPr id="7" name="Subtitle 2">
            <a:extLst>
              <a:ext uri="{FF2B5EF4-FFF2-40B4-BE49-F238E27FC236}">
                <a16:creationId xmlns:a16="http://schemas.microsoft.com/office/drawing/2014/main" id="{4691E5F4-690E-BEE3-ECA2-8E5BA6A8253A}"/>
              </a:ext>
            </a:extLst>
          </p:cNvPr>
          <p:cNvSpPr txBox="1">
            <a:spLocks/>
          </p:cNvSpPr>
          <p:nvPr/>
        </p:nvSpPr>
        <p:spPr>
          <a:xfrm>
            <a:off x="559944" y="1024946"/>
            <a:ext cx="6599270" cy="550968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en-US" dirty="0"/>
              <a:t>Two allocated memory chunks and two free chunks</a:t>
            </a:r>
          </a:p>
          <a:p>
            <a:pPr marL="800100" lvl="1" indent="-342900" algn="l">
              <a:lnSpc>
                <a:spcPct val="150000"/>
              </a:lnSpc>
              <a:buFontTx/>
              <a:buChar char="-"/>
            </a:pPr>
            <a:r>
              <a:rPr lang="en-US" dirty="0"/>
              <a:t>Allocated: two 100B+8B</a:t>
            </a:r>
          </a:p>
          <a:p>
            <a:pPr marL="800100" lvl="1" indent="-342900" algn="l">
              <a:lnSpc>
                <a:spcPct val="150000"/>
              </a:lnSpc>
              <a:buFontTx/>
              <a:buChar char="-"/>
            </a:pPr>
            <a:r>
              <a:rPr lang="en-US" dirty="0"/>
              <a:t>Coalescing the middle free memory chunk to the rest of the free chunk. The way to coalesce is to make the new free chunk point to the rest of the free chunks. </a:t>
            </a:r>
          </a:p>
          <a:p>
            <a:pPr marL="800100" lvl="1" indent="-342900" algn="l">
              <a:lnSpc>
                <a:spcPct val="150000"/>
              </a:lnSpc>
              <a:buFontTx/>
              <a:buChar char="-"/>
            </a:pPr>
            <a:r>
              <a:rPr lang="en-US" dirty="0"/>
              <a:t>So, knowing the entry address of the rest of the free chunk is critical:</a:t>
            </a:r>
          </a:p>
          <a:p>
            <a:pPr lvl="1" algn="l">
              <a:lnSpc>
                <a:spcPct val="150000"/>
              </a:lnSpc>
            </a:pPr>
            <a:r>
              <a:rPr lang="en-US" b="1" dirty="0"/>
              <a:t>Next: 16 KB (14-bit </a:t>
            </a:r>
            <a:r>
              <a:rPr lang="en-US" b="1" dirty="0" err="1"/>
              <a:t>addr</a:t>
            </a:r>
            <a:r>
              <a:rPr lang="en-US" b="1" dirty="0"/>
              <a:t> space) + 324 B (allocated)</a:t>
            </a:r>
          </a:p>
          <a:p>
            <a:pPr marL="342900" indent="-342900" algn="l">
              <a:lnSpc>
                <a:spcPct val="150000"/>
              </a:lnSpc>
              <a:buFont typeface="Arial" panose="020B0604020202020204" pitchFamily="34" charset="0"/>
              <a:buChar char="•"/>
            </a:pPr>
            <a:r>
              <a:rPr lang="en-US" dirty="0">
                <a:solidFill>
                  <a:srgbClr val="C00000"/>
                </a:solidFill>
              </a:rPr>
              <a:t>Practice</a:t>
            </a:r>
            <a:r>
              <a:rPr lang="en-US" dirty="0"/>
              <a:t>: </a:t>
            </a:r>
            <a:r>
              <a:rPr lang="en-US" sz="2200" dirty="0"/>
              <a:t>Can you draw a free memory list using single link direction(from head to tail)?</a:t>
            </a:r>
          </a:p>
          <a:p>
            <a:pPr lvl="1" algn="l">
              <a:lnSpc>
                <a:spcPct val="150000"/>
              </a:lnSpc>
            </a:pPr>
            <a:endParaRPr lang="en-US" b="1" dirty="0"/>
          </a:p>
        </p:txBody>
      </p:sp>
      <p:sp>
        <p:nvSpPr>
          <p:cNvPr id="5" name="Title 1">
            <a:extLst>
              <a:ext uri="{FF2B5EF4-FFF2-40B4-BE49-F238E27FC236}">
                <a16:creationId xmlns:a16="http://schemas.microsoft.com/office/drawing/2014/main" id="{F79F8765-D2D8-41A0-AA7E-1C9A5511E0E2}"/>
              </a:ext>
            </a:extLst>
          </p:cNvPr>
          <p:cNvSpPr txBox="1">
            <a:spLocks/>
          </p:cNvSpPr>
          <p:nvPr/>
        </p:nvSpPr>
        <p:spPr>
          <a:xfrm>
            <a:off x="1218460" y="129735"/>
            <a:ext cx="10452740" cy="7422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200" dirty="0">
                <a:solidFill>
                  <a:srgbClr val="C00000"/>
                </a:solidFill>
              </a:rPr>
              <a:t>Free memory list with meta data - 3</a:t>
            </a:r>
          </a:p>
        </p:txBody>
      </p:sp>
    </p:spTree>
    <p:extLst>
      <p:ext uri="{BB962C8B-B14F-4D97-AF65-F5344CB8AC3E}">
        <p14:creationId xmlns:p14="http://schemas.microsoft.com/office/powerpoint/2010/main" val="2483305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DD65273-7008-A4CC-F9F1-00F8C51A3EC3}"/>
              </a:ext>
            </a:extLst>
          </p:cNvPr>
          <p:cNvPicPr>
            <a:picLocks noChangeAspect="1"/>
          </p:cNvPicPr>
          <p:nvPr/>
        </p:nvPicPr>
        <p:blipFill>
          <a:blip r:embed="rId3"/>
          <a:stretch>
            <a:fillRect/>
          </a:stretch>
        </p:blipFill>
        <p:spPr>
          <a:xfrm>
            <a:off x="7378311" y="1074861"/>
            <a:ext cx="3909155" cy="5486400"/>
          </a:xfrm>
          <a:prstGeom prst="rect">
            <a:avLst/>
          </a:prstGeom>
        </p:spPr>
      </p:pic>
      <p:sp>
        <p:nvSpPr>
          <p:cNvPr id="7" name="Title 1">
            <a:extLst>
              <a:ext uri="{FF2B5EF4-FFF2-40B4-BE49-F238E27FC236}">
                <a16:creationId xmlns:a16="http://schemas.microsoft.com/office/drawing/2014/main" id="{2A7E850B-6249-687C-B4F4-565D8D8AA94B}"/>
              </a:ext>
            </a:extLst>
          </p:cNvPr>
          <p:cNvSpPr txBox="1">
            <a:spLocks/>
          </p:cNvSpPr>
          <p:nvPr/>
        </p:nvSpPr>
        <p:spPr>
          <a:xfrm>
            <a:off x="1218460" y="323372"/>
            <a:ext cx="10452740" cy="7422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200" dirty="0">
                <a:solidFill>
                  <a:srgbClr val="C00000"/>
                </a:solidFill>
              </a:rPr>
              <a:t>Free memory list with meta data - 4</a:t>
            </a:r>
          </a:p>
        </p:txBody>
      </p:sp>
      <p:sp>
        <p:nvSpPr>
          <p:cNvPr id="11" name="Subtitle 2">
            <a:extLst>
              <a:ext uri="{FF2B5EF4-FFF2-40B4-BE49-F238E27FC236}">
                <a16:creationId xmlns:a16="http://schemas.microsoft.com/office/drawing/2014/main" id="{266F8ED8-78CA-7106-84F5-5A1E4F2FC6F4}"/>
              </a:ext>
            </a:extLst>
          </p:cNvPr>
          <p:cNvSpPr txBox="1">
            <a:spLocks/>
          </p:cNvSpPr>
          <p:nvPr/>
        </p:nvSpPr>
        <p:spPr>
          <a:xfrm>
            <a:off x="549186" y="1433737"/>
            <a:ext cx="6599270" cy="51008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en-US" dirty="0">
                <a:solidFill>
                  <a:srgbClr val="C00000"/>
                </a:solidFill>
              </a:rPr>
              <a:t>Practice:</a:t>
            </a:r>
          </a:p>
          <a:p>
            <a:pPr marL="342900" indent="-342900" algn="l">
              <a:lnSpc>
                <a:spcPct val="150000"/>
              </a:lnSpc>
              <a:buFontTx/>
              <a:buChar char="-"/>
            </a:pPr>
            <a:r>
              <a:rPr lang="en-US" dirty="0"/>
              <a:t>Explain how to get the next address in each block?</a:t>
            </a:r>
          </a:p>
          <a:p>
            <a:pPr marL="342900" indent="-342900" algn="l">
              <a:lnSpc>
                <a:spcPct val="150000"/>
              </a:lnSpc>
              <a:buFontTx/>
              <a:buChar char="-"/>
            </a:pPr>
            <a:r>
              <a:rPr lang="en-US" dirty="0"/>
              <a:t>Can you draw a free memory list using single link direction(from head to tail)?</a:t>
            </a:r>
          </a:p>
        </p:txBody>
      </p:sp>
    </p:spTree>
    <p:extLst>
      <p:ext uri="{BB962C8B-B14F-4D97-AF65-F5344CB8AC3E}">
        <p14:creationId xmlns:p14="http://schemas.microsoft.com/office/powerpoint/2010/main" val="1834639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19184"/>
            <a:ext cx="10452740" cy="742228"/>
          </a:xfrm>
        </p:spPr>
        <p:txBody>
          <a:bodyPr>
            <a:noAutofit/>
          </a:bodyPr>
          <a:lstStyle/>
          <a:p>
            <a:r>
              <a:rPr lang="en-US" sz="4200" dirty="0">
                <a:solidFill>
                  <a:srgbClr val="C00000"/>
                </a:solidFill>
              </a:rPr>
              <a:t>Variable size allocation strategies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218461" y="1070531"/>
            <a:ext cx="9347940" cy="4966201"/>
          </a:xfrm>
        </p:spPr>
        <p:txBody>
          <a:bodyPr>
            <a:normAutofit/>
          </a:bodyPr>
          <a:lstStyle/>
          <a:p>
            <a:pPr marL="342900" indent="-342900" algn="l">
              <a:lnSpc>
                <a:spcPct val="150000"/>
              </a:lnSpc>
              <a:buFont typeface="Arial" panose="020B0604020202020204" pitchFamily="34" charset="0"/>
              <a:buChar char="•"/>
            </a:pPr>
            <a:r>
              <a:rPr lang="en-US" sz="2200" dirty="0"/>
              <a:t>First fit: allocate first free chunk that is sufficient</a:t>
            </a:r>
          </a:p>
          <a:p>
            <a:pPr marL="342900" indent="-342900" algn="l">
              <a:lnSpc>
                <a:spcPct val="150000"/>
              </a:lnSpc>
              <a:buFont typeface="Arial" panose="020B0604020202020204" pitchFamily="34" charset="0"/>
              <a:buChar char="•"/>
            </a:pPr>
            <a:r>
              <a:rPr lang="en-US" sz="2200" dirty="0"/>
              <a:t>Best fit: allocate free chunk that is closest in size</a:t>
            </a:r>
          </a:p>
          <a:p>
            <a:pPr marL="342900" indent="-342900" algn="l">
              <a:lnSpc>
                <a:spcPct val="150000"/>
              </a:lnSpc>
              <a:buFont typeface="Arial" panose="020B0604020202020204" pitchFamily="34" charset="0"/>
              <a:buChar char="•"/>
            </a:pPr>
            <a:r>
              <a:rPr lang="en-US" sz="2200" dirty="0"/>
              <a:t>Worst fit: allocate free chunk that is farthest in size</a:t>
            </a:r>
          </a:p>
          <a:p>
            <a:pPr marL="342900" indent="-342900" algn="l">
              <a:lnSpc>
                <a:spcPct val="150000"/>
              </a:lnSpc>
              <a:buFont typeface="Arial" panose="020B0604020202020204" pitchFamily="34" charset="0"/>
              <a:buChar char="•"/>
            </a:pPr>
            <a:r>
              <a:rPr lang="en-US" sz="2200" dirty="0"/>
              <a:t>Example, consider this free list, and malloc (15)</a:t>
            </a:r>
          </a:p>
          <a:p>
            <a:pPr lvl="1" algn="l">
              <a:lnSpc>
                <a:spcPct val="150000"/>
              </a:lnSpc>
            </a:pPr>
            <a:r>
              <a:rPr lang="en-US" sz="2200" dirty="0"/>
              <a:t>Best fit would allocate the 20-byte chunk.</a:t>
            </a:r>
          </a:p>
          <a:p>
            <a:pPr marL="342900" indent="-342900" algn="l">
              <a:lnSpc>
                <a:spcPct val="150000"/>
              </a:lnSpc>
              <a:buFont typeface="Arial" panose="020B0604020202020204" pitchFamily="34" charset="0"/>
              <a:buChar char="•"/>
            </a:pPr>
            <a:r>
              <a:rPr lang="en-US" sz="2200" dirty="0"/>
              <a:t>Worst fit would allocate 30-byte chunk: remaining chunk is bigger and more usable</a:t>
            </a:r>
          </a:p>
          <a:p>
            <a:pPr marL="342900" indent="-342900" algn="l">
              <a:lnSpc>
                <a:spcPct val="150000"/>
              </a:lnSpc>
              <a:buFont typeface="Arial" panose="020B0604020202020204" pitchFamily="34" charset="0"/>
              <a:buChar char="•"/>
            </a:pPr>
            <a:endParaRPr lang="en-US" sz="2200" dirty="0"/>
          </a:p>
        </p:txBody>
      </p:sp>
      <p:pic>
        <p:nvPicPr>
          <p:cNvPr id="8" name="Picture 7">
            <a:extLst>
              <a:ext uri="{FF2B5EF4-FFF2-40B4-BE49-F238E27FC236}">
                <a16:creationId xmlns:a16="http://schemas.microsoft.com/office/drawing/2014/main" id="{55E22F3E-56A2-9033-62A3-14404C41B5D1}"/>
              </a:ext>
            </a:extLst>
          </p:cNvPr>
          <p:cNvPicPr>
            <a:picLocks noChangeAspect="1"/>
          </p:cNvPicPr>
          <p:nvPr/>
        </p:nvPicPr>
        <p:blipFill>
          <a:blip r:embed="rId2"/>
          <a:stretch>
            <a:fillRect/>
          </a:stretch>
        </p:blipFill>
        <p:spPr>
          <a:xfrm>
            <a:off x="7430687" y="1121127"/>
            <a:ext cx="4171425" cy="594360"/>
          </a:xfrm>
          <a:prstGeom prst="rect">
            <a:avLst/>
          </a:prstGeom>
        </p:spPr>
      </p:pic>
      <p:pic>
        <p:nvPicPr>
          <p:cNvPr id="10" name="Picture 9">
            <a:extLst>
              <a:ext uri="{FF2B5EF4-FFF2-40B4-BE49-F238E27FC236}">
                <a16:creationId xmlns:a16="http://schemas.microsoft.com/office/drawing/2014/main" id="{B244A749-4E18-2336-785B-FC0B0944DEB8}"/>
              </a:ext>
            </a:extLst>
          </p:cNvPr>
          <p:cNvPicPr>
            <a:picLocks noChangeAspect="1"/>
          </p:cNvPicPr>
          <p:nvPr/>
        </p:nvPicPr>
        <p:blipFill>
          <a:blip r:embed="rId3"/>
          <a:stretch>
            <a:fillRect/>
          </a:stretch>
        </p:blipFill>
        <p:spPr>
          <a:xfrm>
            <a:off x="7480843" y="1924606"/>
            <a:ext cx="4071105" cy="594360"/>
          </a:xfrm>
          <a:prstGeom prst="rect">
            <a:avLst/>
          </a:prstGeom>
        </p:spPr>
      </p:pic>
      <p:pic>
        <p:nvPicPr>
          <p:cNvPr id="12" name="Picture 11">
            <a:extLst>
              <a:ext uri="{FF2B5EF4-FFF2-40B4-BE49-F238E27FC236}">
                <a16:creationId xmlns:a16="http://schemas.microsoft.com/office/drawing/2014/main" id="{C9133EC9-1617-0E09-CE14-857B9BFC377E}"/>
              </a:ext>
            </a:extLst>
          </p:cNvPr>
          <p:cNvPicPr>
            <a:picLocks noChangeAspect="1"/>
          </p:cNvPicPr>
          <p:nvPr/>
        </p:nvPicPr>
        <p:blipFill>
          <a:blip r:embed="rId4"/>
          <a:stretch>
            <a:fillRect/>
          </a:stretch>
        </p:blipFill>
        <p:spPr>
          <a:xfrm>
            <a:off x="7571936" y="2770574"/>
            <a:ext cx="3888917" cy="502920"/>
          </a:xfrm>
          <a:prstGeom prst="rect">
            <a:avLst/>
          </a:prstGeom>
        </p:spPr>
      </p:pic>
    </p:spTree>
    <p:extLst>
      <p:ext uri="{BB962C8B-B14F-4D97-AF65-F5344CB8AC3E}">
        <p14:creationId xmlns:p14="http://schemas.microsoft.com/office/powerpoint/2010/main" val="394795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02166"/>
            <a:ext cx="10452740" cy="742228"/>
          </a:xfrm>
        </p:spPr>
        <p:txBody>
          <a:bodyPr>
            <a:noAutofit/>
          </a:bodyPr>
          <a:lstStyle/>
          <a:p>
            <a:r>
              <a:rPr lang="en-US" sz="4200" dirty="0">
                <a:solidFill>
                  <a:srgbClr val="C00000"/>
                </a:solidFill>
              </a:rPr>
              <a:t>Fixed size allocations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07055" y="780885"/>
            <a:ext cx="9440345" cy="5492915"/>
          </a:xfrm>
        </p:spPr>
        <p:txBody>
          <a:bodyPr>
            <a:normAutofit/>
          </a:bodyPr>
          <a:lstStyle/>
          <a:p>
            <a:pPr marL="342900" indent="-342900" algn="l">
              <a:lnSpc>
                <a:spcPct val="150000"/>
              </a:lnSpc>
              <a:buFont typeface="Arial" panose="020B0604020202020204" pitchFamily="34" charset="0"/>
              <a:buChar char="•"/>
            </a:pPr>
            <a:r>
              <a:rPr lang="en-US" sz="2200" dirty="0"/>
              <a:t>Memory allocation algorithms are much simpler with fixed size allocations</a:t>
            </a:r>
          </a:p>
          <a:p>
            <a:pPr marL="342900" indent="-342900" algn="l">
              <a:lnSpc>
                <a:spcPct val="150000"/>
              </a:lnSpc>
              <a:buFont typeface="Arial" panose="020B0604020202020204" pitchFamily="34" charset="0"/>
              <a:buChar char="•"/>
            </a:pPr>
            <a:r>
              <a:rPr lang="en-US" sz="2200" dirty="0"/>
              <a:t>Page-sized fixed allocations in kernel:</a:t>
            </a:r>
          </a:p>
          <a:p>
            <a:pPr lvl="1" algn="l">
              <a:lnSpc>
                <a:spcPct val="150000"/>
              </a:lnSpc>
            </a:pPr>
            <a:r>
              <a:rPr lang="en-US" sz="1800" dirty="0"/>
              <a:t>--- Has free list of pages</a:t>
            </a:r>
          </a:p>
          <a:p>
            <a:pPr lvl="1" algn="l">
              <a:lnSpc>
                <a:spcPct val="150000"/>
              </a:lnSpc>
            </a:pPr>
            <a:r>
              <a:rPr lang="en-US" sz="1800" dirty="0"/>
              <a:t>--- Pointer to next page stored in the free page itself</a:t>
            </a:r>
          </a:p>
          <a:p>
            <a:pPr marL="342900" indent="-342900" algn="l">
              <a:lnSpc>
                <a:spcPct val="150000"/>
              </a:lnSpc>
              <a:buFont typeface="Arial" panose="020B0604020202020204" pitchFamily="34" charset="0"/>
              <a:buChar char="•"/>
            </a:pPr>
            <a:r>
              <a:rPr lang="en-US" sz="2200" dirty="0"/>
              <a:t>For some smaller allocations (e.g., PCB), kernel uses a slab allocator</a:t>
            </a:r>
          </a:p>
          <a:p>
            <a:pPr lvl="1" algn="l">
              <a:lnSpc>
                <a:spcPct val="150000"/>
              </a:lnSpc>
            </a:pPr>
            <a:r>
              <a:rPr lang="en-US" sz="1800" dirty="0"/>
              <a:t>--- Object caches for each type (size) of objects</a:t>
            </a:r>
          </a:p>
          <a:p>
            <a:pPr lvl="1" algn="l">
              <a:lnSpc>
                <a:spcPct val="150000"/>
              </a:lnSpc>
            </a:pPr>
            <a:r>
              <a:rPr lang="en-US" sz="1800" dirty="0"/>
              <a:t>--- Within each cache, only fixed size allocation</a:t>
            </a:r>
          </a:p>
          <a:p>
            <a:pPr lvl="1" algn="l">
              <a:lnSpc>
                <a:spcPct val="150000"/>
              </a:lnSpc>
            </a:pPr>
            <a:r>
              <a:rPr lang="en-US" sz="1800" dirty="0"/>
              <a:t>--- Each cache is made up of one or more “slabs”</a:t>
            </a:r>
          </a:p>
          <a:p>
            <a:pPr marL="342900" indent="-342900" algn="l">
              <a:lnSpc>
                <a:spcPct val="150000"/>
              </a:lnSpc>
              <a:buFont typeface="Arial" panose="020B0604020202020204" pitchFamily="34" charset="0"/>
              <a:buChar char="•"/>
            </a:pPr>
            <a:r>
              <a:rPr lang="en-US" sz="2200" dirty="0"/>
              <a:t>Fixed size memory allocators can be used in user programs also (instead of generic malloc)</a:t>
            </a:r>
          </a:p>
          <a:p>
            <a:pPr algn="l">
              <a:lnSpc>
                <a:spcPct val="150000"/>
              </a:lnSpc>
            </a:pPr>
            <a:endParaRPr lang="en-US" sz="2200" dirty="0"/>
          </a:p>
          <a:p>
            <a:pPr algn="l">
              <a:lnSpc>
                <a:spcPct val="150000"/>
              </a:lnSpc>
            </a:pPr>
            <a:endParaRPr lang="en-US" sz="2200" dirty="0"/>
          </a:p>
        </p:txBody>
      </p:sp>
    </p:spTree>
    <p:extLst>
      <p:ext uri="{BB962C8B-B14F-4D97-AF65-F5344CB8AC3E}">
        <p14:creationId xmlns:p14="http://schemas.microsoft.com/office/powerpoint/2010/main" val="2391431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1237</TotalTime>
  <Words>749</Words>
  <Application>Microsoft Office PowerPoint</Application>
  <PresentationFormat>Widescreen</PresentationFormat>
  <Paragraphs>95</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Reading Assignment</vt:lpstr>
      <vt:lpstr>Agenda</vt:lpstr>
      <vt:lpstr>The motivation of the varied-size piece - 1</vt:lpstr>
      <vt:lpstr>The motivation of the varied-size piece - 2</vt:lpstr>
      <vt:lpstr>Low-level mechanism</vt:lpstr>
      <vt:lpstr>Free memory with meta data</vt:lpstr>
      <vt:lpstr>Free memory list with meta data - 1</vt:lpstr>
      <vt:lpstr>PowerPoint Presentation</vt:lpstr>
      <vt:lpstr>PowerPoint Presentation</vt:lpstr>
      <vt:lpstr>PowerPoint Presentation</vt:lpstr>
      <vt:lpstr>Variable size allocation strategies</vt:lpstr>
      <vt:lpstr>Fixed size allocations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8</cp:revision>
  <dcterms:created xsi:type="dcterms:W3CDTF">2023-08-19T20:44:10Z</dcterms:created>
  <dcterms:modified xsi:type="dcterms:W3CDTF">2026-03-22T21:39:22Z</dcterms:modified>
</cp:coreProperties>
</file>