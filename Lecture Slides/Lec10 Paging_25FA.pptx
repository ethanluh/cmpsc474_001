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17" r:id="rId4"/>
    <p:sldId id="309" r:id="rId5"/>
    <p:sldId id="310" r:id="rId6"/>
    <p:sldId id="311" r:id="rId7"/>
    <p:sldId id="304" r:id="rId8"/>
    <p:sldId id="315" r:id="rId9"/>
    <p:sldId id="312" r:id="rId10"/>
    <p:sldId id="316" r:id="rId11"/>
    <p:sldId id="293" r:id="rId12"/>
    <p:sldId id="290" r:id="rId13"/>
    <p:sldId id="299" r:id="rId14"/>
    <p:sldId id="307" r:id="rId15"/>
    <p:sldId id="30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09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 Jie" userId="7be6526a-30ba-445c-b3a9-aabf2c8f5828" providerId="ADAL" clId="{DEC740C7-2239-4DCB-A2EC-28D5B021DFB5}"/>
    <pc:docChg chg="modSld">
      <pc:chgData name="Zhao, Jie" userId="7be6526a-30ba-445c-b3a9-aabf2c8f5828" providerId="ADAL" clId="{DEC740C7-2239-4DCB-A2EC-28D5B021DFB5}" dt="2026-03-02T17:25:14.715" v="13" actId="20577"/>
      <pc:docMkLst>
        <pc:docMk/>
      </pc:docMkLst>
      <pc:sldChg chg="modSp mod">
        <pc:chgData name="Zhao, Jie" userId="7be6526a-30ba-445c-b3a9-aabf2c8f5828" providerId="ADAL" clId="{DEC740C7-2239-4DCB-A2EC-28D5B021DFB5}" dt="2026-03-02T17:25:14.715" v="13" actId="20577"/>
        <pc:sldMkLst>
          <pc:docMk/>
          <pc:sldMk cId="2199995263" sldId="256"/>
        </pc:sldMkLst>
        <pc:spChg chg="mod">
          <ac:chgData name="Zhao, Jie" userId="7be6526a-30ba-445c-b3a9-aabf2c8f5828" providerId="ADAL" clId="{DEC740C7-2239-4DCB-A2EC-28D5B021DFB5}" dt="2026-03-02T17:25:14.715" v="13" actId="20577"/>
          <ac:spMkLst>
            <pc:docMk/>
            <pc:sldMk cId="2199995263" sldId="256"/>
            <ac:spMk id="3" creationId="{2C5DF914-4B40-4A23-8AAC-9CFE7F215AC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7:46:03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0 755 24575,'1'0'0,"-1"-1"0,0 1 0,1-1 0,-1 1 0,1-1 0,-1 1 0,1-1 0,-1 1 0,1 0 0,0-1 0,-1 1 0,1 0 0,-1-1 0,1 1 0,0 0 0,-1 0 0,1 0 0,0 0 0,-1-1 0,1 1 0,0 0 0,0 0 0,3-1 0,89-24 0,-89 24 0,-1 0 0,1 0 0,-1 0 0,1-1 0,-1 0 0,0 1 0,0-1 0,0-1 0,0 1 0,0 0 0,-1-1 0,1 1 0,-1-1 0,3-3 0,2-3 0,-2-1 0,1 0 0,4-13 0,-4 10 0,9-15 0,-8 16 0,10-15 0,21-26 0,-31 45 0,0 0 0,0 1 0,1-1 0,0 2 0,0-1 0,0 1 0,14-7 0,-13 8 0,0 1 0,1 0 0,0 0 0,0 1 0,0 1 0,0-1 0,0 1 0,13 0 0,-6 1 0,-1-1 0,1 0 0,-1-1 0,27-9 0,-18 4 0,1 2 0,28-4 0,-18 4 0,53-14 0,15 7 0,-51 7 0,55-13 0,-10-3 0,-75 18 0,1 1 0,28 0 0,-2 4 0,62 8 0,-29-4 0,-41-4 0,-37 0 0,0-1 0,0 1 0,0 1 0,0-1 0,0 0 0,8 5 0,27 17 0,-15-9 0,81 37 0,-9-4 0,-87-42 0,-1-1 0,1 0 0,0 0 0,0 0 0,1-2 0,-1 1 0,1-1 0,-1-1 0,1 0 0,12 0 0,384-3 0,-343-1 0,65-11 0,-99 10 0,46 0 0,9-1 0,-61 1 0,-9 3 0,0-2 0,0 0 0,0 0 0,16-7 0,-21 6 0,-1-1 0,1-1 0,-1 1 0,0-1 0,0-1 0,0 0 0,10-11 0,-13 13 0,0 0 0,0 0 0,1 1 0,0-1 0,-1 2 0,10-5 0,-9 5 0,1-1 0,-1 0 0,0 0 0,0-1 0,10-9 0,-8 6 0,-1-1 0,0 0 0,-1 0 0,0 0 0,7-13 0,-2-1 0,-7 14 0,0 1 0,-1-1 0,0 0 0,-1 0 0,3-10 0,-3 8 0,1 0 0,0 1 0,0 0 0,8-13 0,-5 10 0,6-19 0,-3 10 0,-10 22 0,0 0 0,0 0 0,0 1 0,0-1 0,0 0 0,0 0 0,0 0 0,0 0 0,0 0 0,0 0 0,0 1 0,0-1 0,0 0 0,0 0 0,0 0 0,0 0 0,0 0 0,0 0 0,0 0 0,0 1 0,0-1 0,1 0 0,-1 0 0,0 0 0,0 0 0,0 0 0,0 0 0,0 0 0,0 0 0,0 0 0,0 1 0,0-1 0,1 0 0,-1 0 0,0 0 0,0 0 0,0 0 0,0 0 0,0 0 0,0 0 0,1 0 0,-1 0 0,0 0 0,0 0 0,0 0 0,0 0 0,0 0 0,0 0 0,1 0 0,-1 0 0,0 0 0,0 0 0,0 0 0,0 0 0,0 0 0,0-1 0,0 1 0,1 0 0,-1 0 0,0 0 0,0 0 0,0 0 0,0 0 0,0 0 0,0 0 0,0 0 0,0-1 0,0 1 0,1 0 0,0 11 0,-1-11 0,2 15 0,1-1 0,4 16 0,1 4 0,-2-14 0,0 1 0,14 31 0,-5-17 0,-11-24 0,0-1 0,1 0 0,1 0 0,0 0 0,0 0 0,0-1 0,2 0 0,-1 0 0,1-1 0,0 0 0,1 0 0,-1-1 0,2 0 0,-1-1 0,1 0 0,18 9 0,-8-7 0,90 32 0,-93-35 0,0-1 0,1-1 0,-1 0 0,29 0 0,637-4 0,-640 0 0,-1-3 0,0-1 0,51-13 0,4 4 0,-1-1 0,-38-3 0,-42 11 0,1 2 0,19-4 0,113-18 0,41-2 0,-90 12 0,-60 9 0,0 1 0,55 0 0,278 8 0,-349 0 0,0 2 0,35 7 0,8 2 0,52 12 0,-79-15 0,51 7 0,-86-15 0,10 0 0,0 1 0,27 6 0,-12 0 0,54 7 0,-54-11 0,54 15 0,17 17 0,-84-32 0,1 0 0,0-2 0,29 2 0,-4-1 0,-26-1 0,-7-2 0,-1 1 0,1 1 0,-1 0 0,19 5 0,-8 1 0,-14-6 0,1 0 0,-1 0 0,0 1 0,0 0 0,0 0 0,0 1 0,-1 0 0,1 0 0,7 8 0,90 103 0,-80-88 0,-3-3 0,42 37 0,-33-38-682,47 30-1,-60-44-6143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7:46:11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1095 24575,'-3'-6'0,"1"0"0,0 1 0,0-1 0,1 0 0,-1 0 0,0-11 0,2-40 0,0 36 0,0-12 0,-1 2 0,2 0 0,5-33 0,-5 55 0,1 0 0,0 0 0,1 0 0,0 1 0,0-1 0,1 1 0,0-1 0,1 1 0,-1 0 0,2 1 0,8-11 0,-2 6 0,0 0 0,2 1 0,-1 1 0,23-14 0,6-5 0,-29 19 0,0 1 0,27-14 0,25-7 0,1 4 0,128-34 0,-93 35 0,24-5 0,-97 25 0,0 1 0,29 1 0,57 4 0,-36 1 0,884-2 0,-897 3 0,64 11 0,-107-11 0,-8 0 0,29 8 0,-30-7 0,0 0 0,0-1 0,16 2 0,134-4 0,-83-2 0,-43 0 0,1 3 0,0 1 0,59 13 0,120 26 0,29 8 0,-207-40 0,186 41 0,-207-49 0,2 0 0,30 9 0,15 2 0,0 1 0,-21-3 0,90 10 0,-86-15 0,27 9 0,-9-1 0,-37-8 0,48 18 0,-31-10 0,-19-5 0,-16-5 0,1 0 0,0-1 0,18 3 0,158-3 0,-108-5 0,213 2 0,-209-7 0,-44 2 0,67-14 0,-62 9 0,116-27 0,-109 24 0,-27 8 0,45-3 0,-17 3 0,-19 2 0,-19 2 0,-1-1 0,0 0 0,17-5 0,14-3 0,-32 7 0,0 0 0,25-9 0,-22 5 0,2 0 0,-1 1 0,0 1 0,1 1 0,20-2 0,-29 4 0,1 0 0,-1-1 0,1 0 0,-1 0 0,9-5 0,26-8 0,-29 11 0,0-1 0,23-12 0,1-1 0,-8 6 0,63-17 0,-77 25 0,0-1 0,0-1 0,0 0 0,26-18 0,-8 6 0,-26 15 0,0 0 0,10-2 0,-12 3 0,1 1 0,-1-1 0,1-1 0,6-4 0,82-48 0,-96 56 0,7-4 0,0-1 0,0 0 0,-1-1 0,0 0 0,0 0 0,6-7 0,-7 6 0,1 1 0,-1 0 0,2 0 0,-1 1 0,13-9 0,54-34 0,-66 43 0,0 0 0,0-1 0,11-12 0,7-7 0,-13 14 0,0-1 0,0 0 0,-1-1 0,13-19 0,-22 29 0,0 0 0,0 0 0,0 0 0,1 0 0,0 1 0,4-5 0,-6 7 0,0-1 0,0 1 0,-1-1 0,1 1 0,0 0 0,0-1 0,0 1 0,0 0 0,0 0 0,0-1 0,0 1 0,0 0 0,0 0 0,0 0 0,0 0 0,0 0 0,0 1 0,0-1 0,0 0 0,0 0 0,0 1 0,0-1 0,0 0 0,0 1 0,0-1 0,0 1 0,-1-1 0,1 1 0,1 0 0,2 3 17,0 0-1,-1-1 1,1 1 0,-1 0-1,0 1 1,5 7 0,13 31-841,-12-23-1745,-5-12 1546,1 1-1,0-1 1,12 15 0,-9-14 1307,0 0 0,16 12 0,2-3 2732,44 24 1,-41-25-2533,7 5-484,-20-11 0,2-1 0,21 10 0,-25-13 0,1 1 0,-1 1 0,-1 0 0,21 18 0,19 13 0,-18-15 0,11 6 0,-40-28 0,0 0 0,1-1 0,-1-1 0,0 1 0,1-1 0,0 0 0,-1 0 0,1 0 0,-1-1 0,10-1 0,-7 1 0,1 0 0,0 0 0,17 4 0,-4 2 0,1-1 0,-1-1 0,39 2 0,136-15 0,129-10 0,4403 20 0,-4719-2 0,1 0 0,-1-1 0,0 0 0,13-5 0,-11 4 0,0-1 0,19-1 0,21 0 0,55-3 0,815 9 0,-913-1 0,0 1 0,0 1 0,0-1 0,0 1 0,0 1 0,0 0 0,-1 1 0,11 4 0,-6-2 0,24 5 0,-25-8 0,0 1 0,18 8 0,-5-1 0,-18-8 0,-1 0 0,0 1 0,1-1 0,-2 1 0,1 1 0,0-1 0,10 11 0,-14-12 0,1 1 0,-2-1 0,1 1 0,0 0 0,-1 0 0,0 0 0,0 0 0,0 1 0,1 5 0,0 1 0,-1 1 0,1 16 0,-2-18 0,2 6 0,5 21 0,1 1 0,-6-20 0,7 52 0,-10-63 0,1-1 0,0 0 0,0 1 0,0-1 0,1 0 0,0 0 0,0 0 0,1 0 0,-1 0 0,1 0 0,1-1 0,-1 1 0,1-1 0,0 0 0,7 8 0,2 1-24,-1 0 0,-1 1-1,-1 1 1,14 25 0,-6-9-1220,-8-16-5582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94F02-DFE8-47F5-999D-4D065381BD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532FC-0C26-41ED-91C4-2A1C58AE2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CFA-34B8-4985-9EBD-3480D5E1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33D6D-E622-4C3B-9F70-ED49553B9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B9800-BBE3-43F3-954C-1BE89C95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448D-A783-4933-8C87-202B908B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A539E-77FB-4784-8F48-40A6E10C5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1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45774-D8FB-4609-AAE6-9DFB9337B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BC86-19DE-433A-AC72-8E6E8A93B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EAE9-538F-4540-99B2-F94BBB0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0FA06-A552-48E9-984C-063D2352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B287-478F-4020-BBF4-AE2612E4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5F8E-D378-48F1-982D-606B316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94D5D-2E6F-4291-B1C6-BBFC0323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AAFD2-28C6-455D-AE60-B9D72486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2756-894F-46FE-B4D3-4C370744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601B-7763-446C-9DC5-9ACF5EE9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8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5D5-4A70-4523-8C56-7A2F6309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0669-8B6D-4573-A65D-5723BE7B8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26AA6-27C3-4956-B4F9-B51F02240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ADE07-F788-4954-AC59-F7BCCAD8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EA43F-F602-40EE-B21F-DC7E68CD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D1C2A-9F62-4A54-96AE-3DAD4823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93E4-29D2-4052-9C0C-2B12FB9F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864E-EDC6-4F4B-90E2-73414CCE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8338-D4D6-46C1-A40B-EBAFA0585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6AB0C-3D87-4B28-A144-FBE1D0F6F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639F3-6EB4-4B92-AE38-D411C1AA3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005A4-0514-429B-9362-4434E793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49C01-7B53-435D-82F7-A1316279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674F3-601B-4FAC-913E-6356AB82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6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F530-2DDE-4090-B9BA-4E706FE8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4B356-E78B-4416-98FE-2C17AE15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593D8-810C-4035-B5ED-80F9BF0D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5571-D054-48D1-8803-ADE847A6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7BE268-32AF-41F1-B9BF-7644477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81429-1463-423B-A364-300797428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6839-CB05-4AB6-92C3-597FE9B6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436-DB2A-48F1-B027-49BF16EC7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8BF08-10D0-4FEE-BD95-9FDFBA2FF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A3EEA-BC06-42DA-89F3-9E0D2161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5DFBF-2A0A-4BBC-A7A2-C761EAFD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32EE-DBDF-4DD6-B09C-98EFBACD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F9592-0DF4-4888-A204-38DA63D3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96FA-1210-4D0E-9505-D51795E0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255D6-880E-44DA-919F-3FCF13B52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C7E01-C6FB-46A7-A74A-898E5820E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E34C9-0AC3-43C3-A654-3FC0164A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7480-0FFC-41C2-88A2-0A21C726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F4567-0817-4CF6-BD05-B1BDEA79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9-FC21-406B-B5FA-B60B7DC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6599-23BC-425D-8BD9-EE0D324D6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C455-686D-48B4-8DAB-D94E33E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D1942-3ED0-4931-A8CE-6D984F83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B5B99-3A43-477C-B42A-3C08D02D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63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23F515-C31F-4273-9268-3D1EF4F6F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F6F7-9F34-4BB4-8961-A8EDC9D8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CB1-7397-4C82-89C9-0693FB29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1C97-2278-43A9-BE35-0AD61265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5134C-7180-46A6-9627-AECEF8D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26403-82E5-42A1-9D17-51FB8924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3246-0D43-4E66-B320-0671607BF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5B71-0150-43A3-94BD-2B7D0897C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B579-BE22-4365-9624-3AE1F352F1A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9B45D-F9D5-470F-9240-ABDE82EA2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585F-DBFF-493F-8D4A-16FE923E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EF8F-CC04-49FF-99A7-DBE4E5B3B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8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34" y="4659359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Topic: </a:t>
            </a:r>
            <a:r>
              <a:rPr lang="fr-FR" dirty="0"/>
              <a:t>Paging</a:t>
            </a:r>
            <a:endParaRPr lang="en-US" dirty="0"/>
          </a:p>
          <a:p>
            <a:r>
              <a:rPr lang="en-US" dirty="0"/>
              <a:t>Lecture: Dr. Zhao Jie</a:t>
            </a:r>
          </a:p>
          <a:p>
            <a:r>
              <a:rPr lang="en-US" dirty="0"/>
              <a:t>Date: 03/02/2026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60897-8669-4C6A-9213-A875ED322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37202"/>
            <a:ext cx="9967968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9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Reading Assignment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Chapters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18 &amp; 20</a:t>
            </a:r>
            <a:endParaRPr lang="pl-PL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0F48-9DB0-08EA-42CE-D4E5E667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9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8C573-4E07-728F-3468-06E50E06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C0EF5-6992-C332-9F12-7010E506B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9299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Agenda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32D95-BA53-D818-CCF8-8936EB3EE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609" y="2538547"/>
            <a:ext cx="9144000" cy="2254011"/>
          </a:xfrm>
        </p:spPr>
        <p:txBody>
          <a:bodyPr numCol="2">
            <a:noAutofit/>
          </a:bodyPr>
          <a:lstStyle/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Fixed-size piece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Paging 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VA-PA translation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Page Table Entry</a:t>
            </a:r>
            <a:endParaRPr lang="pl-PL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C0904-5B1A-2A37-4D6E-431C7BA9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EF8F-CC04-49FF-99A7-DBE4E5B3B3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6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96C9-DE62-39F6-9C94-BF9CF8AB1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535A-4D3E-CB86-E8AC-AD30609D8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85766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Motivation of fixed-sized piece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719F2-EFA8-F92C-D963-9C540D9E3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242" y="1130620"/>
            <a:ext cx="10518564" cy="234956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Look at the following birthday cake. If the number of guests is growing and uncertain, how can you divide the birthday cake?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This is the reason that the </a:t>
            </a:r>
            <a:r>
              <a:rPr lang="en-US" sz="2200" b="1" dirty="0"/>
              <a:t>fixed-size piece, not the variable-size piece</a:t>
            </a:r>
            <a:r>
              <a:rPr lang="en-US" sz="2200" dirty="0"/>
              <a:t>, is used for virtual memory management. </a:t>
            </a:r>
          </a:p>
          <a:p>
            <a:pPr algn="l">
              <a:lnSpc>
                <a:spcPct val="150000"/>
              </a:lnSpc>
            </a:pPr>
            <a:endParaRPr lang="en-US" sz="2200" dirty="0"/>
          </a:p>
          <a:p>
            <a:pPr lvl="1" algn="l">
              <a:lnSpc>
                <a:spcPct val="150000"/>
              </a:lnSpc>
            </a:pPr>
            <a:endParaRPr lang="en-US" sz="2200" dirty="0"/>
          </a:p>
          <a:p>
            <a:pPr lvl="1" algn="l">
              <a:lnSpc>
                <a:spcPct val="150000"/>
              </a:lnSpc>
            </a:pPr>
            <a:endParaRPr lang="en-US" sz="2200" dirty="0"/>
          </a:p>
          <a:p>
            <a:pPr algn="l">
              <a:lnSpc>
                <a:spcPct val="150000"/>
              </a:lnSpc>
            </a:pPr>
            <a:endParaRPr lang="en-US" sz="2200" dirty="0"/>
          </a:p>
        </p:txBody>
      </p:sp>
      <p:pic>
        <p:nvPicPr>
          <p:cNvPr id="7" name="Picture 6" descr="A cartoon of a cake with candles&#10;&#10;AI-generated content may be incorrect.">
            <a:extLst>
              <a:ext uri="{FF2B5EF4-FFF2-40B4-BE49-F238E27FC236}">
                <a16:creationId xmlns:a16="http://schemas.microsoft.com/office/drawing/2014/main" id="{1A8CC412-DE21-BB9E-6244-0ED66DAAE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580" y="3452886"/>
            <a:ext cx="40005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2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BBC4F-A872-1755-47B3-4291E785A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B312-8204-141F-A5AE-CF191FB2E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630" y="199414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Paging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034378-8A08-6410-09C2-BF6B35BB5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242" y="1253451"/>
            <a:ext cx="10518564" cy="4819804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term “page” originated from the book pages. This means that when the book is published, the number of pages and the word counts on each page are fixed.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Paging</a:t>
            </a:r>
            <a:r>
              <a:rPr lang="en-US" sz="2200" dirty="0"/>
              <a:t>: It is a mechanism, that is, for management, the OS chops the memory into fixed-size pieces.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Page</a:t>
            </a:r>
            <a:r>
              <a:rPr lang="en-US" sz="2200" dirty="0"/>
              <a:t>: the fixed-size unit of virtual memory (address space). One page could have 16 bytes.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Page frame</a:t>
            </a:r>
            <a:r>
              <a:rPr lang="en-US" sz="2200" dirty="0"/>
              <a:t>: the fixed-size unit of physical memory. One page could have 16 bytes.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However, </a:t>
            </a:r>
            <a:r>
              <a:rPr lang="en-US" sz="2200" u="sng" dirty="0"/>
              <a:t>you need to know that both the page size and the page frame must be equal. </a:t>
            </a:r>
          </a:p>
          <a:p>
            <a:pPr algn="l">
              <a:lnSpc>
                <a:spcPct val="150000"/>
              </a:lnSpc>
            </a:pPr>
            <a:endParaRPr lang="en-US" sz="2200" dirty="0"/>
          </a:p>
          <a:p>
            <a:pPr lvl="1" algn="l">
              <a:lnSpc>
                <a:spcPct val="150000"/>
              </a:lnSpc>
            </a:pPr>
            <a:endParaRPr lang="en-US" sz="2200" dirty="0"/>
          </a:p>
          <a:p>
            <a:pPr lvl="1" algn="l">
              <a:lnSpc>
                <a:spcPct val="150000"/>
              </a:lnSpc>
            </a:pPr>
            <a:endParaRPr lang="en-US" sz="22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0963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A7178-2794-66F1-9ECE-29A13F60B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B5C5-53C8-2D01-1F01-6449AB2A9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630" y="199414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Paging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A0A66BA-889C-05F1-5FD1-C0F9BE30328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89242" y="1253451"/>
                <a:ext cx="10518564" cy="1835492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rgbClr val="C00000"/>
                    </a:solidFill>
                  </a:rPr>
                  <a:t> Practice: If you have 64 bytes as address space, how can you segment the page size and page number? </a:t>
                </a: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𝑣𝑖𝑟𝑡𝑢𝑎𝑙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𝑚𝑒𝑚𝑜𝑟𝑦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𝑝𝑎𝑔𝑒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𝑝𝑎𝑔𝑒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𝑠𝑖𝑧𝑒</m:t>
                      </m:r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lvl="1" algn="l">
                  <a:lnSpc>
                    <a:spcPct val="150000"/>
                  </a:lnSpc>
                </a:pPr>
                <a:endParaRPr lang="en-US" sz="2200" dirty="0"/>
              </a:p>
              <a:p>
                <a:pPr lvl="1" algn="l">
                  <a:lnSpc>
                    <a:spcPct val="150000"/>
                  </a:lnSpc>
                </a:pPr>
                <a:endParaRPr lang="en-US" sz="2200" dirty="0"/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A0A66BA-889C-05F1-5FD1-C0F9BE303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89242" y="1253451"/>
                <a:ext cx="10518564" cy="1835492"/>
              </a:xfrm>
              <a:blipFill>
                <a:blip r:embed="rId2"/>
                <a:stretch>
                  <a:fillRect l="-696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rawer with a black background&#10;&#10;AI-generated content may be incorrect.">
            <a:extLst>
              <a:ext uri="{FF2B5EF4-FFF2-40B4-BE49-F238E27FC236}">
                <a16:creationId xmlns:a16="http://schemas.microsoft.com/office/drawing/2014/main" id="{03302571-056D-088C-0018-72DFA7215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324" y="3128749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9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Paging of virtual memory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505" y="1385561"/>
            <a:ext cx="9389838" cy="163969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 the diagram, the total size of the address space is 64 bytes.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There are four pages, from VP0 to VP3. (VP: virtual page number)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Practice: What is each page size?</a:t>
            </a:r>
          </a:p>
          <a:p>
            <a:pPr lvl="1"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EBD130-C93C-9FDA-CC74-E78B6B97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46" y="3500654"/>
            <a:ext cx="5920108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A791F3-96F6-84E5-0AAC-81BC6DD9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986" y="6420328"/>
            <a:ext cx="285484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07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F3FAF-6F5E-54F1-A602-9081856EA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FDBB-8992-7FCD-AFE6-224F6626D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Virtual memory in the instruction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34535-BFF9-D4FF-938C-C074E80D4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505" y="1385560"/>
            <a:ext cx="9389838" cy="2143381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Usually, the task to access memory is in the format of instructions, something like ISA that we discussed before.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If the virtual memory address appears in an instruction, the example of the above case is shown below:</a:t>
            </a:r>
          </a:p>
          <a:p>
            <a:pPr lvl="1" algn="l">
              <a:lnSpc>
                <a:spcPct val="15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5EE84-073B-8DB4-9916-E82AAA9BE83A}"/>
              </a:ext>
            </a:extLst>
          </p:cNvPr>
          <p:cNvSpPr txBox="1"/>
          <p:nvPr/>
        </p:nvSpPr>
        <p:spPr>
          <a:xfrm>
            <a:off x="2638568" y="4404658"/>
            <a:ext cx="135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VPN: 2bits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65BC3-3BE8-BA48-2E5C-B0DCD97C4782}"/>
              </a:ext>
            </a:extLst>
          </p:cNvPr>
          <p:cNvSpPr txBox="1"/>
          <p:nvPr/>
        </p:nvSpPr>
        <p:spPr>
          <a:xfrm>
            <a:off x="6432317" y="4375619"/>
            <a:ext cx="1465186" cy="36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Offset: 4 bits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C295893-BF49-F857-9526-7A7247299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5194"/>
              </p:ext>
            </p:extLst>
          </p:nvPr>
        </p:nvGraphicFramePr>
        <p:xfrm>
          <a:off x="1868227" y="5182483"/>
          <a:ext cx="812800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4259452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330668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884719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772308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8926106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1793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7213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EBC6E2E-4012-D279-C9B1-4D77FD195091}"/>
                  </a:ext>
                </a:extLst>
              </p14:cNvPr>
              <p14:cNvContentPartPr/>
              <p14:nvPr/>
            </p14:nvContentPartPr>
            <p14:xfrm>
              <a:off x="1892276" y="4882350"/>
              <a:ext cx="2649240" cy="295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EBC6E2E-4012-D279-C9B1-4D77FD1950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3276" y="4873350"/>
                <a:ext cx="26668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5F42EAD-68DB-38ED-5479-C9A20B47F9C4}"/>
                  </a:ext>
                </a:extLst>
              </p14:cNvPr>
              <p14:cNvContentPartPr/>
              <p14:nvPr/>
            </p14:nvContentPartPr>
            <p14:xfrm>
              <a:off x="4635116" y="4773990"/>
              <a:ext cx="5333040" cy="399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5F42EAD-68DB-38ED-5479-C9A20B47F9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6116" y="4764990"/>
                <a:ext cx="5350680" cy="41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879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4B30-09B4-BE6A-84DD-0F68DD5C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5337-E284-9AAE-1015-827C0874D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Paging of physical memory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DE3BC-4088-0D62-3D3B-08CDE597D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6813" y="1592744"/>
            <a:ext cx="5128325" cy="4812604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 the diagram, there are eight pages, from PF0 to PF7. (PF: physical frame number)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Each page size is 16 bytes.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Practice: What is the total size of physical memory in this case?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VA-PA mapping: VP0-PF3, VP1-PF7, VP2-PF5, VP3-PF2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Page table saves the info to map from VA to PA.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00000"/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C00000"/>
              </a:solidFill>
            </a:endParaRPr>
          </a:p>
          <a:p>
            <a:pPr lvl="1"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09E2E-E4FE-FF8C-25BE-359BE702C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830" y="1592744"/>
            <a:ext cx="4900773" cy="4114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7CD3CC-98BB-A822-D78C-FF683C94D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305" y="5707544"/>
            <a:ext cx="3441894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56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A408-0736-C758-DEBC-65DCFBBE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F17F5-318F-30F1-AD69-E589ED8B8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VA – PA translation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DA6DF-9476-E594-61EA-0324172CB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505" y="1385560"/>
            <a:ext cx="9389838" cy="292452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Let us use the following example to understand the VA-PA translation.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instruction is: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VPN structure is: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VA-PA translation is :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lvl="1" algn="l">
              <a:lnSpc>
                <a:spcPct val="150000"/>
              </a:lnSpc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81050E-B038-CA5F-ADF8-094D599B6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72" y="2128751"/>
            <a:ext cx="2098038" cy="320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9E761F-17F9-7D23-80D2-307D4EF8F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386" y="2337781"/>
            <a:ext cx="4399721" cy="3657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69FB61-2254-AA29-C0C2-BBCC3456D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450" y="2912631"/>
            <a:ext cx="2226041" cy="822960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94C6A530-557F-14AF-BB5B-BA02F1AAED2F}"/>
              </a:ext>
            </a:extLst>
          </p:cNvPr>
          <p:cNvSpPr/>
          <p:nvPr/>
        </p:nvSpPr>
        <p:spPr>
          <a:xfrm>
            <a:off x="4308605" y="4018791"/>
            <a:ext cx="2734010" cy="73520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7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85766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Page table entry (PTE)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242" y="975943"/>
            <a:ext cx="10518564" cy="4781561"/>
          </a:xfrm>
        </p:spPr>
        <p:txBody>
          <a:bodyPr>
            <a:normAutofit lnSpcReduction="10000"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Simplest page table: linear page table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Page table is an array of page table entries, one per virtual page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VPN (virtual page no.) is index into this array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Each PTE contains PFN (physical frame number) and few other bits</a:t>
            </a:r>
          </a:p>
          <a:p>
            <a:pPr algn="l">
              <a:lnSpc>
                <a:spcPct val="150000"/>
              </a:lnSpc>
            </a:pPr>
            <a:r>
              <a:rPr lang="en-US" sz="1800" dirty="0"/>
              <a:t>--- Valid bit: is this page used by process?</a:t>
            </a:r>
          </a:p>
          <a:p>
            <a:pPr algn="l">
              <a:lnSpc>
                <a:spcPct val="150000"/>
              </a:lnSpc>
            </a:pPr>
            <a:r>
              <a:rPr lang="en-US" sz="1800" dirty="0"/>
              <a:t>--- Protection bits: read/write permissions</a:t>
            </a:r>
          </a:p>
          <a:p>
            <a:pPr algn="l">
              <a:lnSpc>
                <a:spcPct val="150000"/>
              </a:lnSpc>
            </a:pPr>
            <a:r>
              <a:rPr lang="en-US" sz="1800" dirty="0"/>
              <a:t>--- Present bit: is this page in memory?</a:t>
            </a:r>
          </a:p>
          <a:p>
            <a:pPr algn="l">
              <a:lnSpc>
                <a:spcPct val="150000"/>
              </a:lnSpc>
            </a:pPr>
            <a:r>
              <a:rPr lang="en-US" sz="1800" dirty="0"/>
              <a:t>--- Dirty bit: has this page been modified?</a:t>
            </a:r>
          </a:p>
          <a:p>
            <a:pPr algn="l">
              <a:lnSpc>
                <a:spcPct val="150000"/>
              </a:lnSpc>
            </a:pPr>
            <a:r>
              <a:rPr lang="en-US" sz="1800" dirty="0"/>
              <a:t>--- Access bit: has this page been recently accessed?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  <a:p>
            <a:pPr lvl="1" algn="l">
              <a:lnSpc>
                <a:spcPct val="150000"/>
              </a:lnSpc>
            </a:pPr>
            <a:endParaRPr lang="en-US" sz="1800" dirty="0"/>
          </a:p>
          <a:p>
            <a:pPr lvl="1" algn="l">
              <a:lnSpc>
                <a:spcPct val="150000"/>
              </a:lnSpc>
            </a:pPr>
            <a:endParaRPr lang="en-US" sz="18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F32DDD-3D06-D6AE-8D36-69AA1D2BB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217" y="5574954"/>
            <a:ext cx="7977225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43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What happens during memory access?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7109" y="1502877"/>
            <a:ext cx="9391836" cy="408199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CPU requests code or data at a virtual address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MMU must translate VA to PA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First, access memory to read page table entry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Translate VA to PA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Then, access memory to fetch code /data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Paging adds overhead to memory access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Solution? A cache for VA-PA mappings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algn="l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34639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323372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Translation Lookaside Buffer (TLB)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3739" y="1327986"/>
            <a:ext cx="9177220" cy="4038567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cache of recent VA-PA mappings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translate VA to PA, MMU first looks up TLB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If TLB hit, PA can be directly used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If TLB miss, then MMU performs additional memory accesses to “walk” page table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TLB misses are expensive (multiple memory accesses)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Locality of reference helps to have high hit rate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TLB entries may become invalid on context switch and change of page tables</a:t>
            </a:r>
          </a:p>
        </p:txBody>
      </p:sp>
    </p:spTree>
    <p:extLst>
      <p:ext uri="{BB962C8B-B14F-4D97-AF65-F5344CB8AC3E}">
        <p14:creationId xmlns:p14="http://schemas.microsoft.com/office/powerpoint/2010/main" val="2075759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74796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Multilevel page tables (1)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4798" y="916299"/>
            <a:ext cx="10102402" cy="1222158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page table is spread over many pages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 “outer” page table or page directory tracks the PFNs of the page table pages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59EEA-673E-0032-884F-D2F4C9243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704" y="2406407"/>
            <a:ext cx="630858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83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48F5-1552-4316-ADB3-4EE4924B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460" y="119184"/>
            <a:ext cx="10452740" cy="742228"/>
          </a:xfrm>
        </p:spPr>
        <p:txBody>
          <a:bodyPr>
            <a:no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Multilevel page tables (2)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DF914-4B40-4A23-8AAC-9CFE7F215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8228" y="995068"/>
            <a:ext cx="9656086" cy="517557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Depending on how large the page table is, we may need more than 2 levels also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--- 64-bits architectures may need 7 levels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about address translation?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First few bits of VA to identify outer page table entry</a:t>
            </a:r>
          </a:p>
          <a:p>
            <a:pPr lvl="1" algn="l">
              <a:lnSpc>
                <a:spcPct val="150000"/>
              </a:lnSpc>
            </a:pPr>
            <a:r>
              <a:rPr lang="en-US" sz="1800" dirty="0"/>
              <a:t>--- Next few bits to index into next level of PTEs</a:t>
            </a:r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algn="l">
              <a:lnSpc>
                <a:spcPct val="150000"/>
              </a:lnSpc>
            </a:pPr>
            <a:endParaRPr lang="en-US" sz="20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 case of TLB miss, multiple accesses to memory required to access all the levels of page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2912A-2D40-9211-4BF3-C7D2C232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919" y="3669537"/>
            <a:ext cx="5449821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18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771</Words>
  <Application>Microsoft Office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PowerPoint Presentation</vt:lpstr>
      <vt:lpstr>Reading Assignment</vt:lpstr>
      <vt:lpstr>Agenda</vt:lpstr>
      <vt:lpstr>Motivation of fixed-sized piece</vt:lpstr>
      <vt:lpstr>Paging</vt:lpstr>
      <vt:lpstr>Paging Practice</vt:lpstr>
      <vt:lpstr>Paging of virtual memory </vt:lpstr>
      <vt:lpstr>Virtual memory in the instruction </vt:lpstr>
      <vt:lpstr>Paging of physical memory</vt:lpstr>
      <vt:lpstr>VA – PA translation</vt:lpstr>
      <vt:lpstr>Page table entry (PTE)</vt:lpstr>
      <vt:lpstr>What happens during memory access?</vt:lpstr>
      <vt:lpstr>Translation Lookaside Buffer (TLB)</vt:lpstr>
      <vt:lpstr>Multilevel page tables (1)</vt:lpstr>
      <vt:lpstr>Multilevel page tables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Zhao</dc:creator>
  <cp:lastModifiedBy>Zhao, Jie</cp:lastModifiedBy>
  <cp:revision>7</cp:revision>
  <dcterms:created xsi:type="dcterms:W3CDTF">2023-08-19T20:44:10Z</dcterms:created>
  <dcterms:modified xsi:type="dcterms:W3CDTF">2026-03-02T17:25:16Z</dcterms:modified>
</cp:coreProperties>
</file>