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63" r:id="rId4"/>
    <p:sldId id="322" r:id="rId5"/>
    <p:sldId id="349" r:id="rId6"/>
    <p:sldId id="350" r:id="rId7"/>
    <p:sldId id="351" r:id="rId8"/>
    <p:sldId id="360" r:id="rId9"/>
    <p:sldId id="353" r:id="rId10"/>
    <p:sldId id="362" r:id="rId11"/>
    <p:sldId id="3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9" autoAdjust="0"/>
    <p:restoredTop sz="77123" autoAdjust="0"/>
  </p:normalViewPr>
  <p:slideViewPr>
    <p:cSldViewPr snapToGrid="0">
      <p:cViewPr varScale="1">
        <p:scale>
          <a:sx n="64" d="100"/>
          <a:sy n="64" d="100"/>
        </p:scale>
        <p:origin x="98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custSel addSld modSld">
      <pc:chgData name="Zhao, Jie" userId="7be6526a-30ba-445c-b3a9-aabf2c8f5828" providerId="ADAL" clId="{DEC740C7-2239-4DCB-A2EC-28D5B021DFB5}" dt="2026-04-19T18:56:10.604" v="144" actId="20577"/>
      <pc:docMkLst>
        <pc:docMk/>
      </pc:docMkLst>
      <pc:sldChg chg="modSp mod">
        <pc:chgData name="Zhao, Jie" userId="7be6526a-30ba-445c-b3a9-aabf2c8f5828" providerId="ADAL" clId="{DEC740C7-2239-4DCB-A2EC-28D5B021DFB5}" dt="2026-04-19T18:56:10.604" v="144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4-19T18:56:10.604" v="144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45drives.com/blog/storage/everything-you-need-to-know-about-hard-drive-vibration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Hard Disk Drive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04/22/2026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Chapters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37</a:t>
            </a:r>
            <a:endParaRPr lang="pl-PL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F48-9DB0-08EA-42CE-D4E5E667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719D-BC0C-5009-77DE-71A05DF4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10882-FDAF-A7A3-48D4-DECDD8330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5900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4A94C-B46B-9B0F-0E68-7D9D2BD15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8917"/>
            <a:ext cx="9144000" cy="214598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Geometry of a hard disk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Time to access the hard disk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Scheduling of the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hard disk</a:t>
            </a: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E1DA8-5AC0-4A58-4C94-F71D113B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8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660475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17" y="928205"/>
            <a:ext cx="5113958" cy="465079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Combination [1]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Sectors, 512-byte blocks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Address space, [0, n-1]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Atomic execution is either complete in its entirety or won’t be complete at all.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principle for the design rule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Accessing two blocks in a contiguous chunk is faster than accessing two far-apart blocks. 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C36152-EC3B-FC94-58B1-36AF5C5BE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830" y="870030"/>
            <a:ext cx="5376672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BEECA9-146F-27F1-2390-BCD57C3677A9}"/>
              </a:ext>
            </a:extLst>
          </p:cNvPr>
          <p:cNvSpPr txBox="1"/>
          <p:nvPr/>
        </p:nvSpPr>
        <p:spPr>
          <a:xfrm>
            <a:off x="694481" y="6030410"/>
            <a:ext cx="5584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[1]. </a:t>
            </a:r>
            <a:r>
              <a:rPr lang="en-US" dirty="0">
                <a:hlinkClick r:id="rId3"/>
              </a:rPr>
              <a:t>https://www.45drives.com/blog/storage/everything-you-need-to-know-about-hard-drive-vibration/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76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591027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Basic Geometry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617922"/>
            <a:ext cx="10096859" cy="220068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Property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RPM (Rotated Per Minute). If rotated at 10K RPM, it will take 6ms.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Read: Senses the magnetic pattern on the disk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Write: Induces a magnetic change. 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49CD0-80F5-661B-1752-841F687C1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74" y="3733004"/>
            <a:ext cx="5191933" cy="228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4230E1-00E0-6D21-FE61-AEB8046DE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4" y="2818604"/>
            <a:ext cx="490392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3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585239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Access to hard disk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1" y="785754"/>
            <a:ext cx="10096859" cy="209087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Access to the Sector for reading(or writing)</a:t>
            </a:r>
            <a:endParaRPr lang="en-US" dirty="0"/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innermost track(24-&gt;35), the next track(12-&gt;23), and the outermost track(0-&gt;11)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1). Seek: Move the disk arm to the correct track. 2). Waiting for the rotated delay. 3). Data transfer, for reading or writing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21E66-0CAA-4217-329F-2F3104737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365" y="3021313"/>
            <a:ext cx="677756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7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5029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Time to access the hard disk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49561" y="918861"/>
                <a:ext cx="10096859" cy="5487726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Different ways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Sequential access: Reads a large number of sectors consecutively from the disk without jumping around. 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Random access: Non-sequential access. 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Equation of access time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𝑆𝐼𝑍𝐸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𝑇𝑟𝑎𝑛𝑠𝑓𝑒𝑟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algn="r">
                  <a:lnSpc>
                    <a:spcPct val="150000"/>
                  </a:lnSpc>
                </a:pPr>
                <a:r>
                  <a:rPr lang="en-US" dirty="0"/>
                  <a:t>RI/O – rate of I/O</a:t>
                </a:r>
              </a:p>
              <a:p>
                <a:pPr algn="l"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49561" y="918861"/>
                <a:ext cx="10096859" cy="5487726"/>
              </a:xfrm>
              <a:blipFill>
                <a:blip r:embed="rId2"/>
                <a:stretch>
                  <a:fillRect l="-785" r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05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43311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Time to access the hard disk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18460" y="3175924"/>
                <a:ext cx="10312982" cy="3567047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Calculation for random access(Cheetah)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 err="1"/>
                  <a:t>Tseek</a:t>
                </a:r>
                <a:r>
                  <a:rPr lang="en-US" dirty="0"/>
                  <a:t> = Aver Seek = 4ms</a:t>
                </a:r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 err="1"/>
                  <a:t>Trotation</a:t>
                </a:r>
                <a:r>
                  <a:rPr lang="en-US" dirty="0"/>
                  <a:t>: 15000 RPM -&gt; 250 RPS -&gt;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250 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𝑅𝑃𝑆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=0.004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h𝑎𝑙𝑓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:2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endParaRPr lang="en-US" dirty="0"/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 err="1"/>
                  <a:t>Ttransfer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𝑡𝑟𝑎𝑛𝑠𝑓𝑒𝑟𝑒𝑑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𝑇𝑟𝑎𝑛𝑠𝑓𝑒𝑟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125 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=0.032∗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=32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𝑚𝑖𝑐𝑟𝑜𝑠𝑒𝑐𝑜𝑛𝑑</m:t>
                    </m:r>
                  </m:oMath>
                </a14:m>
                <a:endParaRPr lang="en-US" dirty="0"/>
              </a:p>
              <a:p>
                <a:pPr marL="800100" lvl="1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𝑆𝐼𝑍𝐸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𝑇𝑟𝑎𝑛𝑠𝑓𝑒𝑟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𝑆𝐼𝑍𝐸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𝑇𝑟𝑎𝑛𝑠𝑓𝑒𝑟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𝑠𝑒𝑒𝑘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𝑟𝑜𝑡𝑎𝑡𝑖𝑜𝑛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𝑡𝑟𝑎𝑛𝑠𝑓𝑒𝑟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=0.66 ~0.67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algn="l">
                  <a:lnSpc>
                    <a:spcPct val="150000"/>
                  </a:lnSpc>
                </a:pPr>
                <a:endParaRPr lang="en-US" dirty="0"/>
              </a:p>
              <a:p>
                <a:pPr algn="l">
                  <a:lnSpc>
                    <a:spcPct val="150000"/>
                  </a:lnSpc>
                </a:pPr>
                <a:endParaRPr lang="en-US" dirty="0"/>
              </a:p>
              <a:p>
                <a:pPr algn="l"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18460" y="3175924"/>
                <a:ext cx="10312982" cy="3567047"/>
              </a:xfrm>
              <a:blipFill>
                <a:blip r:embed="rId2"/>
                <a:stretch>
                  <a:fillRect l="-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60340B6-FEFD-071A-0EE9-E3E388DF8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38" y="873590"/>
            <a:ext cx="4787738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6AB605-93D8-86B5-F461-6BC41E99A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126" y="1467950"/>
            <a:ext cx="5174007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34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425" y="265503"/>
            <a:ext cx="11237149" cy="1459126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Disk scheduling: First Come First Service (FCFS) and Shortest Seek Time First (SSTF)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009" y="2505201"/>
            <a:ext cx="4523649" cy="233301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Pick up the request on the nearest track(innermost, the next and outermost tracks)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 to 21 first and then go to 2.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B836F-079D-8922-C20F-937740895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61" y="2344590"/>
            <a:ext cx="508453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5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8181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Disk scheduling: Elevator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009" y="988918"/>
            <a:ext cx="10096859" cy="5330859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SCAN</a:t>
            </a:r>
          </a:p>
          <a:p>
            <a:pPr lvl="1" algn="l">
              <a:lnSpc>
                <a:spcPct val="100000"/>
              </a:lnSpc>
            </a:pPr>
            <a:r>
              <a:rPr lang="en-US" dirty="0"/>
              <a:t>Move back and forth across the disk servicing requests across the tracks. SWEEP: single direction(from the inner to outer tracks; Or opposite)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F-SCAN</a:t>
            </a:r>
          </a:p>
          <a:p>
            <a:pPr lvl="1" algn="l">
              <a:lnSpc>
                <a:spcPct val="100000"/>
              </a:lnSpc>
            </a:pPr>
            <a:r>
              <a:rPr lang="en-US" dirty="0"/>
              <a:t>Freezes the queue when doing SWEEP.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C(circular) SCAN</a:t>
            </a:r>
          </a:p>
          <a:p>
            <a:pPr lvl="1" algn="l">
              <a:lnSpc>
                <a:spcPct val="100000"/>
              </a:lnSpc>
            </a:pPr>
            <a:r>
              <a:rPr lang="en-US" dirty="0"/>
              <a:t>SWEEPs from the outer to the inner and then resets at the outer track to begin again.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Elevator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Servicing is based on which floor is closer. For example, when there are requests for 3 and 4, service 4 first because the floor is from 10 to 1.</a:t>
            </a:r>
          </a:p>
        </p:txBody>
      </p:sp>
    </p:spTree>
    <p:extLst>
      <p:ext uri="{BB962C8B-B14F-4D97-AF65-F5344CB8AC3E}">
        <p14:creationId xmlns:p14="http://schemas.microsoft.com/office/powerpoint/2010/main" val="282326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271289"/>
            <a:ext cx="10452740" cy="602601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Disk scheduling: Shortest Positioning Time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009" y="988919"/>
            <a:ext cx="5559583" cy="1974200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Weight seek time and rotation delay.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Which one is faster, pick up it first.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17D4C-F2E4-941C-47BB-181441661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070" y="1608882"/>
            <a:ext cx="546113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90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504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Reading Assignment</vt:lpstr>
      <vt:lpstr>Agenda</vt:lpstr>
      <vt:lpstr>Interface</vt:lpstr>
      <vt:lpstr>Basic Geometry</vt:lpstr>
      <vt:lpstr>Access to hard disk</vt:lpstr>
      <vt:lpstr>Time to access the hard disk - 1</vt:lpstr>
      <vt:lpstr>Time to access the hard disk - 2</vt:lpstr>
      <vt:lpstr>Disk scheduling: First Come First Service (FCFS) and Shortest Seek Time First (SSTF)</vt:lpstr>
      <vt:lpstr>Disk scheduling: Elevator</vt:lpstr>
      <vt:lpstr>Disk scheduling: Shortest Positioning Time First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2026-04-19T18:56:13Z</dcterms:modified>
</cp:coreProperties>
</file>