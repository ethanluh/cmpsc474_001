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81" r:id="rId3"/>
    <p:sldId id="301" r:id="rId4"/>
    <p:sldId id="302" r:id="rId5"/>
    <p:sldId id="305" r:id="rId6"/>
    <p:sldId id="303" r:id="rId7"/>
    <p:sldId id="304" r:id="rId8"/>
    <p:sldId id="307" r:id="rId9"/>
    <p:sldId id="308" r:id="rId10"/>
    <p:sldId id="310" r:id="rId11"/>
    <p:sldId id="311" r:id="rId12"/>
    <p:sldId id="30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55" autoAdjust="0"/>
  </p:normalViewPr>
  <p:slideViewPr>
    <p:cSldViewPr snapToGrid="0">
      <p:cViewPr varScale="1">
        <p:scale>
          <a:sx n="79" d="100"/>
          <a:sy n="79" d="100"/>
        </p:scale>
        <p:origin x="403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, Jie" userId="7be6526a-30ba-445c-b3a9-aabf2c8f5828" providerId="ADAL" clId="{DEC740C7-2239-4DCB-A2EC-28D5B021DFB5}"/>
    <pc:docChg chg="modSld">
      <pc:chgData name="Zhao, Jie" userId="7be6526a-30ba-445c-b3a9-aabf2c8f5828" providerId="ADAL" clId="{DEC740C7-2239-4DCB-A2EC-28D5B021DFB5}" dt="2026-02-10T21:30:29.101" v="14" actId="20577"/>
      <pc:docMkLst>
        <pc:docMk/>
      </pc:docMkLst>
      <pc:sldChg chg="modSp mod">
        <pc:chgData name="Zhao, Jie" userId="7be6526a-30ba-445c-b3a9-aabf2c8f5828" providerId="ADAL" clId="{DEC740C7-2239-4DCB-A2EC-28D5B021DFB5}" dt="2026-02-10T21:30:29.101" v="14" actId="20577"/>
        <pc:sldMkLst>
          <pc:docMk/>
          <pc:sldMk cId="2199995263" sldId="256"/>
        </pc:sldMkLst>
        <pc:spChg chg="mod">
          <ac:chgData name="Zhao, Jie" userId="7be6526a-30ba-445c-b3a9-aabf2c8f5828" providerId="ADAL" clId="{DEC740C7-2239-4DCB-A2EC-28D5B021DFB5}" dt="2026-02-10T21:30:29.101" v="14" actId="20577"/>
          <ac:spMkLst>
            <pc:docMk/>
            <pc:sldMk cId="2199995263" sldId="256"/>
            <ac:spMk id="3" creationId="{2C5DF914-4B40-4A23-8AAC-9CFE7F215AC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94F02-DFE8-47F5-999D-4D065381BD9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532FC-0C26-41ED-91C4-2A1C58AE2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07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0C0D0E"/>
                </a:solidFill>
                <a:effectLst/>
                <a:latin typeface="ui-monospace"/>
              </a:rPr>
              <a:t>int </a:t>
            </a:r>
            <a:r>
              <a:rPr lang="en-US" b="0" i="0" dirty="0" err="1">
                <a:solidFill>
                  <a:srgbClr val="0C0D0E"/>
                </a:solidFill>
                <a:effectLst/>
                <a:latin typeface="ui-monospace"/>
              </a:rPr>
              <a:t>fileno</a:t>
            </a:r>
            <a:r>
              <a:rPr lang="en-US" b="0" i="0" dirty="0">
                <a:solidFill>
                  <a:srgbClr val="0C0D0E"/>
                </a:solidFill>
                <a:effectLst/>
                <a:latin typeface="ui-monospace"/>
              </a:rPr>
              <a:t>(FILE *stream)  to get </a:t>
            </a:r>
            <a:r>
              <a:rPr lang="en-US" b="0" i="0" dirty="0" err="1">
                <a:solidFill>
                  <a:srgbClr val="0C0D0E"/>
                </a:solidFill>
                <a:effectLst/>
                <a:latin typeface="ui-monospace"/>
              </a:rPr>
              <a:t>fd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532FC-0C26-41ED-91C4-2A1C58AE2C8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017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532FC-0C26-41ED-91C4-2A1C58AE2C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669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58CFA-34B8-4985-9EBD-3480D5E1D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33D6D-E622-4C3B-9F70-ED49553B9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B9800-BBE3-43F3-954C-1BE89C95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9448D-A783-4933-8C87-202B908B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A539E-77FB-4784-8F48-40A6E10C5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18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5774-D8FB-4609-AAE6-9DFB9337B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8BC86-19DE-433A-AC72-8E6E8A93B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FEAE9-538F-4540-99B2-F94BBB0C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0FA06-A552-48E9-984C-063D23529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CB287-478F-4020-BBF4-AE2612E4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82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5F8E-D378-48F1-982D-606B3160F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94D5D-2E6F-4291-B1C6-BBFC0323C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AAFD2-28C6-455D-AE60-B9D724863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62756-894F-46FE-B4D3-4C370744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C601B-7763-446C-9DC5-9ACF5EE9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83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85D5-4A70-4523-8C56-7A2F6309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50669-8B6D-4573-A65D-5723BE7B81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26AA6-27C3-4956-B4F9-B51F02240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ADE07-F788-4954-AC59-F7BCCAD82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EA43F-F602-40EE-B21F-DC7E68CD6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D1C2A-9F62-4A54-96AE-3DAD48234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75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93E4-29D2-4052-9C0C-2B12FB9F0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1864E-EDC6-4F4B-90E2-73414CCE8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08338-D4D6-46C1-A40B-EBAFA0585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76AB0C-3D87-4B28-A144-FBE1D0F6F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639F3-6EB4-4B92-AE38-D411C1AA3A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005A4-0514-429B-9362-4434E7932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B49C01-7B53-435D-82F7-A1316279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2674F3-601B-4FAC-913E-6356AB82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6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8F530-2DDE-4090-B9BA-4E706FE8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24B356-E78B-4416-98FE-2C17AE157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5593D8-810C-4035-B5ED-80F9BF0D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55571-D054-48D1-8803-ADE847A6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4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7BE268-32AF-41F1-B9BF-76444776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581429-1463-423B-A364-30079742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A6839-CB05-4AB6-92C3-597FE9B6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0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0436-DB2A-48F1-B027-49BF16EC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8BF08-10D0-4FEE-BD95-9FDFBA2FF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A3EEA-BC06-42DA-89F3-9E0D2161B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5DFBF-2A0A-4BBC-A7A2-C761EAFD3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032EE-DBDF-4DD6-B09C-98EFBACD0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F9592-0DF4-4888-A204-38DA63D3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36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96FA-1210-4D0E-9505-D51795E07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A255D6-880E-44DA-919F-3FCF13B52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C7E01-C6FB-46A7-A74A-898E5820E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E34C9-0AC3-43C3-A654-3FC0164AC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47480-0FFC-41C2-88A2-0A21C7263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F4567-0817-4CF6-BD05-B1BDEA799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1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00B9-FC21-406B-B5FA-B60B7DC90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96599-23BC-425D-8BD9-EE0D324D6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9C455-686D-48B4-8DAB-D94E33E0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D1942-3ED0-4931-A8CE-6D984F839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B5B99-3A43-477C-B42A-3C08D02D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863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23F515-C31F-4273-9268-3D1EF4F6F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BF6F7-9F34-4BB4-8961-A8EDC9D82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59CB1-7397-4C82-89C9-0693FB29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01C97-2278-43A9-BE35-0AD612655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5134C-7180-46A6-9627-AECEF8DC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11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F26403-82E5-42A1-9D17-51FB8924C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F3246-0D43-4E66-B320-0671607BF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15B71-0150-43A3-94BD-2B7D0897C0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1B579-BE22-4365-9624-3AE1F352F1A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9B45D-F9D5-470F-9240-ABDE82EA2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C585F-DBFF-493F-8D4A-16FE923EE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83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434" y="4659359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Topic: Lab Demo3 – IPC</a:t>
            </a:r>
          </a:p>
          <a:p>
            <a:r>
              <a:rPr lang="en-US" dirty="0"/>
              <a:t>Lecture: Dr. Zhao Jie</a:t>
            </a:r>
          </a:p>
          <a:p>
            <a:r>
              <a:rPr lang="en-US" dirty="0"/>
              <a:t>Date</a:t>
            </a:r>
            <a:r>
              <a:rPr lang="en-US"/>
              <a:t>: 02/11/2026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F60897-8669-4C6A-9213-A875ED322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0" y="237202"/>
            <a:ext cx="996796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995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9755080" cy="737510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IPC – </a:t>
            </a:r>
            <a:r>
              <a:rPr lang="en-US" sz="3800" dirty="0" err="1">
                <a:solidFill>
                  <a:srgbClr val="C00000"/>
                </a:solidFill>
              </a:rPr>
              <a:t>popen</a:t>
            </a:r>
            <a:r>
              <a:rPr lang="en-US" sz="3800" dirty="0">
                <a:solidFill>
                  <a:srgbClr val="C00000"/>
                </a:solidFill>
              </a:rPr>
              <a:t>( 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704" y="3376059"/>
            <a:ext cx="9391836" cy="276729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Func</a:t>
            </a:r>
            <a:r>
              <a:rPr lang="en-US" dirty="0"/>
              <a:t>: opens a pipe stream to or from a process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Arg1: process for communication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Arg2: sending or receiving data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Return: file handler(pointer) on success.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1C8579-7758-2FF9-7E4B-18464CA91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511" y="1395510"/>
            <a:ext cx="10306977" cy="164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05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9755080" cy="737510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IPC– pipe(</a:t>
            </a:r>
            <a:r>
              <a:rPr lang="en-US" sz="3800" dirty="0" err="1">
                <a:solidFill>
                  <a:srgbClr val="C00000"/>
                </a:solidFill>
              </a:rPr>
              <a:t>fd</a:t>
            </a:r>
            <a:r>
              <a:rPr lang="en-US" sz="3800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704" y="3376059"/>
            <a:ext cx="9391836" cy="276729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Func</a:t>
            </a:r>
            <a:r>
              <a:rPr lang="en-US" dirty="0"/>
              <a:t>: creates a unidirectional pipe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pipefd</a:t>
            </a:r>
            <a:r>
              <a:rPr lang="en-US" dirty="0"/>
              <a:t>[0]: reading end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pipefd</a:t>
            </a:r>
            <a:r>
              <a:rPr lang="en-US" dirty="0"/>
              <a:t>[1]: writing end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Return: return -1 if failed.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783068-20D6-ECE1-AD63-FA4A9C0B3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51" y="1395510"/>
            <a:ext cx="10068698" cy="164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8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9755080" cy="737510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IPC – </a:t>
            </a:r>
            <a:r>
              <a:rPr lang="en-US" sz="3800" dirty="0" err="1">
                <a:solidFill>
                  <a:srgbClr val="C00000"/>
                </a:solidFill>
              </a:rPr>
              <a:t>mkfifo</a:t>
            </a:r>
            <a:endParaRPr lang="en-US" sz="3800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5514" y="3841953"/>
            <a:ext cx="9391836" cy="217481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Arg1: named pipe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Arg2: working mode permission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Return: 1). Return 0 on success; 2). Return -1 if failed.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AC1FB6-6316-2FBB-704E-6F033150A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203" y="1470181"/>
            <a:ext cx="9834458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334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9755080" cy="737510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IPC – </a:t>
            </a:r>
            <a:r>
              <a:rPr lang="en-US" sz="3800" dirty="0" err="1">
                <a:solidFill>
                  <a:srgbClr val="C00000"/>
                </a:solidFill>
              </a:rPr>
              <a:t>shmget</a:t>
            </a:r>
            <a:r>
              <a:rPr lang="en-US" sz="3800" dirty="0">
                <a:solidFill>
                  <a:srgbClr val="C00000"/>
                </a:solidFill>
              </a:rPr>
              <a:t>()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5513" y="3726546"/>
            <a:ext cx="9391836" cy="2174810"/>
          </a:xfrm>
        </p:spPr>
        <p:txBody>
          <a:bodyPr>
            <a:normAutofit fontScale="85000" lnSpcReduction="10000"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Arg1: the unique number identifying the shared segment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Arg2: the size of the shared segment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Arg3: the permissions on the shared segment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Return: 1). Returns a valid identifier if working; 2). Return -1 if failed.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67DD36-041B-2E4A-3DB3-41B1BBDBF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57" y="1788700"/>
            <a:ext cx="9868349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100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9755080" cy="737510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IPC – </a:t>
            </a:r>
            <a:r>
              <a:rPr lang="en-US" sz="3800" dirty="0" err="1">
                <a:solidFill>
                  <a:srgbClr val="C00000"/>
                </a:solidFill>
              </a:rPr>
              <a:t>shmat</a:t>
            </a:r>
            <a:r>
              <a:rPr lang="en-US" sz="3800" dirty="0">
                <a:solidFill>
                  <a:srgbClr val="C00000"/>
                </a:solidFill>
              </a:rPr>
              <a:t>( 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0082" y="3247329"/>
            <a:ext cx="9391836" cy="3171226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Arg1: the identifier which </a:t>
            </a:r>
            <a:r>
              <a:rPr lang="en-US" sz="2000" dirty="0" err="1"/>
              <a:t>shmget</a:t>
            </a:r>
            <a:r>
              <a:rPr lang="en-US" sz="2000" dirty="0"/>
              <a:t>() function returns on success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*Arg2: the address where to attach it to the calling process . A NULL value of second parameter means that the system will automatically choose a suitable address.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Arg3: the ‘0’ if the second parameter is NULL, otherwise, the value is specified by SHM_RND.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Return: no return.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C212D4-300C-89F6-7114-37E139A9F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537" y="1430743"/>
            <a:ext cx="9616926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270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9755080" cy="737510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IPC – </a:t>
            </a:r>
            <a:r>
              <a:rPr lang="en-US" sz="3800" dirty="0" err="1">
                <a:solidFill>
                  <a:srgbClr val="C00000"/>
                </a:solidFill>
              </a:rPr>
              <a:t>msgget</a:t>
            </a:r>
            <a:r>
              <a:rPr lang="en-US" sz="3800" dirty="0">
                <a:solidFill>
                  <a:srgbClr val="C00000"/>
                </a:solidFill>
              </a:rPr>
              <a:t>()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0082" y="2794605"/>
            <a:ext cx="9391836" cy="3270651"/>
          </a:xfrm>
        </p:spPr>
        <p:txBody>
          <a:bodyPr>
            <a:normAutofit fontScale="85000" lnSpcReduction="20000"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Func</a:t>
            </a:r>
            <a:r>
              <a:rPr lang="en-US" dirty="0"/>
              <a:t>: creates and access a message queue.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Arg1: a key that names a message queue in the system.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Arg2: The second parameter is used to assign permission to the message queue and is used with IPC_CREAT to create the queue if it doesn’t already exist. If the queue already exists then IPC_CREAT is ignored.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Return: 1). Return a positive number, the queue identifier on success; 2). Returns -1 if failed.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338070-2A9C-2DF1-5F71-61D5A2526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713" y="1421896"/>
            <a:ext cx="9678573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096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9755080" cy="737510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IPC – </a:t>
            </a:r>
            <a:r>
              <a:rPr lang="en-US" sz="3800" dirty="0" err="1">
                <a:solidFill>
                  <a:srgbClr val="C00000"/>
                </a:solidFill>
              </a:rPr>
              <a:t>msgsnd</a:t>
            </a:r>
            <a:r>
              <a:rPr lang="en-US" sz="3800" dirty="0">
                <a:solidFill>
                  <a:srgbClr val="C00000"/>
                </a:solidFill>
              </a:rPr>
              <a:t>()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0082" y="3100885"/>
            <a:ext cx="9391836" cy="3270651"/>
          </a:xfrm>
        </p:spPr>
        <p:txBody>
          <a:bodyPr>
            <a:normAutofit fontScale="85000" lnSpcReduction="10000"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Func</a:t>
            </a:r>
            <a:r>
              <a:rPr lang="en-US" dirty="0"/>
              <a:t>: adds a message to the message queue.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Arg1: the message queue identifier returned by the </a:t>
            </a:r>
            <a:r>
              <a:rPr lang="en-US" dirty="0" err="1"/>
              <a:t>msgget</a:t>
            </a:r>
            <a:r>
              <a:rPr lang="en-US" dirty="0"/>
              <a:t> function.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*Arg2: is the pointer to the message to be sent, which must start with a long int type.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Arg3: the size of the message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Return: 1). Return returns 0 and place the copy of message data on the message queue on success; 2). Returns -1 if failed.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19861A-E462-29B2-D358-1067ABBB8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253" y="1313046"/>
            <a:ext cx="9117494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634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9755080" cy="737510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IPC – </a:t>
            </a:r>
            <a:r>
              <a:rPr lang="en-US" sz="3800" dirty="0" err="1">
                <a:solidFill>
                  <a:srgbClr val="C00000"/>
                </a:solidFill>
              </a:rPr>
              <a:t>msgrcv</a:t>
            </a:r>
            <a:r>
              <a:rPr lang="en-US" sz="3800" dirty="0">
                <a:solidFill>
                  <a:srgbClr val="C00000"/>
                </a:solidFill>
              </a:rPr>
              <a:t>()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0081" y="3263977"/>
            <a:ext cx="9391836" cy="3270651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Func</a:t>
            </a:r>
            <a:r>
              <a:rPr lang="en-US" sz="2000" dirty="0"/>
              <a:t>: retrieves messages from a message queue.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Arg1: the message queue identifier returned by the </a:t>
            </a:r>
            <a:r>
              <a:rPr lang="en-US" sz="2000" dirty="0" err="1"/>
              <a:t>msgget</a:t>
            </a:r>
            <a:r>
              <a:rPr lang="en-US" sz="2000" dirty="0"/>
              <a:t> function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*Arg2: the pointer to the message to be received, which must start with a long int type.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Arg3: the size of the message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AC1EB2-A078-7D04-50FF-497029B15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392" y="1482528"/>
            <a:ext cx="8897215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377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9755080" cy="737510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IPC – </a:t>
            </a:r>
            <a:r>
              <a:rPr lang="en-US" sz="3800" dirty="0" err="1">
                <a:solidFill>
                  <a:srgbClr val="C00000"/>
                </a:solidFill>
              </a:rPr>
              <a:t>msgrcv</a:t>
            </a:r>
            <a:r>
              <a:rPr lang="en-US" sz="3800" dirty="0">
                <a:solidFill>
                  <a:srgbClr val="C00000"/>
                </a:solidFill>
              </a:rPr>
              <a:t>()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0082" y="1594147"/>
            <a:ext cx="9391836" cy="4252785"/>
          </a:xfrm>
        </p:spPr>
        <p:txBody>
          <a:bodyPr>
            <a:normAutofit fontScale="77500" lnSpcReduction="20000"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Arg4: The fourth parameter allows implementing priority. If the value is 0, the first available message in the queue is retrieved. But if the value is greater than 0 then the first message with the same message type is retrieved. If the value is less than 0 then the first message having the type value same as the absolute value of </a:t>
            </a:r>
            <a:r>
              <a:rPr lang="en-US" dirty="0" err="1"/>
              <a:t>msgtype</a:t>
            </a:r>
            <a:r>
              <a:rPr lang="en-US" dirty="0"/>
              <a:t> is retrieved. In simple words 0 value means to receive the messages in the order in which they were sent and non zero means receive the message with a specific message type.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Arg5: The final parameter controls what happens if either the message queue is full or the system limit on queued messages is reached.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Return: 1). Returns 0 and place the copy of message data on the message queue on success; 2). Returns -1 if failed.</a:t>
            </a:r>
          </a:p>
        </p:txBody>
      </p:sp>
    </p:spTree>
    <p:extLst>
      <p:ext uri="{BB962C8B-B14F-4D97-AF65-F5344CB8AC3E}">
        <p14:creationId xmlns:p14="http://schemas.microsoft.com/office/powerpoint/2010/main" val="2801505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9755080" cy="737510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IPC – </a:t>
            </a:r>
            <a:r>
              <a:rPr lang="en-US" sz="3800" dirty="0" err="1">
                <a:solidFill>
                  <a:srgbClr val="C00000"/>
                </a:solidFill>
              </a:rPr>
              <a:t>msgctl</a:t>
            </a:r>
            <a:r>
              <a:rPr lang="en-US" sz="3800" dirty="0">
                <a:solidFill>
                  <a:srgbClr val="C00000"/>
                </a:solidFill>
              </a:rPr>
              <a:t>()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0081" y="3263977"/>
            <a:ext cx="9391836" cy="3270651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Func</a:t>
            </a:r>
            <a:r>
              <a:rPr lang="en-US" sz="2000" dirty="0"/>
              <a:t>: the control function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Arg1: the identifier returned by </a:t>
            </a:r>
            <a:r>
              <a:rPr lang="en-US" sz="2000" dirty="0" err="1"/>
              <a:t>msgget</a:t>
            </a:r>
            <a:r>
              <a:rPr lang="en-US" sz="2000" dirty="0"/>
              <a:t> function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Arg2: have one out of the three values shown in Table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Arg3: the size of the message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Return: 1). Return 0 on success; 2). Return -1 if failed.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01418-466A-5D0A-C6DA-51EF4B2C7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20" y="1614124"/>
            <a:ext cx="11136758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826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417576"/>
            <a:ext cx="10909640" cy="1249394"/>
          </a:xfrm>
        </p:spPr>
        <p:txBody>
          <a:bodyPr anchor="ctr">
            <a:normAutofit/>
          </a:bodyPr>
          <a:lstStyle/>
          <a:p>
            <a:r>
              <a:rPr lang="en-US" sz="6600"/>
              <a:t>IPC – msgctl()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85D622-C131-9402-D0DB-049C8331A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157064"/>
              </p:ext>
            </p:extLst>
          </p:nvPr>
        </p:nvGraphicFramePr>
        <p:xfrm>
          <a:off x="320040" y="2552329"/>
          <a:ext cx="11548873" cy="3343180"/>
        </p:xfrm>
        <a:graphic>
          <a:graphicData uri="http://schemas.openxmlformats.org/drawingml/2006/table">
            <a:tbl>
              <a:tblPr firstRow="1" firstCol="1" bandRow="1"/>
              <a:tblGrid>
                <a:gridCol w="2174118">
                  <a:extLst>
                    <a:ext uri="{9D8B030D-6E8A-4147-A177-3AD203B41FA5}">
                      <a16:colId xmlns:a16="http://schemas.microsoft.com/office/drawing/2014/main" val="2347991938"/>
                    </a:ext>
                  </a:extLst>
                </a:gridCol>
                <a:gridCol w="9374755">
                  <a:extLst>
                    <a:ext uri="{9D8B030D-6E8A-4147-A177-3AD203B41FA5}">
                      <a16:colId xmlns:a16="http://schemas.microsoft.com/office/drawing/2014/main" val="107505172"/>
                    </a:ext>
                  </a:extLst>
                </a:gridCol>
              </a:tblGrid>
              <a:tr h="521945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2700" b="0" i="0" u="none" strike="noStrike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Command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607" marR="162607" marT="2258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2700" b="0" i="0" u="none" strike="noStrike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607" marR="162607" marT="2258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33809"/>
                  </a:ext>
                </a:extLst>
              </a:tr>
              <a:tr h="94041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2700" b="0" i="0" u="none" strike="noStrike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IPC_STAT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607" marR="162607" marT="2258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2700" b="0" i="0" u="none" strike="noStrike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Sets the data in the msqid_ds structure to reflect the values associated with the message queue.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607" marR="162607" marT="2258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752770"/>
                  </a:ext>
                </a:extLst>
              </a:tr>
              <a:tr h="1355963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2700" b="0" i="0" u="none" strike="noStrike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IPC_SET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607" marR="162607" marT="2258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2700" b="0" i="0" u="none" strike="noStrike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If the process has permission to do so, this sets the values associated with the message queue to those provided in the msqid_ds data structure.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607" marR="162607" marT="2258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186356"/>
                  </a:ext>
                </a:extLst>
              </a:tr>
              <a:tr h="52486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2700" b="0" i="0" u="none" strike="noStrike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IPC_RMID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607" marR="162607" marT="2258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295"/>
                        </a:spcBef>
                        <a:tabLst>
                          <a:tab pos="368300" algn="l"/>
                        </a:tabLst>
                      </a:pPr>
                      <a:r>
                        <a:rPr lang="en-US" sz="2700" b="0" i="0" u="none" strike="noStrike" dirty="0">
                          <a:solidFill>
                            <a:srgbClr val="4B4F58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Deletes the message queue.</a:t>
                      </a:r>
                      <a:endParaRPr lang="en-US" sz="4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607" marR="162607" marT="2258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087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4792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756</Words>
  <Application>Microsoft Office PowerPoint</Application>
  <PresentationFormat>Widescreen</PresentationFormat>
  <Paragraphs>65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ui-monospace</vt:lpstr>
      <vt:lpstr>Arial</vt:lpstr>
      <vt:lpstr>Calibri</vt:lpstr>
      <vt:lpstr>Calibri Light</vt:lpstr>
      <vt:lpstr>Segoe UI</vt:lpstr>
      <vt:lpstr>Office Theme</vt:lpstr>
      <vt:lpstr>PowerPoint Presentation</vt:lpstr>
      <vt:lpstr>IPC – popen( )</vt:lpstr>
      <vt:lpstr>IPC– pipe(fd)</vt:lpstr>
      <vt:lpstr>IPC – mkfifo</vt:lpstr>
      <vt:lpstr>IPC – shmget()</vt:lpstr>
      <vt:lpstr>IPC – shmat( )</vt:lpstr>
      <vt:lpstr>IPC – msgget()</vt:lpstr>
      <vt:lpstr>IPC – msgsnd()</vt:lpstr>
      <vt:lpstr>IPC – msgrcv()</vt:lpstr>
      <vt:lpstr>IPC – msgrcv()</vt:lpstr>
      <vt:lpstr>IPC – msgctl()</vt:lpstr>
      <vt:lpstr>IPC – msgctl()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Jie Zhao</dc:creator>
  <cp:lastModifiedBy>Zhao, Jie</cp:lastModifiedBy>
  <cp:revision>13</cp:revision>
  <dcterms:created xsi:type="dcterms:W3CDTF">2023-08-19T20:44:10Z</dcterms:created>
  <dcterms:modified xsi:type="dcterms:W3CDTF">2026-02-10T21:30:29Z</dcterms:modified>
</cp:coreProperties>
</file>