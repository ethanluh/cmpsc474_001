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304" r:id="rId4"/>
    <p:sldId id="281" r:id="rId5"/>
    <p:sldId id="285" r:id="rId6"/>
    <p:sldId id="293" r:id="rId7"/>
    <p:sldId id="305" r:id="rId8"/>
    <p:sldId id="287" r:id="rId9"/>
    <p:sldId id="302" r:id="rId10"/>
    <p:sldId id="290" r:id="rId11"/>
    <p:sldId id="295" r:id="rId12"/>
    <p:sldId id="303" r:id="rId13"/>
    <p:sldId id="29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84" d="100"/>
          <a:sy n="84" d="100"/>
        </p:scale>
        <p:origin x="211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o, Jie" userId="7be6526a-30ba-445c-b3a9-aabf2c8f5828" providerId="ADAL" clId="{DEC740C7-2239-4DCB-A2EC-28D5B021DFB5}"/>
    <pc:docChg chg="undo custSel modSld">
      <pc:chgData name="Zhao, Jie" userId="7be6526a-30ba-445c-b3a9-aabf2c8f5828" providerId="ADAL" clId="{DEC740C7-2239-4DCB-A2EC-28D5B021DFB5}" dt="2026-01-26T19:48:13.592" v="12" actId="20577"/>
      <pc:docMkLst>
        <pc:docMk/>
      </pc:docMkLst>
      <pc:sldChg chg="modSp mod">
        <pc:chgData name="Zhao, Jie" userId="7be6526a-30ba-445c-b3a9-aabf2c8f5828" providerId="ADAL" clId="{DEC740C7-2239-4DCB-A2EC-28D5B021DFB5}" dt="2026-01-26T19:48:13.592" v="12" actId="20577"/>
        <pc:sldMkLst>
          <pc:docMk/>
          <pc:sldMk cId="2199995263" sldId="256"/>
        </pc:sldMkLst>
        <pc:spChg chg="mod">
          <ac:chgData name="Zhao, Jie" userId="7be6526a-30ba-445c-b3a9-aabf2c8f5828" providerId="ADAL" clId="{DEC740C7-2239-4DCB-A2EC-28D5B021DFB5}" dt="2026-01-26T19:48:13.592" v="12" actId="20577"/>
          <ac:spMkLst>
            <pc:docMk/>
            <pc:sldMk cId="2199995263" sldId="256"/>
            <ac:spMk id="3" creationId="{2C5DF914-4B40-4A23-8AAC-9CFE7F215AC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E94F02-DFE8-47F5-999D-4D065381BD9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9532FC-0C26-41ED-91C4-2A1C58AE2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007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58CFA-34B8-4985-9EBD-3480D5E1D8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433D6D-E622-4C3B-9F70-ED49553B91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B9800-BBE3-43F3-954C-1BE89C95A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9448D-A783-4933-8C87-202B908B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A539E-77FB-4784-8F48-40A6E10C5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618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45774-D8FB-4609-AAE6-9DFB9337B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8BC86-19DE-433A-AC72-8E6E8A93B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FEAE9-538F-4540-99B2-F94BBB0C3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0FA06-A552-48E9-984C-063D23529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CB287-478F-4020-BBF4-AE2612E41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582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65F8E-D378-48F1-982D-606B3160F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194D5D-2E6F-4291-B1C6-BBFC0323C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AAFD2-28C6-455D-AE60-B9D724863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62756-894F-46FE-B4D3-4C3707440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C601B-7763-446C-9DC5-9ACF5EE9B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983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285D5-4A70-4523-8C56-7A2F63097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50669-8B6D-4573-A65D-5723BE7B81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926AA6-27C3-4956-B4F9-B51F02240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CADE07-F788-4954-AC59-F7BCCAD82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CEA43F-F602-40EE-B21F-DC7E68CD6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3D1C2A-9F62-4A54-96AE-3DAD48234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375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693E4-29D2-4052-9C0C-2B12FB9F0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1864E-EDC6-4F4B-90E2-73414CCE8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208338-D4D6-46C1-A40B-EBAFA0585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76AB0C-3D87-4B28-A144-FBE1D0F6FE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0639F3-6EB4-4B92-AE38-D411C1AA3A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1005A4-0514-429B-9362-4434E7932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B49C01-7B53-435D-82F7-A1316279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2674F3-601B-4FAC-913E-6356AB82D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46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8F530-2DDE-4090-B9BA-4E706FE89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24B356-E78B-4416-98FE-2C17AE157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5593D8-810C-4035-B5ED-80F9BF0D3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55571-D054-48D1-8803-ADE847A65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847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7BE268-32AF-41F1-B9BF-764447763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581429-1463-423B-A364-300797428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A6839-CB05-4AB6-92C3-597FE9B6E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207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70436-DB2A-48F1-B027-49BF16EC7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8BF08-10D0-4FEE-BD95-9FDFBA2FF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AA3EEA-BC06-42DA-89F3-9E0D2161B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35DFBF-2A0A-4BBC-A7A2-C761EAFD3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032EE-DBDF-4DD6-B09C-98EFBACD0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0F9592-0DF4-4888-A204-38DA63D36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836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C96FA-1210-4D0E-9505-D51795E07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A255D6-880E-44DA-919F-3FCF13B52C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FC7E01-C6FB-46A7-A74A-898E5820E2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4E34C9-0AC3-43C3-A654-3FC0164AC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447480-0FFC-41C2-88A2-0A21C7263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F4567-0817-4CF6-BD05-B1BDEA799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117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300B9-FC21-406B-B5FA-B60B7DC90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496599-23BC-425D-8BD9-EE0D324D68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9C455-686D-48B4-8DAB-D94E33E06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D1942-3ED0-4931-A8CE-6D984F839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B5B99-3A43-477C-B42A-3C08D02D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863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23F515-C31F-4273-9268-3D1EF4F6FB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4BF6F7-9F34-4BB4-8961-A8EDC9D82C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59CB1-7397-4C82-89C9-0693FB291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01C97-2278-43A9-BE35-0AD612655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5134C-7180-46A6-9627-AECEF8DCC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11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F26403-82E5-42A1-9D17-51FB8924C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F3246-0D43-4E66-B320-0671607BF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15B71-0150-43A3-94BD-2B7D0897C0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01B579-BE22-4365-9624-3AE1F352F1A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9B45D-F9D5-470F-9240-ABDE82EA29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C585F-DBFF-493F-8D4A-16FE923EEA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083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sca_esv=7550878c098e0420&amp;rlz=1C1GCEA_enUS1156US1156&amp;cs=0&amp;sxsrf=AE3TifOoiB-hUn1nKyXqxbSU0UJHUiYR9A%3A1757008599075&amp;q=kernel+mode&amp;sa=X&amp;ved=2ahUKEwjvvfeK17-PAxV-KlkFHTRtAT8QxccNegQIBxAB&amp;mstk=AUtExfCaXm7FRjsXZ0bMsfo9S5P-gLxk24Bj0aWSIDQm0cgf2SlATXTSCyYsObi3fEQLNwXBSMbGPQAeAUpeiPaCnqYTpb_3tCUaPnZ_IHlJ17-1QubuKUTqGyp9xai87TmKuIIVCiRvDshIQIX2k-E8VWjpfe3kSIzTobW16260T3nCDnNg7O_0rCETgItFHHn-Yaq7ajJPvkz0okbLyqJS68QEOcO_T61AhOop8XrjXUCqWA4yLEwegacYNwGBCJYF-4XwytyqlWVR0JptE_vaad0f&amp;csui=3" TargetMode="External"/><Relationship Id="rId2" Type="http://schemas.openxmlformats.org/officeDocument/2006/relationships/hyperlink" Target="https://www.google.com/search?sca_esv=7550878c098e0420&amp;rlz=1C1GCEA_enUS1156US1156&amp;cs=0&amp;sxsrf=AE3TifOoiB-hUn1nKyXqxbSU0UJHUiYR9A%3A1757008599075&amp;q=user+mode&amp;sa=X&amp;ved=2ahUKEwjvvfeK17-PAxV-KlkFHTRtAT8QxccNegQIBBAB&amp;mstk=AUtExfCaXm7FRjsXZ0bMsfo9S5P-gLxk24Bj0aWSIDQm0cgf2SlATXTSCyYsObi3fEQLNwXBSMbGPQAeAUpeiPaCnqYTpb_3tCUaPnZ_IHlJ17-1QubuKUTqGyp9xai87TmKuIIVCiRvDshIQIX2k-E8VWjpfe3kSIzTobW16260T3nCDnNg7O_0rCETgItFHHn-Yaq7ajJPvkz0okbLyqJS68QEOcO_T61AhOop8XrjXUCqWA4yLEwegacYNwGBCJYF-4XwytyqlWVR0JptE_vaad0f&amp;csui=3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hyperlink" Target="https://www.geeksforgeeks.org/operating-systems/introduction-of-system-call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6434" y="4659359"/>
            <a:ext cx="9144000" cy="1655762"/>
          </a:xfrm>
        </p:spPr>
        <p:txBody>
          <a:bodyPr>
            <a:normAutofit/>
          </a:bodyPr>
          <a:lstStyle/>
          <a:p>
            <a:r>
              <a:rPr lang="en-US" dirty="0"/>
              <a:t>Topic: Process APIs</a:t>
            </a:r>
          </a:p>
          <a:p>
            <a:r>
              <a:rPr lang="en-US" dirty="0"/>
              <a:t>Lecture: Dr. Zhao Jie</a:t>
            </a:r>
          </a:p>
          <a:p>
            <a:r>
              <a:rPr lang="en-US" dirty="0"/>
              <a:t>Date: 01/26/2026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F60897-8669-4C6A-9213-A875ED3223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450" y="237202"/>
            <a:ext cx="9967968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995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79299"/>
          </a:xfrm>
        </p:spPr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Reading Assignment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Reading Assignment: Ch. 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797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55037-2222-8C05-4CA1-DE191E443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AAE66-7F38-4737-0D30-FB336F28E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79299"/>
          </a:xfrm>
        </p:spPr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Agenda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21955A-C52D-8FBD-EEA3-24E1745F61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41972"/>
            <a:ext cx="9144000" cy="2680481"/>
          </a:xfrm>
        </p:spPr>
        <p:txBody>
          <a:bodyPr>
            <a:normAutofit/>
          </a:bodyPr>
          <a:lstStyle/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Process API</a:t>
            </a:r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System calls</a:t>
            </a:r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Process creation</a:t>
            </a:r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Case study of process scheduling</a:t>
            </a:r>
            <a:endParaRPr lang="en-US" sz="24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lvl="1" algn="l"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59841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6812" y="350005"/>
            <a:ext cx="10408699" cy="737510"/>
          </a:xfrm>
        </p:spPr>
        <p:txBody>
          <a:bodyPr>
            <a:noAutofit/>
          </a:bodyPr>
          <a:lstStyle/>
          <a:p>
            <a:r>
              <a:rPr lang="en-US" sz="3800" dirty="0">
                <a:solidFill>
                  <a:srgbClr val="C00000"/>
                </a:solidFill>
              </a:rPr>
              <a:t>The Process API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1704" y="1298692"/>
            <a:ext cx="9391836" cy="4649756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What is API</a:t>
            </a:r>
          </a:p>
          <a:p>
            <a:pPr lvl="1" algn="l">
              <a:lnSpc>
                <a:spcPct val="150000"/>
              </a:lnSpc>
            </a:pPr>
            <a:r>
              <a:rPr lang="en-US" dirty="0"/>
              <a:t>     API = Application Programming Interface</a:t>
            </a:r>
          </a:p>
          <a:p>
            <a:pPr lvl="1" algn="l">
              <a:lnSpc>
                <a:spcPct val="150000"/>
              </a:lnSpc>
            </a:pPr>
            <a:r>
              <a:rPr lang="en-US" dirty="0"/>
              <a:t>            = functions available to write user programs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Process API - System </a:t>
            </a:r>
            <a:r>
              <a:rPr lang="en-US" dirty="0"/>
              <a:t>call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A request made by a program to the operating system to perform a privileged operation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Examples are like accessing hardware or managing files, requiring a switch to kernel mode to execute the operation</a:t>
            </a:r>
          </a:p>
        </p:txBody>
      </p:sp>
    </p:spTree>
    <p:extLst>
      <p:ext uri="{BB962C8B-B14F-4D97-AF65-F5344CB8AC3E}">
        <p14:creationId xmlns:p14="http://schemas.microsoft.com/office/powerpoint/2010/main" val="3760905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136852"/>
            <a:ext cx="10452740" cy="742228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Function call and system call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0082" y="976126"/>
            <a:ext cx="9391836" cy="5745022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Execution Context</a:t>
            </a:r>
          </a:p>
          <a:p>
            <a:pPr lvl="1" algn="l">
              <a:lnSpc>
                <a:spcPct val="150000"/>
              </a:lnSpc>
            </a:pPr>
            <a:r>
              <a:rPr lang="en-US" sz="1800" dirty="0"/>
              <a:t>When a function is called, it executes within the same address space as the calling program, whereas a system call switches the execution context to the kernel space of the operating system. 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Access Level</a:t>
            </a:r>
          </a:p>
          <a:p>
            <a:pPr lvl="1" algn="l">
              <a:lnSpc>
                <a:spcPct val="150000"/>
              </a:lnSpc>
            </a:pPr>
            <a:r>
              <a:rPr lang="en-US" sz="1800" dirty="0"/>
              <a:t>A function call can access data and perform operations within the program's allowed scope, while a system call can access privileged resources like hardware or memory that normally require special permission. 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Performance</a:t>
            </a:r>
          </a:p>
          <a:p>
            <a:pPr lvl="1" algn="l">
              <a:lnSpc>
                <a:spcPct val="150000"/>
              </a:lnSpc>
            </a:pPr>
            <a:r>
              <a:rPr lang="en-US" sz="1800" dirty="0"/>
              <a:t>Function calls generally have lower overhead compared to system calls due to the transition between user and kernel mode not being required. </a:t>
            </a:r>
          </a:p>
        </p:txBody>
      </p:sp>
    </p:spTree>
    <p:extLst>
      <p:ext uri="{BB962C8B-B14F-4D97-AF65-F5344CB8AC3E}">
        <p14:creationId xmlns:p14="http://schemas.microsoft.com/office/powerpoint/2010/main" val="3475695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78833"/>
            <a:ext cx="10452740" cy="621752"/>
          </a:xfrm>
        </p:spPr>
        <p:txBody>
          <a:bodyPr>
            <a:noAutofit/>
          </a:bodyPr>
          <a:lstStyle/>
          <a:p>
            <a:r>
              <a:rPr lang="en-US" sz="3800" dirty="0">
                <a:solidFill>
                  <a:srgbClr val="C00000"/>
                </a:solidFill>
              </a:rPr>
              <a:t>System calls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1704" y="636278"/>
            <a:ext cx="9391836" cy="6096617"/>
          </a:xfrm>
        </p:spPr>
        <p:txBody>
          <a:bodyPr>
            <a:normAutofit lnSpcReduction="10000"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Definition</a:t>
            </a:r>
          </a:p>
          <a:p>
            <a:pPr lvl="1" algn="l">
              <a:lnSpc>
                <a:spcPct val="100000"/>
              </a:lnSpc>
            </a:pPr>
            <a:r>
              <a:rPr lang="en-US" sz="1800" dirty="0"/>
              <a:t>a programmatic method used by a computer program to request a service from the operating system it is running on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Types</a:t>
            </a:r>
          </a:p>
          <a:p>
            <a:pPr marL="742950" lvl="1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Process Control</a:t>
            </a:r>
          </a:p>
          <a:p>
            <a:pPr lvl="2" algn="l">
              <a:lnSpc>
                <a:spcPct val="150000"/>
              </a:lnSpc>
            </a:pPr>
            <a:r>
              <a:rPr lang="en-US" sz="1600" dirty="0"/>
              <a:t>Managing the lifecycle of processes, including creating new processes, terminating existing ones, and suspending/resuming execution.</a:t>
            </a:r>
          </a:p>
          <a:p>
            <a:pPr marL="742950" lvl="1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i="0" dirty="0">
                <a:solidFill>
                  <a:srgbClr val="001D35"/>
                </a:solidFill>
                <a:effectLst/>
                <a:latin typeface="Google Sans"/>
              </a:rPr>
              <a:t>File Management</a:t>
            </a:r>
          </a:p>
          <a:p>
            <a:pPr lvl="2" algn="l">
              <a:lnSpc>
                <a:spcPct val="150000"/>
              </a:lnSpc>
            </a:pPr>
            <a:r>
              <a:rPr lang="en-US" sz="1600" i="0" dirty="0">
                <a:solidFill>
                  <a:srgbClr val="001D35"/>
                </a:solidFill>
                <a:effectLst/>
                <a:latin typeface="Google Sans"/>
              </a:rPr>
              <a:t>Performing operations on files like opening, closing, reading, writing, deleting, and modifying attributes.</a:t>
            </a:r>
          </a:p>
          <a:p>
            <a:pPr marL="742950" lvl="1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i="0" dirty="0">
                <a:solidFill>
                  <a:srgbClr val="001D35"/>
                </a:solidFill>
                <a:effectLst/>
                <a:latin typeface="Google Sans"/>
              </a:rPr>
              <a:t>Device Management</a:t>
            </a:r>
          </a:p>
          <a:p>
            <a:pPr lvl="2" algn="l">
              <a:lnSpc>
                <a:spcPct val="150000"/>
              </a:lnSpc>
            </a:pPr>
            <a:r>
              <a:rPr lang="en-US" sz="1600" dirty="0">
                <a:solidFill>
                  <a:srgbClr val="001D35"/>
                </a:solidFill>
                <a:latin typeface="Google Sans"/>
              </a:rPr>
              <a:t>Requesting access to devices, reading from or writing to them, and setting device parameters.</a:t>
            </a:r>
          </a:p>
          <a:p>
            <a:pPr marL="742950" lvl="1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i="0" dirty="0">
                <a:solidFill>
                  <a:srgbClr val="001D35"/>
                </a:solidFill>
                <a:effectLst/>
                <a:latin typeface="Google Sans"/>
              </a:rPr>
              <a:t>Communication</a:t>
            </a:r>
          </a:p>
          <a:p>
            <a:pPr lvl="2" algn="l">
              <a:lnSpc>
                <a:spcPct val="150000"/>
              </a:lnSpc>
            </a:pPr>
            <a:r>
              <a:rPr lang="en-US" sz="1600" dirty="0"/>
              <a:t>Facilitating inter-process communication by sending and receiving messages between processes. </a:t>
            </a:r>
          </a:p>
          <a:p>
            <a:pPr lvl="1" algn="l">
              <a:lnSpc>
                <a:spcPct val="150000"/>
              </a:lnSpc>
            </a:pPr>
            <a:endParaRPr lang="en-US" dirty="0"/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943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2AEDA-75F8-EBD5-A938-F45640CF3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83395-0C75-A25A-0396-54F2A345CE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78833"/>
            <a:ext cx="10452740" cy="62175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Relationship between system calls and user programs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BE2F1D-48D8-892C-EC47-18C7171DE4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1704" y="636277"/>
            <a:ext cx="9391836" cy="6087520"/>
          </a:xfrm>
        </p:spPr>
        <p:txBody>
          <a:bodyPr>
            <a:normAutofit fontScale="25000" lnSpcReduction="20000"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8000" dirty="0"/>
              <a:t>Dialogue[1]</a:t>
            </a:r>
          </a:p>
          <a:p>
            <a:pPr algn="l">
              <a:lnSpc>
                <a:spcPct val="150000"/>
              </a:lnSpc>
            </a:pPr>
            <a:endParaRPr lang="en-US" sz="6400" dirty="0"/>
          </a:p>
          <a:p>
            <a:pPr algn="l">
              <a:lnSpc>
                <a:spcPct val="150000"/>
              </a:lnSpc>
            </a:pPr>
            <a:endParaRPr lang="en-US" sz="6400" dirty="0"/>
          </a:p>
          <a:p>
            <a:pPr algn="l">
              <a:lnSpc>
                <a:spcPct val="150000"/>
              </a:lnSpc>
            </a:pPr>
            <a:endParaRPr lang="en-US" sz="6400" dirty="0"/>
          </a:p>
          <a:p>
            <a:pPr algn="l">
              <a:lnSpc>
                <a:spcPct val="150000"/>
              </a:lnSpc>
            </a:pPr>
            <a:endParaRPr lang="en-US" sz="6400" dirty="0"/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8000" dirty="0"/>
              <a:t>Explanation[2]</a:t>
            </a:r>
          </a:p>
          <a:p>
            <a:pPr lvl="1" algn="l">
              <a:lnSpc>
                <a:spcPct val="150000"/>
              </a:lnSpc>
            </a:pPr>
            <a:r>
              <a:rPr lang="en-US" sz="6400" dirty="0"/>
              <a:t>System calls are the fundamental interface through which user programs request services from the operating system's kernel, such as file I/O, memory allocation, or process creation. Because user programs run in a protected "</a:t>
            </a:r>
            <a:r>
              <a:rPr lang="en-US" sz="6400" dirty="0">
                <a:hlinkClick r:id="rId2"/>
              </a:rPr>
              <a:t>user mode</a:t>
            </a:r>
            <a:r>
              <a:rPr lang="en-US" sz="6400" dirty="0"/>
              <a:t>" with limited privileges, they cannot directly access system resources like hardware or sensitive kernel data. By making a system call, a program temporarily enters "</a:t>
            </a:r>
            <a:r>
              <a:rPr lang="en-US" sz="6400" dirty="0">
                <a:hlinkClick r:id="rId3"/>
              </a:rPr>
              <a:t>kernel mode</a:t>
            </a:r>
            <a:r>
              <a:rPr lang="en-US" sz="6400" dirty="0"/>
              <a:t>", where the operating system can safely perform the requested task on the user's behalf before returning control to the user program. </a:t>
            </a:r>
            <a:endParaRPr lang="en-US" sz="3400" dirty="0"/>
          </a:p>
          <a:p>
            <a:pPr algn="l">
              <a:lnSpc>
                <a:spcPct val="150000"/>
              </a:lnSpc>
            </a:pPr>
            <a:r>
              <a:rPr lang="en-US" sz="4000" dirty="0"/>
              <a:t>[1] </a:t>
            </a:r>
            <a:r>
              <a:rPr lang="en-US" sz="4000" dirty="0">
                <a:hlinkClick r:id="rId4"/>
              </a:rPr>
              <a:t>https://www.geeksforgeeks.org/operating-systems/introduction-of-system-call/</a:t>
            </a:r>
            <a:r>
              <a:rPr lang="en-US" sz="4000" dirty="0"/>
              <a:t> </a:t>
            </a:r>
          </a:p>
          <a:p>
            <a:pPr algn="l">
              <a:lnSpc>
                <a:spcPct val="150000"/>
              </a:lnSpc>
            </a:pPr>
            <a:r>
              <a:rPr lang="en-US" sz="4000" dirty="0"/>
              <a:t>[2]https://www.google.com/search?q=what+is+relationship+between+system+calls+and+user+programs&amp;sca_esv=7550878c098e0420&amp;rlz=1C1GCEA_enUS1156US1156&amp;sxsrf=AE3TifNawidP8EGT0CqjJgSOOE_eE_iBA%3A1757008317900&amp;ei=vdG5aKfQNryp5NoPo5jAaA&amp;oq=what+is+relation+between+system+calls+and+user+programs&amp;gs_lp=Egxnd3Mtd2l6LXNlcnAiN3doYXQgaXMgcmVsYXRpb24gYmV0d2VlbiBzeXN0ZW0gY2FsbHMgYW5kIHVzZXIgcHJvZ3JhbXMqAggAMggQIRigARjDBEjJP1C0BViDKXAKeACQAQCYAY4BoAHODqoBBDUuMTK4AQPIAQD4AQGYAhSgAvcIwgIOEAAYgAQYsAMYhgMYigXCAgsQABiwAxiiBBiJBcICCBAAGLADGO8FwgIFEAAY7wXCAgoQIRigARjDBBgKwgIIEAAYgAQYogTCAggQABiiBBiJBcICBBAhGAqYAwCIBgGQBgaSBwQxMy43oAfmYbIHAzMuN7gH0wjCBwgyLjEwLjcuMcgHOw&amp;sclient=gws-wiz-serp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7B295A-0FB4-31F1-5185-5CF648D6ED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4979" y="921223"/>
            <a:ext cx="2365285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197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86810"/>
            <a:ext cx="10452740" cy="742228"/>
          </a:xfrm>
        </p:spPr>
        <p:txBody>
          <a:bodyPr>
            <a:noAutofit/>
          </a:bodyPr>
          <a:lstStyle/>
          <a:p>
            <a:r>
              <a:rPr lang="en-US" sz="3800" dirty="0">
                <a:solidFill>
                  <a:srgbClr val="C00000"/>
                </a:solidFill>
              </a:rPr>
              <a:t>The process creation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1704" y="1003703"/>
            <a:ext cx="9391836" cy="1202685"/>
          </a:xfrm>
        </p:spPr>
        <p:txBody>
          <a:bodyPr>
            <a:normAutofit fontScale="92500" lnSpcReduction="10000"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process creation – using fork()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example using fork()</a:t>
            </a:r>
          </a:p>
          <a:p>
            <a:pPr algn="l">
              <a:lnSpc>
                <a:spcPct val="150000"/>
              </a:lnSpc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B10582-9AE3-AA42-E8EB-9F122EA39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713" y="2451736"/>
            <a:ext cx="11420094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119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323372"/>
            <a:ext cx="10452740" cy="742228"/>
          </a:xfrm>
        </p:spPr>
        <p:txBody>
          <a:bodyPr>
            <a:noAutofit/>
          </a:bodyPr>
          <a:lstStyle/>
          <a:p>
            <a:r>
              <a:rPr lang="en-US" sz="3800" dirty="0">
                <a:solidFill>
                  <a:srgbClr val="C00000"/>
                </a:solidFill>
              </a:rPr>
              <a:t>Understanding the fork()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1704" y="1267560"/>
            <a:ext cx="9391836" cy="2998069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Syntex 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Library of system calls: &lt;</a:t>
            </a:r>
            <a:r>
              <a:rPr lang="en-US" dirty="0" err="1"/>
              <a:t>unistd.h</a:t>
            </a:r>
            <a:r>
              <a:rPr lang="en-US" dirty="0"/>
              <a:t>&gt;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System call usage: fork() – a process created and copied from the parent process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System call usage: </a:t>
            </a:r>
            <a:r>
              <a:rPr lang="en-US" dirty="0" err="1"/>
              <a:t>getpid</a:t>
            </a:r>
            <a:r>
              <a:rPr lang="en-US" dirty="0"/>
              <a:t>() – get a process’s id, an integer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Outputs</a:t>
            </a:r>
          </a:p>
          <a:p>
            <a:pPr algn="l">
              <a:lnSpc>
                <a:spcPct val="150000"/>
              </a:lnSpc>
            </a:pPr>
            <a:endParaRPr lang="en-US" dirty="0"/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/>
          </a:p>
          <a:p>
            <a:pPr algn="l">
              <a:lnSpc>
                <a:spcPct val="150000"/>
              </a:lnSpc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F6767F-DD77-B8BF-60B8-B2F08586F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351" y="4467589"/>
            <a:ext cx="9416957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31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185766"/>
            <a:ext cx="10452740" cy="742228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Scheduling the process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1704" y="1085566"/>
            <a:ext cx="9391836" cy="5169239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Scheduling policy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Parent PID: 2239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Child PID: 2240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Relation:                       </a:t>
            </a:r>
            <a:r>
              <a:rPr lang="en-US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Child PID = Parent PID + 1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Scheduling: The parent process will normally run before the child process.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Non-deterministic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However, if the parent process produces many child processes like more than one, the sequence of running processes is uncertain, called </a:t>
            </a:r>
            <a:r>
              <a:rPr lang="en-US" b="1" dirty="0"/>
              <a:t>non-deterministic</a:t>
            </a:r>
            <a:r>
              <a:rPr lang="en-US" dirty="0"/>
              <a:t>.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639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323372"/>
            <a:ext cx="10452740" cy="509141"/>
          </a:xfrm>
        </p:spPr>
        <p:txBody>
          <a:bodyPr>
            <a:noAutofit/>
          </a:bodyPr>
          <a:lstStyle/>
          <a:p>
            <a:r>
              <a:rPr lang="en-US" sz="3800" dirty="0">
                <a:solidFill>
                  <a:srgbClr val="C00000"/>
                </a:solidFill>
              </a:rPr>
              <a:t>Changing the schedule between the processes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1704" y="808084"/>
            <a:ext cx="9391836" cy="2171678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Syntex 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Library of system calls: &lt;sys/</a:t>
            </a:r>
            <a:r>
              <a:rPr lang="en-US" sz="1800" dirty="0" err="1"/>
              <a:t>wait.h</a:t>
            </a:r>
            <a:r>
              <a:rPr lang="en-US" sz="1800" dirty="0"/>
              <a:t>&gt;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System call usage: wait() – parent process waits until child process completes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The example using fork()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F4E661-3323-3EBF-D04E-A7EDEBF3C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954" y="3029804"/>
            <a:ext cx="9821336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568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323372"/>
            <a:ext cx="10452740" cy="742228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Case study: How does a shell work?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1704" y="1504123"/>
            <a:ext cx="9391836" cy="3131567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ancestor process – Init process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How does a shell work</a:t>
            </a:r>
          </a:p>
          <a:p>
            <a:pPr lvl="1" algn="l">
              <a:lnSpc>
                <a:spcPct val="150000"/>
              </a:lnSpc>
            </a:pPr>
            <a:r>
              <a:rPr lang="en-US" dirty="0"/>
              <a:t>Shell reads the user command, forks a child, execs the command executable, waits for it to finish, and reads the next command.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An example of shell execution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BD3598-C8C5-E6BD-015E-F4F61CA4A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1277" y="4635690"/>
            <a:ext cx="6792689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753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323372"/>
            <a:ext cx="10452740" cy="742228"/>
          </a:xfrm>
        </p:spPr>
        <p:txBody>
          <a:bodyPr>
            <a:noAutofit/>
          </a:bodyPr>
          <a:lstStyle/>
          <a:p>
            <a:r>
              <a:rPr lang="en-US" sz="4800" dirty="0">
                <a:solidFill>
                  <a:srgbClr val="C00000"/>
                </a:solidFill>
              </a:rPr>
              <a:t>More funky things about the shell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1704" y="1267560"/>
            <a:ext cx="9391836" cy="4130063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Shell can manipulate the child in strange ways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Suppose you want to redirect output from a command to a file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Input the following command</a:t>
            </a:r>
          </a:p>
          <a:p>
            <a:pPr algn="l">
              <a:lnSpc>
                <a:spcPct val="150000"/>
              </a:lnSpc>
            </a:pPr>
            <a:endParaRPr lang="en-US" dirty="0"/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Shell spawns a child, rewires its standard output to a file, then calls exec on the child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5DD2B2-F34D-482C-DD76-841179163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5946" y="3386512"/>
            <a:ext cx="5643351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429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</TotalTime>
  <Words>768</Words>
  <Application>Microsoft Office PowerPoint</Application>
  <PresentationFormat>Widescreen</PresentationFormat>
  <Paragraphs>80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Google Sans</vt:lpstr>
      <vt:lpstr>Arial</vt:lpstr>
      <vt:lpstr>Calibri</vt:lpstr>
      <vt:lpstr>Calibri Light</vt:lpstr>
      <vt:lpstr>Wingdings</vt:lpstr>
      <vt:lpstr>Office Theme</vt:lpstr>
      <vt:lpstr>PowerPoint Presentation</vt:lpstr>
      <vt:lpstr>Reading Assignment</vt:lpstr>
      <vt:lpstr>Agenda</vt:lpstr>
      <vt:lpstr>The Process API</vt:lpstr>
      <vt:lpstr>Function call and system call</vt:lpstr>
      <vt:lpstr>System calls</vt:lpstr>
      <vt:lpstr>Relationship between system calls and user programs</vt:lpstr>
      <vt:lpstr>The process creation</vt:lpstr>
      <vt:lpstr>Understanding the fork()</vt:lpstr>
      <vt:lpstr>Scheduling the process</vt:lpstr>
      <vt:lpstr>Changing the schedule between the processes</vt:lpstr>
      <vt:lpstr>Case study: How does a shell work?</vt:lpstr>
      <vt:lpstr>More funky things about the shell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Jie Zhao</dc:creator>
  <cp:lastModifiedBy>Zhao, Jie</cp:lastModifiedBy>
  <cp:revision>1</cp:revision>
  <dcterms:created xsi:type="dcterms:W3CDTF">2023-08-19T20:44:10Z</dcterms:created>
  <dcterms:modified xsi:type="dcterms:W3CDTF">2026-01-26T19:48:16Z</dcterms:modified>
</cp:coreProperties>
</file>