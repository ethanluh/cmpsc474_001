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338" r:id="rId4"/>
    <p:sldId id="322" r:id="rId5"/>
    <p:sldId id="281" r:id="rId6"/>
    <p:sldId id="305" r:id="rId7"/>
    <p:sldId id="314" r:id="rId8"/>
    <p:sldId id="335" r:id="rId9"/>
    <p:sldId id="337" r:id="rId10"/>
    <p:sldId id="339" r:id="rId11"/>
    <p:sldId id="336" r:id="rId12"/>
    <p:sldId id="323" r:id="rId13"/>
    <p:sldId id="324" r:id="rId14"/>
    <p:sldId id="325" r:id="rId15"/>
    <p:sldId id="307" r:id="rId16"/>
    <p:sldId id="327" r:id="rId17"/>
    <p:sldId id="330" r:id="rId18"/>
    <p:sldId id="332" r:id="rId19"/>
    <p:sldId id="333" r:id="rId20"/>
    <p:sldId id="331" r:id="rId21"/>
    <p:sldId id="33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09" autoAdjust="0"/>
    <p:restoredTop sz="77314" autoAdjust="0"/>
  </p:normalViewPr>
  <p:slideViewPr>
    <p:cSldViewPr snapToGrid="0">
      <p:cViewPr varScale="1">
        <p:scale>
          <a:sx n="65" d="100"/>
          <a:sy n="65" d="100"/>
        </p:scale>
        <p:origin x="934"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Jie" userId="7be6526a-30ba-445c-b3a9-aabf2c8f5828" providerId="ADAL" clId="{DEC740C7-2239-4DCB-A2EC-28D5B021DFB5}"/>
    <pc:docChg chg="undo custSel addSld modSld">
      <pc:chgData name="Zhao, Jie" userId="7be6526a-30ba-445c-b3a9-aabf2c8f5828" providerId="ADAL" clId="{DEC740C7-2239-4DCB-A2EC-28D5B021DFB5}" dt="2026-04-05T22:58:00.771" v="1552" actId="20577"/>
      <pc:docMkLst>
        <pc:docMk/>
      </pc:docMkLst>
      <pc:sldChg chg="modSp mod">
        <pc:chgData name="Zhao, Jie" userId="7be6526a-30ba-445c-b3a9-aabf2c8f5828" providerId="ADAL" clId="{DEC740C7-2239-4DCB-A2EC-28D5B021DFB5}" dt="2026-04-05T22:58:00.771" v="1552" actId="20577"/>
        <pc:sldMkLst>
          <pc:docMk/>
          <pc:sldMk cId="2199995263" sldId="256"/>
        </pc:sldMkLst>
        <pc:spChg chg="mod">
          <ac:chgData name="Zhao, Jie" userId="7be6526a-30ba-445c-b3a9-aabf2c8f5828" providerId="ADAL" clId="{DEC740C7-2239-4DCB-A2EC-28D5B021DFB5}" dt="2026-04-05T22:58:00.771" v="1552" actId="20577"/>
          <ac:spMkLst>
            <pc:docMk/>
            <pc:sldMk cId="2199995263" sldId="256"/>
            <ac:spMk id="3" creationId="{2C5DF914-4B40-4A23-8AAC-9CFE7F215A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E94F02-DFE8-47F5-999D-4D065381BD97}" type="datetimeFigureOut">
              <a:rPr lang="en-US" smtClean="0"/>
              <a:t>4/5/2026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532FC-0C26-41ED-91C4-2A1C58AE2C83}" type="slidenum">
              <a:rPr lang="en-US" smtClean="0"/>
              <a:t>‹#›</a:t>
            </a:fld>
            <a:endParaRPr lang="en-US"/>
          </a:p>
        </p:txBody>
      </p:sp>
    </p:spTree>
    <p:extLst>
      <p:ext uri="{BB962C8B-B14F-4D97-AF65-F5344CB8AC3E}">
        <p14:creationId xmlns:p14="http://schemas.microsoft.com/office/powerpoint/2010/main" val="165300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1: There is a parent process and a child thread. Both could run in parallel. However, when the parent runs in line 12, it will wait until the child thread function is complete, so that the “done” variable is no longer zero. Because if the done is zero, when the parent runs to line 13, it will self-spin. </a:t>
            </a:r>
          </a:p>
          <a:p>
            <a:endParaRPr lang="en-US" dirty="0"/>
          </a:p>
          <a:p>
            <a:r>
              <a:rPr lang="en-US" dirty="0"/>
              <a:t>Answer 2: No.</a:t>
            </a:r>
          </a:p>
        </p:txBody>
      </p:sp>
      <p:sp>
        <p:nvSpPr>
          <p:cNvPr id="4" name="Slide Number Placeholder 3"/>
          <p:cNvSpPr>
            <a:spLocks noGrp="1"/>
          </p:cNvSpPr>
          <p:nvPr>
            <p:ph type="sldNum" sz="quarter" idx="5"/>
          </p:nvPr>
        </p:nvSpPr>
        <p:spPr/>
        <p:txBody>
          <a:bodyPr/>
          <a:lstStyle/>
          <a:p>
            <a:fld id="{7B9532FC-0C26-41ED-91C4-2A1C58AE2C83}" type="slidenum">
              <a:rPr lang="en-US" smtClean="0"/>
              <a:t>4</a:t>
            </a:fld>
            <a:endParaRPr lang="en-US"/>
          </a:p>
        </p:txBody>
      </p:sp>
    </p:spTree>
    <p:extLst>
      <p:ext uri="{BB962C8B-B14F-4D97-AF65-F5344CB8AC3E}">
        <p14:creationId xmlns:p14="http://schemas.microsoft.com/office/powerpoint/2010/main" val="2773961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main thread, we create a thread and call the function join() where the function wait() is invoked. In the thread function, exit( ) is induced where another function signal() is triggered. </a:t>
            </a:r>
          </a:p>
        </p:txBody>
      </p:sp>
      <p:sp>
        <p:nvSpPr>
          <p:cNvPr id="4" name="Slide Number Placeholder 3"/>
          <p:cNvSpPr>
            <a:spLocks noGrp="1"/>
          </p:cNvSpPr>
          <p:nvPr>
            <p:ph type="sldNum" sz="quarter" idx="5"/>
          </p:nvPr>
        </p:nvSpPr>
        <p:spPr/>
        <p:txBody>
          <a:bodyPr/>
          <a:lstStyle/>
          <a:p>
            <a:fld id="{7B9532FC-0C26-41ED-91C4-2A1C58AE2C83}" type="slidenum">
              <a:rPr lang="en-US" smtClean="0"/>
              <a:t>6</a:t>
            </a:fld>
            <a:endParaRPr lang="en-US"/>
          </a:p>
        </p:txBody>
      </p:sp>
    </p:spTree>
    <p:extLst>
      <p:ext uri="{BB962C8B-B14F-4D97-AF65-F5344CB8AC3E}">
        <p14:creationId xmlns:p14="http://schemas.microsoft.com/office/powerpoint/2010/main" val="1784107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7</a:t>
            </a:fld>
            <a:endParaRPr lang="en-US"/>
          </a:p>
        </p:txBody>
      </p:sp>
    </p:spTree>
    <p:extLst>
      <p:ext uri="{BB962C8B-B14F-4D97-AF65-F5344CB8AC3E}">
        <p14:creationId xmlns:p14="http://schemas.microsoft.com/office/powerpoint/2010/main" val="2092948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In the example, without the lock, there must be a race condition when the function join() is invoked. The interruption occurs after the if condition is true but not ready for running the function wait(). The interruption is from the child thread to invoke exit(), where the function signal is induced. However, there will be no thread to be woken. </a:t>
            </a:r>
          </a:p>
        </p:txBody>
      </p:sp>
      <p:sp>
        <p:nvSpPr>
          <p:cNvPr id="4" name="Slide Number Placeholder 3"/>
          <p:cNvSpPr>
            <a:spLocks noGrp="1"/>
          </p:cNvSpPr>
          <p:nvPr>
            <p:ph type="sldNum" sz="quarter" idx="5"/>
          </p:nvPr>
        </p:nvSpPr>
        <p:spPr/>
        <p:txBody>
          <a:bodyPr/>
          <a:lstStyle/>
          <a:p>
            <a:fld id="{7B9532FC-0C26-41ED-91C4-2A1C58AE2C83}" type="slidenum">
              <a:rPr lang="en-US" smtClean="0"/>
              <a:t>8</a:t>
            </a:fld>
            <a:endParaRPr lang="en-US"/>
          </a:p>
        </p:txBody>
      </p:sp>
    </p:spTree>
    <p:extLst>
      <p:ext uri="{BB962C8B-B14F-4D97-AF65-F5344CB8AC3E}">
        <p14:creationId xmlns:p14="http://schemas.microsoft.com/office/powerpoint/2010/main" val="2461021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9</a:t>
            </a:fld>
            <a:endParaRPr lang="en-US"/>
          </a:p>
        </p:txBody>
      </p:sp>
    </p:spTree>
    <p:extLst>
      <p:ext uri="{BB962C8B-B14F-4D97-AF65-F5344CB8AC3E}">
        <p14:creationId xmlns:p14="http://schemas.microsoft.com/office/powerpoint/2010/main" val="1539104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E3BC7-DA3A-5D3E-834F-FE5A60862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EDAC3-EFD0-45C3-37EC-87BE5DA4F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49027B-5015-B45E-94B6-6A22877564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BEA11C-2196-7978-EA1D-3E3434541035}"/>
              </a:ext>
            </a:extLst>
          </p:cNvPr>
          <p:cNvSpPr>
            <a:spLocks noGrp="1"/>
          </p:cNvSpPr>
          <p:nvPr>
            <p:ph type="sldNum" sz="quarter" idx="5"/>
          </p:nvPr>
        </p:nvSpPr>
        <p:spPr/>
        <p:txBody>
          <a:bodyPr/>
          <a:lstStyle/>
          <a:p>
            <a:fld id="{7B9532FC-0C26-41ED-91C4-2A1C58AE2C83}" type="slidenum">
              <a:rPr lang="en-US" smtClean="0"/>
              <a:t>10</a:t>
            </a:fld>
            <a:endParaRPr lang="en-US"/>
          </a:p>
        </p:txBody>
      </p:sp>
    </p:spTree>
    <p:extLst>
      <p:ext uri="{BB962C8B-B14F-4D97-AF65-F5344CB8AC3E}">
        <p14:creationId xmlns:p14="http://schemas.microsoft.com/office/powerpoint/2010/main" val="2399767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11</a:t>
            </a:fld>
            <a:endParaRPr lang="en-US"/>
          </a:p>
        </p:txBody>
      </p:sp>
    </p:spTree>
    <p:extLst>
      <p:ext uri="{BB962C8B-B14F-4D97-AF65-F5344CB8AC3E}">
        <p14:creationId xmlns:p14="http://schemas.microsoft.com/office/powerpoint/2010/main" val="3027485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12</a:t>
            </a:fld>
            <a:endParaRPr lang="en-US"/>
          </a:p>
        </p:txBody>
      </p:sp>
    </p:spTree>
    <p:extLst>
      <p:ext uri="{BB962C8B-B14F-4D97-AF65-F5344CB8AC3E}">
        <p14:creationId xmlns:p14="http://schemas.microsoft.com/office/powerpoint/2010/main" val="1044475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t>
            </a:r>
            <a:r>
              <a:rPr lang="en-US" dirty="0">
                <a:solidFill>
                  <a:srgbClr val="FF0000"/>
                </a:solidFill>
              </a:rPr>
              <a:t>The counter’s value set to 1 means the buffer is full and the producer needs to wait until the consumer consumes the buffer. </a:t>
            </a:r>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13</a:t>
            </a:fld>
            <a:endParaRPr lang="en-US"/>
          </a:p>
        </p:txBody>
      </p:sp>
    </p:spTree>
    <p:extLst>
      <p:ext uri="{BB962C8B-B14F-4D97-AF65-F5344CB8AC3E}">
        <p14:creationId xmlns:p14="http://schemas.microsoft.com/office/powerpoint/2010/main" val="3784476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Answer: </a:t>
            </a:r>
            <a:r>
              <a:rPr lang="en-US" dirty="0">
                <a:solidFill>
                  <a:srgbClr val="FF0000"/>
                </a:solidFill>
              </a:rPr>
              <a:t>The counter’s value set to 0 means the buffer is empty, and the consumer needs to wait until the producer generates the buffer. </a:t>
            </a:r>
            <a:endParaRPr lang="en-US" dirty="0"/>
          </a:p>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14</a:t>
            </a:fld>
            <a:endParaRPr lang="en-US"/>
          </a:p>
        </p:txBody>
      </p:sp>
    </p:spTree>
    <p:extLst>
      <p:ext uri="{BB962C8B-B14F-4D97-AF65-F5344CB8AC3E}">
        <p14:creationId xmlns:p14="http://schemas.microsoft.com/office/powerpoint/2010/main" val="623286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15</a:t>
            </a:fld>
            <a:endParaRPr lang="en-US"/>
          </a:p>
        </p:txBody>
      </p:sp>
    </p:spTree>
    <p:extLst>
      <p:ext uri="{BB962C8B-B14F-4D97-AF65-F5344CB8AC3E}">
        <p14:creationId xmlns:p14="http://schemas.microsoft.com/office/powerpoint/2010/main" val="161351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16</a:t>
            </a:fld>
            <a:endParaRPr lang="en-US"/>
          </a:p>
        </p:txBody>
      </p:sp>
    </p:spTree>
    <p:extLst>
      <p:ext uri="{BB962C8B-B14F-4D97-AF65-F5344CB8AC3E}">
        <p14:creationId xmlns:p14="http://schemas.microsoft.com/office/powerpoint/2010/main" val="3008256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17</a:t>
            </a:fld>
            <a:endParaRPr lang="en-US"/>
          </a:p>
        </p:txBody>
      </p:sp>
    </p:spTree>
    <p:extLst>
      <p:ext uri="{BB962C8B-B14F-4D97-AF65-F5344CB8AC3E}">
        <p14:creationId xmlns:p14="http://schemas.microsoft.com/office/powerpoint/2010/main" val="188877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18</a:t>
            </a:fld>
            <a:endParaRPr lang="en-US"/>
          </a:p>
        </p:txBody>
      </p:sp>
    </p:spTree>
    <p:extLst>
      <p:ext uri="{BB962C8B-B14F-4D97-AF65-F5344CB8AC3E}">
        <p14:creationId xmlns:p14="http://schemas.microsoft.com/office/powerpoint/2010/main" val="20700568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19</a:t>
            </a:fld>
            <a:endParaRPr lang="en-US"/>
          </a:p>
        </p:txBody>
      </p:sp>
    </p:spTree>
    <p:extLst>
      <p:ext uri="{BB962C8B-B14F-4D97-AF65-F5344CB8AC3E}">
        <p14:creationId xmlns:p14="http://schemas.microsoft.com/office/powerpoint/2010/main" val="4147194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20</a:t>
            </a:fld>
            <a:endParaRPr lang="en-US"/>
          </a:p>
        </p:txBody>
      </p:sp>
    </p:spTree>
    <p:extLst>
      <p:ext uri="{BB962C8B-B14F-4D97-AF65-F5344CB8AC3E}">
        <p14:creationId xmlns:p14="http://schemas.microsoft.com/office/powerpoint/2010/main" val="21228784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21</a:t>
            </a:fld>
            <a:endParaRPr lang="en-US"/>
          </a:p>
        </p:txBody>
      </p:sp>
    </p:spTree>
    <p:extLst>
      <p:ext uri="{BB962C8B-B14F-4D97-AF65-F5344CB8AC3E}">
        <p14:creationId xmlns:p14="http://schemas.microsoft.com/office/powerpoint/2010/main" val="2919878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8CFA-34B8-4985-9EBD-3480D5E1D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33D6D-E622-4C3B-9F70-ED49553B9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5B9800-BBE3-43F3-954C-1BE89C95AF77}"/>
              </a:ext>
            </a:extLst>
          </p:cNvPr>
          <p:cNvSpPr>
            <a:spLocks noGrp="1"/>
          </p:cNvSpPr>
          <p:nvPr>
            <p:ph type="dt" sz="half" idx="10"/>
          </p:nvPr>
        </p:nvSpPr>
        <p:spPr/>
        <p:txBody>
          <a:bodyPr/>
          <a:lstStyle/>
          <a:p>
            <a:fld id="{5701B579-BE22-4365-9624-3AE1F352F1A7}" type="datetimeFigureOut">
              <a:rPr lang="en-US" smtClean="0"/>
              <a:t>4/5/2026</a:t>
            </a:fld>
            <a:endParaRPr lang="en-US"/>
          </a:p>
        </p:txBody>
      </p:sp>
      <p:sp>
        <p:nvSpPr>
          <p:cNvPr id="5" name="Footer Placeholder 4">
            <a:extLst>
              <a:ext uri="{FF2B5EF4-FFF2-40B4-BE49-F238E27FC236}">
                <a16:creationId xmlns:a16="http://schemas.microsoft.com/office/drawing/2014/main" id="{4549448D-A783-4933-8C87-202B908B1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A539E-77FB-4784-8F48-40A6E10C521F}"/>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6561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774-D8FB-4609-AAE6-9DFB9337B9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8BC86-19DE-433A-AC72-8E6E8A93B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FEAE9-538F-4540-99B2-F94BBB0C3D78}"/>
              </a:ext>
            </a:extLst>
          </p:cNvPr>
          <p:cNvSpPr>
            <a:spLocks noGrp="1"/>
          </p:cNvSpPr>
          <p:nvPr>
            <p:ph type="dt" sz="half" idx="10"/>
          </p:nvPr>
        </p:nvSpPr>
        <p:spPr/>
        <p:txBody>
          <a:bodyPr/>
          <a:lstStyle/>
          <a:p>
            <a:fld id="{5701B579-BE22-4365-9624-3AE1F352F1A7}" type="datetimeFigureOut">
              <a:rPr lang="en-US" smtClean="0"/>
              <a:t>4/5/2026</a:t>
            </a:fld>
            <a:endParaRPr lang="en-US"/>
          </a:p>
        </p:txBody>
      </p:sp>
      <p:sp>
        <p:nvSpPr>
          <p:cNvPr id="5" name="Footer Placeholder 4">
            <a:extLst>
              <a:ext uri="{FF2B5EF4-FFF2-40B4-BE49-F238E27FC236}">
                <a16:creationId xmlns:a16="http://schemas.microsoft.com/office/drawing/2014/main" id="{0A00FA06-A552-48E9-984C-063D23529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CB287-478F-4020-BBF4-AE2612E417F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89758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5F8E-D378-48F1-982D-606B3160FF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94D5D-2E6F-4291-B1C6-BBFC0323C9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AAFD2-28C6-455D-AE60-B9D724863CD9}"/>
              </a:ext>
            </a:extLst>
          </p:cNvPr>
          <p:cNvSpPr>
            <a:spLocks noGrp="1"/>
          </p:cNvSpPr>
          <p:nvPr>
            <p:ph type="dt" sz="half" idx="10"/>
          </p:nvPr>
        </p:nvSpPr>
        <p:spPr/>
        <p:txBody>
          <a:bodyPr/>
          <a:lstStyle/>
          <a:p>
            <a:fld id="{5701B579-BE22-4365-9624-3AE1F352F1A7}" type="datetimeFigureOut">
              <a:rPr lang="en-US" smtClean="0"/>
              <a:t>4/5/2026</a:t>
            </a:fld>
            <a:endParaRPr lang="en-US"/>
          </a:p>
        </p:txBody>
      </p:sp>
      <p:sp>
        <p:nvSpPr>
          <p:cNvPr id="5" name="Footer Placeholder 4">
            <a:extLst>
              <a:ext uri="{FF2B5EF4-FFF2-40B4-BE49-F238E27FC236}">
                <a16:creationId xmlns:a16="http://schemas.microsoft.com/office/drawing/2014/main" id="{7F662756-894F-46FE-B4D3-4C370744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C601B-7763-446C-9DC5-9ACF5EE9B233}"/>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59983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85D5-4A70-4523-8C56-7A2F63097D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B50669-8B6D-4573-A65D-5723BE7B81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26AA6-27C3-4956-B4F9-B51F02240F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CADE07-F788-4954-AC59-F7BCCAD825DE}"/>
              </a:ext>
            </a:extLst>
          </p:cNvPr>
          <p:cNvSpPr>
            <a:spLocks noGrp="1"/>
          </p:cNvSpPr>
          <p:nvPr>
            <p:ph type="dt" sz="half" idx="10"/>
          </p:nvPr>
        </p:nvSpPr>
        <p:spPr/>
        <p:txBody>
          <a:bodyPr/>
          <a:lstStyle/>
          <a:p>
            <a:fld id="{5701B579-BE22-4365-9624-3AE1F352F1A7}" type="datetimeFigureOut">
              <a:rPr lang="en-US" smtClean="0"/>
              <a:t>4/5/2026</a:t>
            </a:fld>
            <a:endParaRPr lang="en-US"/>
          </a:p>
        </p:txBody>
      </p:sp>
      <p:sp>
        <p:nvSpPr>
          <p:cNvPr id="6" name="Footer Placeholder 5">
            <a:extLst>
              <a:ext uri="{FF2B5EF4-FFF2-40B4-BE49-F238E27FC236}">
                <a16:creationId xmlns:a16="http://schemas.microsoft.com/office/drawing/2014/main" id="{D4CEA43F-F602-40EE-B21F-DC7E68CD6E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D1C2A-9F62-4A54-96AE-3DAD4823439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57837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93E4-29D2-4052-9C0C-2B12FB9F04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A1864E-EDC6-4F4B-90E2-73414CCE8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208338-D4D6-46C1-A40B-EBAFA05859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6AB0C-3D87-4B28-A144-FBE1D0F6F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639F3-6EB4-4B92-AE38-D411C1AA3A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1005A4-0514-429B-9362-4434E7932694}"/>
              </a:ext>
            </a:extLst>
          </p:cNvPr>
          <p:cNvSpPr>
            <a:spLocks noGrp="1"/>
          </p:cNvSpPr>
          <p:nvPr>
            <p:ph type="dt" sz="half" idx="10"/>
          </p:nvPr>
        </p:nvSpPr>
        <p:spPr/>
        <p:txBody>
          <a:bodyPr/>
          <a:lstStyle/>
          <a:p>
            <a:fld id="{5701B579-BE22-4365-9624-3AE1F352F1A7}" type="datetimeFigureOut">
              <a:rPr lang="en-US" smtClean="0"/>
              <a:t>4/5/2026</a:t>
            </a:fld>
            <a:endParaRPr lang="en-US"/>
          </a:p>
        </p:txBody>
      </p:sp>
      <p:sp>
        <p:nvSpPr>
          <p:cNvPr id="8" name="Footer Placeholder 7">
            <a:extLst>
              <a:ext uri="{FF2B5EF4-FFF2-40B4-BE49-F238E27FC236}">
                <a16:creationId xmlns:a16="http://schemas.microsoft.com/office/drawing/2014/main" id="{41B49C01-7B53-435D-82F7-A1316279CD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2674F3-601B-4FAC-913E-6356AB82DE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374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F530-2DDE-4090-B9BA-4E706FE890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4B356-E78B-4416-98FE-2C17AE157F2B}"/>
              </a:ext>
            </a:extLst>
          </p:cNvPr>
          <p:cNvSpPr>
            <a:spLocks noGrp="1"/>
          </p:cNvSpPr>
          <p:nvPr>
            <p:ph type="dt" sz="half" idx="10"/>
          </p:nvPr>
        </p:nvSpPr>
        <p:spPr/>
        <p:txBody>
          <a:bodyPr/>
          <a:lstStyle/>
          <a:p>
            <a:fld id="{5701B579-BE22-4365-9624-3AE1F352F1A7}" type="datetimeFigureOut">
              <a:rPr lang="en-US" smtClean="0"/>
              <a:t>4/5/2026</a:t>
            </a:fld>
            <a:endParaRPr lang="en-US"/>
          </a:p>
        </p:txBody>
      </p:sp>
      <p:sp>
        <p:nvSpPr>
          <p:cNvPr id="4" name="Footer Placeholder 3">
            <a:extLst>
              <a:ext uri="{FF2B5EF4-FFF2-40B4-BE49-F238E27FC236}">
                <a16:creationId xmlns:a16="http://schemas.microsoft.com/office/drawing/2014/main" id="{C15593D8-810C-4035-B5ED-80F9BF0D3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F55571-D054-48D1-8803-ADE847A6536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345384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7BE268-32AF-41F1-B9BF-76444776383A}"/>
              </a:ext>
            </a:extLst>
          </p:cNvPr>
          <p:cNvSpPr>
            <a:spLocks noGrp="1"/>
          </p:cNvSpPr>
          <p:nvPr>
            <p:ph type="dt" sz="half" idx="10"/>
          </p:nvPr>
        </p:nvSpPr>
        <p:spPr/>
        <p:txBody>
          <a:bodyPr/>
          <a:lstStyle/>
          <a:p>
            <a:fld id="{5701B579-BE22-4365-9624-3AE1F352F1A7}" type="datetimeFigureOut">
              <a:rPr lang="en-US" smtClean="0"/>
              <a:t>4/5/2026</a:t>
            </a:fld>
            <a:endParaRPr lang="en-US"/>
          </a:p>
        </p:txBody>
      </p:sp>
      <p:sp>
        <p:nvSpPr>
          <p:cNvPr id="3" name="Footer Placeholder 2">
            <a:extLst>
              <a:ext uri="{FF2B5EF4-FFF2-40B4-BE49-F238E27FC236}">
                <a16:creationId xmlns:a16="http://schemas.microsoft.com/office/drawing/2014/main" id="{CF581429-1463-423B-A364-3007974280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1A6839-CB05-4AB6-92C3-597FE9B6E56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7620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0436-DB2A-48F1-B027-49BF16EC7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BF08-10D0-4FEE-BD95-9FDFBA2FF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A3EEA-BC06-42DA-89F3-9E0D2161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5DFBF-2A0A-4BBC-A7A2-C761EAFD3E8C}"/>
              </a:ext>
            </a:extLst>
          </p:cNvPr>
          <p:cNvSpPr>
            <a:spLocks noGrp="1"/>
          </p:cNvSpPr>
          <p:nvPr>
            <p:ph type="dt" sz="half" idx="10"/>
          </p:nvPr>
        </p:nvSpPr>
        <p:spPr/>
        <p:txBody>
          <a:bodyPr/>
          <a:lstStyle/>
          <a:p>
            <a:fld id="{5701B579-BE22-4365-9624-3AE1F352F1A7}" type="datetimeFigureOut">
              <a:rPr lang="en-US" smtClean="0"/>
              <a:t>4/5/2026</a:t>
            </a:fld>
            <a:endParaRPr lang="en-US"/>
          </a:p>
        </p:txBody>
      </p:sp>
      <p:sp>
        <p:nvSpPr>
          <p:cNvPr id="6" name="Footer Placeholder 5">
            <a:extLst>
              <a:ext uri="{FF2B5EF4-FFF2-40B4-BE49-F238E27FC236}">
                <a16:creationId xmlns:a16="http://schemas.microsoft.com/office/drawing/2014/main" id="{34E032EE-DBDF-4DD6-B09C-98EFBACD07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0F9592-0DF4-4888-A204-38DA63D36B25}"/>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253836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96FA-1210-4D0E-9505-D51795E07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255D6-880E-44DA-919F-3FCF13B52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C7E01-C6FB-46A7-A74A-898E5820E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E34C9-0AC3-43C3-A654-3FC0164AC92B}"/>
              </a:ext>
            </a:extLst>
          </p:cNvPr>
          <p:cNvSpPr>
            <a:spLocks noGrp="1"/>
          </p:cNvSpPr>
          <p:nvPr>
            <p:ph type="dt" sz="half" idx="10"/>
          </p:nvPr>
        </p:nvSpPr>
        <p:spPr/>
        <p:txBody>
          <a:bodyPr/>
          <a:lstStyle/>
          <a:p>
            <a:fld id="{5701B579-BE22-4365-9624-3AE1F352F1A7}" type="datetimeFigureOut">
              <a:rPr lang="en-US" smtClean="0"/>
              <a:t>4/5/2026</a:t>
            </a:fld>
            <a:endParaRPr lang="en-US"/>
          </a:p>
        </p:txBody>
      </p:sp>
      <p:sp>
        <p:nvSpPr>
          <p:cNvPr id="6" name="Footer Placeholder 5">
            <a:extLst>
              <a:ext uri="{FF2B5EF4-FFF2-40B4-BE49-F238E27FC236}">
                <a16:creationId xmlns:a16="http://schemas.microsoft.com/office/drawing/2014/main" id="{23447480-0FFC-41C2-88A2-0A21C7263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F4567-0817-4CF6-BD05-B1BDEA7995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8511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00B9-FC21-406B-B5FA-B60B7DC90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496599-23BC-425D-8BD9-EE0D324D6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C455-686D-48B4-8DAB-D94E33E0608A}"/>
              </a:ext>
            </a:extLst>
          </p:cNvPr>
          <p:cNvSpPr>
            <a:spLocks noGrp="1"/>
          </p:cNvSpPr>
          <p:nvPr>
            <p:ph type="dt" sz="half" idx="10"/>
          </p:nvPr>
        </p:nvSpPr>
        <p:spPr/>
        <p:txBody>
          <a:bodyPr/>
          <a:lstStyle/>
          <a:p>
            <a:fld id="{5701B579-BE22-4365-9624-3AE1F352F1A7}" type="datetimeFigureOut">
              <a:rPr lang="en-US" smtClean="0"/>
              <a:t>4/5/2026</a:t>
            </a:fld>
            <a:endParaRPr lang="en-US"/>
          </a:p>
        </p:txBody>
      </p:sp>
      <p:sp>
        <p:nvSpPr>
          <p:cNvPr id="5" name="Footer Placeholder 4">
            <a:extLst>
              <a:ext uri="{FF2B5EF4-FFF2-40B4-BE49-F238E27FC236}">
                <a16:creationId xmlns:a16="http://schemas.microsoft.com/office/drawing/2014/main" id="{63AD1942-3ED0-4931-A8CE-6D984F839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B5B99-3A43-477C-B42A-3C08D02D7574}"/>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95686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23F515-C31F-4273-9268-3D1EF4F6FB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4BF6F7-9F34-4BB4-8961-A8EDC9D82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59CB1-7397-4C82-89C9-0693FB2910E9}"/>
              </a:ext>
            </a:extLst>
          </p:cNvPr>
          <p:cNvSpPr>
            <a:spLocks noGrp="1"/>
          </p:cNvSpPr>
          <p:nvPr>
            <p:ph type="dt" sz="half" idx="10"/>
          </p:nvPr>
        </p:nvSpPr>
        <p:spPr/>
        <p:txBody>
          <a:bodyPr/>
          <a:lstStyle/>
          <a:p>
            <a:fld id="{5701B579-BE22-4365-9624-3AE1F352F1A7}" type="datetimeFigureOut">
              <a:rPr lang="en-US" smtClean="0"/>
              <a:t>4/5/2026</a:t>
            </a:fld>
            <a:endParaRPr lang="en-US"/>
          </a:p>
        </p:txBody>
      </p:sp>
      <p:sp>
        <p:nvSpPr>
          <p:cNvPr id="5" name="Footer Placeholder 4">
            <a:extLst>
              <a:ext uri="{FF2B5EF4-FFF2-40B4-BE49-F238E27FC236}">
                <a16:creationId xmlns:a16="http://schemas.microsoft.com/office/drawing/2014/main" id="{5F201C97-2278-43A9-BE35-0AD612655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5134C-7180-46A6-9627-AECEF8DCC93D}"/>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63731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26403-82E5-42A1-9D17-51FB8924C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0F3246-0D43-4E66-B320-0671607BF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15B71-0150-43A3-94BD-2B7D0897C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1B579-BE22-4365-9624-3AE1F352F1A7}" type="datetimeFigureOut">
              <a:rPr lang="en-US" smtClean="0"/>
              <a:t>4/5/2026</a:t>
            </a:fld>
            <a:endParaRPr lang="en-US"/>
          </a:p>
        </p:txBody>
      </p:sp>
      <p:sp>
        <p:nvSpPr>
          <p:cNvPr id="5" name="Footer Placeholder 4">
            <a:extLst>
              <a:ext uri="{FF2B5EF4-FFF2-40B4-BE49-F238E27FC236}">
                <a16:creationId xmlns:a16="http://schemas.microsoft.com/office/drawing/2014/main" id="{E979B45D-F9D5-470F-9240-ABDE82EA29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C585F-DBFF-493F-8D4A-16FE923EE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7EF8F-CC04-49FF-99A7-DBE4E5B3B38F}" type="slidenum">
              <a:rPr lang="en-US" smtClean="0"/>
              <a:t>‹#›</a:t>
            </a:fld>
            <a:endParaRPr lang="en-US"/>
          </a:p>
        </p:txBody>
      </p:sp>
    </p:spTree>
    <p:extLst>
      <p:ext uri="{BB962C8B-B14F-4D97-AF65-F5344CB8AC3E}">
        <p14:creationId xmlns:p14="http://schemas.microsoft.com/office/powerpoint/2010/main" val="1848083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726434" y="4659359"/>
            <a:ext cx="9144000" cy="1655762"/>
          </a:xfrm>
        </p:spPr>
        <p:txBody>
          <a:bodyPr>
            <a:normAutofit/>
          </a:bodyPr>
          <a:lstStyle/>
          <a:p>
            <a:r>
              <a:rPr lang="en-US" dirty="0"/>
              <a:t>Topic: Condition Variables</a:t>
            </a:r>
          </a:p>
          <a:p>
            <a:r>
              <a:rPr lang="en-US" dirty="0"/>
              <a:t>Lecture: Dr. Zhao Jie</a:t>
            </a:r>
          </a:p>
          <a:p>
            <a:r>
              <a:rPr lang="en-US" dirty="0"/>
              <a:t>Date</a:t>
            </a:r>
            <a:r>
              <a:rPr lang="en-US"/>
              <a:t>: 04/08/2026</a:t>
            </a:r>
            <a:endParaRPr lang="en-US" dirty="0"/>
          </a:p>
        </p:txBody>
      </p:sp>
      <p:pic>
        <p:nvPicPr>
          <p:cNvPr id="5" name="Picture 4">
            <a:extLst>
              <a:ext uri="{FF2B5EF4-FFF2-40B4-BE49-F238E27FC236}">
                <a16:creationId xmlns:a16="http://schemas.microsoft.com/office/drawing/2014/main" id="{22F60897-8669-4C6A-9213-A875ED322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50" y="237202"/>
            <a:ext cx="9967968" cy="4572000"/>
          </a:xfrm>
          <a:prstGeom prst="rect">
            <a:avLst/>
          </a:prstGeom>
        </p:spPr>
      </p:pic>
    </p:spTree>
    <p:extLst>
      <p:ext uri="{BB962C8B-B14F-4D97-AF65-F5344CB8AC3E}">
        <p14:creationId xmlns:p14="http://schemas.microsoft.com/office/powerpoint/2010/main" val="219999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1122363"/>
            <a:ext cx="9144000" cy="1079299"/>
          </a:xfrm>
        </p:spPr>
        <p:txBody>
          <a:bodyPr/>
          <a:lstStyle/>
          <a:p>
            <a:r>
              <a:rPr lang="en-US" b="0" i="0" dirty="0">
                <a:solidFill>
                  <a:srgbClr val="000000"/>
                </a:solidFill>
                <a:effectLst/>
                <a:latin typeface="Arial" panose="020B0604020202020204" pitchFamily="34" charset="0"/>
              </a:rPr>
              <a:t>Reading Assignment</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p:txBody>
          <a:bodyPr>
            <a:normAutofit/>
          </a:bodyPr>
          <a:lstStyle/>
          <a:p>
            <a:r>
              <a:rPr lang="en-US" b="0" i="0" dirty="0">
                <a:solidFill>
                  <a:srgbClr val="000000"/>
                </a:solidFill>
                <a:effectLst/>
                <a:latin typeface="Arial" panose="020B0604020202020204" pitchFamily="34" charset="0"/>
              </a:rPr>
              <a:t>Chapters</a:t>
            </a:r>
            <a:r>
              <a:rPr lang="en-US" dirty="0">
                <a:solidFill>
                  <a:srgbClr val="000000"/>
                </a:solidFill>
                <a:latin typeface="Arial" panose="020B0604020202020204" pitchFamily="34" charset="0"/>
              </a:rPr>
              <a:t> 30</a:t>
            </a:r>
            <a:endParaRPr lang="pl-PL" b="0" i="0" dirty="0">
              <a:solidFill>
                <a:srgbClr val="000000"/>
              </a:solidFill>
              <a:effectLst/>
              <a:latin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8DF00F48-9DB0-08EA-42CE-D4E5E667FF9F}"/>
              </a:ext>
            </a:extLst>
          </p:cNvPr>
          <p:cNvSpPr>
            <a:spLocks noGrp="1"/>
          </p:cNvSpPr>
          <p:nvPr>
            <p:ph type="sldNum" sz="quarter" idx="12"/>
          </p:nvPr>
        </p:nvSpPr>
        <p:spPr/>
        <p:txBody>
          <a:bodyPr/>
          <a:lstStyle/>
          <a:p>
            <a:fld id="{07D7EF8F-CC04-49FF-99A7-DBE4E5B3B38F}" type="slidenum">
              <a:rPr lang="en-US" smtClean="0"/>
              <a:t>2</a:t>
            </a:fld>
            <a:endParaRPr lang="en-US"/>
          </a:p>
        </p:txBody>
      </p:sp>
    </p:spTree>
    <p:extLst>
      <p:ext uri="{BB962C8B-B14F-4D97-AF65-F5344CB8AC3E}">
        <p14:creationId xmlns:p14="http://schemas.microsoft.com/office/powerpoint/2010/main" val="403879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856146"/>
            <a:ext cx="9144000" cy="1079299"/>
          </a:xfrm>
        </p:spPr>
        <p:txBody>
          <a:bodyPr/>
          <a:lstStyle/>
          <a:p>
            <a:r>
              <a:rPr lang="en-US" dirty="0">
                <a:solidFill>
                  <a:srgbClr val="000000"/>
                </a:solidFill>
                <a:latin typeface="Arial" panose="020B0604020202020204" pitchFamily="34" charset="0"/>
              </a:rPr>
              <a:t>Agenda</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24000" y="2525596"/>
            <a:ext cx="9144000" cy="2324196"/>
          </a:xfrm>
        </p:spPr>
        <p:txBody>
          <a:bodyPr>
            <a:normAutofit/>
          </a:bodyPr>
          <a:lstStyle/>
          <a:p>
            <a:pPr marL="342900" indent="-342900" algn="l">
              <a:lnSpc>
                <a:spcPct val="150000"/>
              </a:lnSpc>
              <a:buFont typeface="Arial" panose="020B0604020202020204" pitchFamily="34" charset="0"/>
              <a:buChar char="•"/>
            </a:pPr>
            <a:r>
              <a:rPr lang="en-US" b="0" i="0" dirty="0">
                <a:solidFill>
                  <a:srgbClr val="000000"/>
                </a:solidFill>
                <a:effectLst/>
                <a:latin typeface="Arial" panose="020B0604020202020204" pitchFamily="34" charset="0"/>
              </a:rPr>
              <a:t>Condition variable definition</a:t>
            </a:r>
          </a:p>
          <a:p>
            <a:pPr marL="342900" indent="-342900" algn="l">
              <a:lnSpc>
                <a:spcPct val="150000"/>
              </a:lnSpc>
              <a:buFont typeface="Arial" panose="020B0604020202020204" pitchFamily="34" charset="0"/>
              <a:buChar char="•"/>
            </a:pPr>
            <a:r>
              <a:rPr lang="en-US" b="0" i="0" dirty="0">
                <a:solidFill>
                  <a:srgbClr val="000000"/>
                </a:solidFill>
                <a:effectLst/>
                <a:latin typeface="Arial" panose="020B0604020202020204" pitchFamily="34" charset="0"/>
              </a:rPr>
              <a:t>Parent waiting for child </a:t>
            </a:r>
          </a:p>
          <a:p>
            <a:pPr marL="342900" indent="-342900" algn="l">
              <a:lnSpc>
                <a:spcPct val="150000"/>
              </a:lnSpc>
              <a:buFont typeface="Arial" panose="020B0604020202020204" pitchFamily="34" charset="0"/>
              <a:buChar char="•"/>
            </a:pPr>
            <a:r>
              <a:rPr lang="en-US" b="0" i="0" dirty="0">
                <a:solidFill>
                  <a:srgbClr val="000000"/>
                </a:solidFill>
                <a:effectLst/>
                <a:latin typeface="Arial" panose="020B0604020202020204" pitchFamily="34" charset="0"/>
              </a:rPr>
              <a:t>Bounded buffer between producer and consumer</a:t>
            </a:r>
          </a:p>
        </p:txBody>
      </p:sp>
      <p:sp>
        <p:nvSpPr>
          <p:cNvPr id="4" name="Slide Number Placeholder 3">
            <a:extLst>
              <a:ext uri="{FF2B5EF4-FFF2-40B4-BE49-F238E27FC236}">
                <a16:creationId xmlns:a16="http://schemas.microsoft.com/office/drawing/2014/main" id="{8DF00F48-9DB0-08EA-42CE-D4E5E667FF9F}"/>
              </a:ext>
            </a:extLst>
          </p:cNvPr>
          <p:cNvSpPr>
            <a:spLocks noGrp="1"/>
          </p:cNvSpPr>
          <p:nvPr>
            <p:ph type="sldNum" sz="quarter" idx="12"/>
          </p:nvPr>
        </p:nvSpPr>
        <p:spPr/>
        <p:txBody>
          <a:bodyPr/>
          <a:lstStyle/>
          <a:p>
            <a:fld id="{07D7EF8F-CC04-49FF-99A7-DBE4E5B3B38F}" type="slidenum">
              <a:rPr lang="en-US" smtClean="0"/>
              <a:t>3</a:t>
            </a:fld>
            <a:endParaRPr lang="en-US"/>
          </a:p>
        </p:txBody>
      </p:sp>
    </p:spTree>
    <p:extLst>
      <p:ext uri="{BB962C8B-B14F-4D97-AF65-F5344CB8AC3E}">
        <p14:creationId xmlns:p14="http://schemas.microsoft.com/office/powerpoint/2010/main" val="18190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15029"/>
            <a:ext cx="10452740" cy="742228"/>
          </a:xfrm>
        </p:spPr>
        <p:txBody>
          <a:bodyPr>
            <a:noAutofit/>
          </a:bodyPr>
          <a:lstStyle/>
          <a:p>
            <a:r>
              <a:rPr lang="en-US" sz="4200" dirty="0">
                <a:solidFill>
                  <a:srgbClr val="C00000"/>
                </a:solidFill>
              </a:rPr>
              <a:t>The motivation </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049561" y="953585"/>
            <a:ext cx="9705735" cy="950449"/>
          </a:xfrm>
        </p:spPr>
        <p:txBody>
          <a:bodyPr>
            <a:normAutofit fontScale="92500" lnSpcReduction="10000"/>
          </a:bodyPr>
          <a:lstStyle/>
          <a:p>
            <a:pPr marL="342900" indent="-342900" algn="l">
              <a:lnSpc>
                <a:spcPct val="150000"/>
              </a:lnSpc>
              <a:buFont typeface="Arial" panose="020B0604020202020204" pitchFamily="34" charset="0"/>
              <a:buChar char="•"/>
            </a:pPr>
            <a:r>
              <a:rPr lang="en-US" sz="2200" dirty="0"/>
              <a:t>Look at the example and try to answer two questions. 1). How does the parent process wait for the child thread? 2). Can we avoid the spin wait?</a:t>
            </a:r>
          </a:p>
        </p:txBody>
      </p:sp>
      <p:pic>
        <p:nvPicPr>
          <p:cNvPr id="6" name="Picture 5">
            <a:extLst>
              <a:ext uri="{FF2B5EF4-FFF2-40B4-BE49-F238E27FC236}">
                <a16:creationId xmlns:a16="http://schemas.microsoft.com/office/drawing/2014/main" id="{7835B985-E132-1D96-ED87-DA3724B9CE9F}"/>
              </a:ext>
            </a:extLst>
          </p:cNvPr>
          <p:cNvPicPr>
            <a:picLocks noChangeAspect="1"/>
          </p:cNvPicPr>
          <p:nvPr/>
        </p:nvPicPr>
        <p:blipFill>
          <a:blip r:embed="rId3"/>
          <a:stretch>
            <a:fillRect/>
          </a:stretch>
        </p:blipFill>
        <p:spPr>
          <a:xfrm>
            <a:off x="2160604" y="2041909"/>
            <a:ext cx="7870792" cy="4114800"/>
          </a:xfrm>
          <a:prstGeom prst="rect">
            <a:avLst/>
          </a:prstGeom>
        </p:spPr>
      </p:pic>
    </p:spTree>
    <p:extLst>
      <p:ext uri="{BB962C8B-B14F-4D97-AF65-F5344CB8AC3E}">
        <p14:creationId xmlns:p14="http://schemas.microsoft.com/office/powerpoint/2010/main" val="135764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99082"/>
            <a:ext cx="9755080" cy="737510"/>
          </a:xfrm>
        </p:spPr>
        <p:txBody>
          <a:bodyPr>
            <a:noAutofit/>
          </a:bodyPr>
          <a:lstStyle/>
          <a:p>
            <a:r>
              <a:rPr lang="en-US" sz="4200" dirty="0">
                <a:solidFill>
                  <a:srgbClr val="C00000"/>
                </a:solidFill>
              </a:rPr>
              <a:t>Definition of condition variable</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671439" y="1050780"/>
            <a:ext cx="8817527" cy="5651859"/>
          </a:xfrm>
        </p:spPr>
        <p:txBody>
          <a:bodyPr>
            <a:normAutofit/>
          </a:bodyPr>
          <a:lstStyle/>
          <a:p>
            <a:pPr marL="342900" indent="-342900" algn="l">
              <a:lnSpc>
                <a:spcPct val="150000"/>
              </a:lnSpc>
              <a:buFont typeface="Arial" panose="020B0604020202020204" pitchFamily="34" charset="0"/>
              <a:buChar char="•"/>
            </a:pPr>
            <a:r>
              <a:rPr lang="en-US" dirty="0"/>
              <a:t>Motivation</a:t>
            </a:r>
          </a:p>
          <a:p>
            <a:pPr lvl="1" algn="l">
              <a:lnSpc>
                <a:spcPct val="150000"/>
              </a:lnSpc>
            </a:pPr>
            <a:r>
              <a:rPr lang="en-US" dirty="0"/>
              <a:t>To wait for a condition to become true</a:t>
            </a:r>
          </a:p>
          <a:p>
            <a:pPr marL="342900" indent="-342900" algn="l">
              <a:lnSpc>
                <a:spcPct val="150000"/>
              </a:lnSpc>
              <a:buFont typeface="Arial" panose="020B0604020202020204" pitchFamily="34" charset="0"/>
              <a:buChar char="•"/>
            </a:pPr>
            <a:r>
              <a:rPr lang="en-US" dirty="0"/>
              <a:t>Definition</a:t>
            </a:r>
          </a:p>
          <a:p>
            <a:pPr marL="800100" lvl="1" indent="-342900" algn="l">
              <a:lnSpc>
                <a:spcPct val="150000"/>
              </a:lnSpc>
              <a:buFont typeface="Wingdings" panose="05000000000000000000" pitchFamily="2" charset="2"/>
              <a:buChar char="§"/>
            </a:pPr>
            <a:r>
              <a:rPr lang="en-US" dirty="0"/>
              <a:t>Condition variable is to wait for some expected condition by checking the state of execution </a:t>
            </a:r>
          </a:p>
          <a:p>
            <a:pPr marL="800100" lvl="1" indent="-342900" algn="l">
              <a:lnSpc>
                <a:spcPct val="150000"/>
              </a:lnSpc>
              <a:buFont typeface="Wingdings" panose="05000000000000000000" pitchFamily="2" charset="2"/>
              <a:buChar char="§"/>
            </a:pPr>
            <a:r>
              <a:rPr lang="en-US" dirty="0"/>
              <a:t>If the expected condition is not ready, the caller must wait.</a:t>
            </a:r>
          </a:p>
          <a:p>
            <a:pPr marL="800100" lvl="1" indent="-342900" algn="l">
              <a:lnSpc>
                <a:spcPct val="150000"/>
              </a:lnSpc>
              <a:buFont typeface="Wingdings" panose="05000000000000000000" pitchFamily="2" charset="2"/>
              <a:buChar char="§"/>
            </a:pPr>
            <a:r>
              <a:rPr lang="en-US" dirty="0"/>
              <a:t>If ready, the caller will be woken. </a:t>
            </a:r>
          </a:p>
          <a:p>
            <a:pPr marL="342900" indent="-342900" algn="l">
              <a:lnSpc>
                <a:spcPct val="150000"/>
              </a:lnSpc>
              <a:buFont typeface="Arial" panose="020B0604020202020204" pitchFamily="34" charset="0"/>
              <a:buChar char="•"/>
            </a:pPr>
            <a:r>
              <a:rPr lang="en-US" dirty="0"/>
              <a:t>Implementation</a:t>
            </a:r>
          </a:p>
          <a:p>
            <a:pPr marL="800100" lvl="1" indent="-342900" algn="l">
              <a:lnSpc>
                <a:spcPct val="150000"/>
              </a:lnSpc>
              <a:buFont typeface="Wingdings" panose="05000000000000000000" pitchFamily="2" charset="2"/>
              <a:buChar char="§"/>
            </a:pPr>
            <a:r>
              <a:rPr lang="en-US" dirty="0"/>
              <a:t>Wait() – the </a:t>
            </a:r>
            <a:r>
              <a:rPr lang="en-US"/>
              <a:t>caller’s self-sleep</a:t>
            </a:r>
            <a:endParaRPr lang="en-US" dirty="0"/>
          </a:p>
          <a:p>
            <a:pPr marL="800100" lvl="1" indent="-342900" algn="l">
              <a:lnSpc>
                <a:spcPct val="150000"/>
              </a:lnSpc>
              <a:buFont typeface="Wingdings" panose="05000000000000000000" pitchFamily="2" charset="2"/>
              <a:buChar char="§"/>
            </a:pPr>
            <a:r>
              <a:rPr lang="en-US" dirty="0"/>
              <a:t>Signal() – the caller’s being woken</a:t>
            </a:r>
          </a:p>
        </p:txBody>
      </p:sp>
    </p:spTree>
    <p:extLst>
      <p:ext uri="{BB962C8B-B14F-4D97-AF65-F5344CB8AC3E}">
        <p14:creationId xmlns:p14="http://schemas.microsoft.com/office/powerpoint/2010/main" val="3760905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90264"/>
            <a:ext cx="10452740" cy="742228"/>
          </a:xfrm>
        </p:spPr>
        <p:txBody>
          <a:bodyPr>
            <a:noAutofit/>
          </a:bodyPr>
          <a:lstStyle/>
          <a:p>
            <a:r>
              <a:rPr lang="en-US" sz="4200" dirty="0">
                <a:solidFill>
                  <a:srgbClr val="C00000"/>
                </a:solidFill>
              </a:rPr>
              <a:t>The example of parent waiting for child</a:t>
            </a:r>
          </a:p>
        </p:txBody>
      </p:sp>
      <p:pic>
        <p:nvPicPr>
          <p:cNvPr id="8" name="Picture 7">
            <a:extLst>
              <a:ext uri="{FF2B5EF4-FFF2-40B4-BE49-F238E27FC236}">
                <a16:creationId xmlns:a16="http://schemas.microsoft.com/office/drawing/2014/main" id="{950FC54D-FEF5-D1B2-B09F-5B7BFBCC7477}"/>
              </a:ext>
            </a:extLst>
          </p:cNvPr>
          <p:cNvPicPr>
            <a:picLocks noChangeAspect="1"/>
          </p:cNvPicPr>
          <p:nvPr/>
        </p:nvPicPr>
        <p:blipFill>
          <a:blip r:embed="rId3"/>
          <a:stretch>
            <a:fillRect/>
          </a:stretch>
        </p:blipFill>
        <p:spPr>
          <a:xfrm>
            <a:off x="697709" y="2641921"/>
            <a:ext cx="4483368" cy="3017520"/>
          </a:xfrm>
          <a:prstGeom prst="rect">
            <a:avLst/>
          </a:prstGeom>
        </p:spPr>
      </p:pic>
      <p:pic>
        <p:nvPicPr>
          <p:cNvPr id="10" name="Picture 9">
            <a:extLst>
              <a:ext uri="{FF2B5EF4-FFF2-40B4-BE49-F238E27FC236}">
                <a16:creationId xmlns:a16="http://schemas.microsoft.com/office/drawing/2014/main" id="{C0EE9D07-B1A3-A0BB-B365-18BC12AB6AB6}"/>
              </a:ext>
            </a:extLst>
          </p:cNvPr>
          <p:cNvPicPr>
            <a:picLocks noChangeAspect="1"/>
          </p:cNvPicPr>
          <p:nvPr/>
        </p:nvPicPr>
        <p:blipFill>
          <a:blip r:embed="rId4"/>
          <a:stretch>
            <a:fillRect/>
          </a:stretch>
        </p:blipFill>
        <p:spPr>
          <a:xfrm>
            <a:off x="5921213" y="2641921"/>
            <a:ext cx="5749987" cy="3474720"/>
          </a:xfrm>
          <a:prstGeom prst="rect">
            <a:avLst/>
          </a:prstGeom>
        </p:spPr>
      </p:pic>
      <p:pic>
        <p:nvPicPr>
          <p:cNvPr id="12" name="Picture 11">
            <a:extLst>
              <a:ext uri="{FF2B5EF4-FFF2-40B4-BE49-F238E27FC236}">
                <a16:creationId xmlns:a16="http://schemas.microsoft.com/office/drawing/2014/main" id="{FD7697D0-C912-AE6C-0B5C-7DD0B5236D5A}"/>
              </a:ext>
            </a:extLst>
          </p:cNvPr>
          <p:cNvPicPr>
            <a:picLocks noChangeAspect="1"/>
          </p:cNvPicPr>
          <p:nvPr/>
        </p:nvPicPr>
        <p:blipFill>
          <a:blip r:embed="rId5"/>
          <a:stretch>
            <a:fillRect/>
          </a:stretch>
        </p:blipFill>
        <p:spPr>
          <a:xfrm>
            <a:off x="697709" y="1107119"/>
            <a:ext cx="6908884" cy="822960"/>
          </a:xfrm>
          <a:prstGeom prst="rect">
            <a:avLst/>
          </a:prstGeom>
        </p:spPr>
      </p:pic>
      <p:sp>
        <p:nvSpPr>
          <p:cNvPr id="14" name="Rectangle 13">
            <a:extLst>
              <a:ext uri="{FF2B5EF4-FFF2-40B4-BE49-F238E27FC236}">
                <a16:creationId xmlns:a16="http://schemas.microsoft.com/office/drawing/2014/main" id="{4E13E2A3-4581-D374-F71C-E8E911BF3322}"/>
              </a:ext>
            </a:extLst>
          </p:cNvPr>
          <p:cNvSpPr/>
          <p:nvPr/>
        </p:nvSpPr>
        <p:spPr>
          <a:xfrm>
            <a:off x="1713053" y="3411639"/>
            <a:ext cx="3339296" cy="240175"/>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D77E44B-EA59-696C-912E-DF3669DEF5DC}"/>
              </a:ext>
            </a:extLst>
          </p:cNvPr>
          <p:cNvSpPr/>
          <p:nvPr/>
        </p:nvSpPr>
        <p:spPr>
          <a:xfrm>
            <a:off x="7425159" y="3321934"/>
            <a:ext cx="3269849" cy="2314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2763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Issues of only using wait() and signal()</a:t>
            </a:r>
          </a:p>
        </p:txBody>
      </p:sp>
      <p:pic>
        <p:nvPicPr>
          <p:cNvPr id="4" name="Picture 3">
            <a:extLst>
              <a:ext uri="{FF2B5EF4-FFF2-40B4-BE49-F238E27FC236}">
                <a16:creationId xmlns:a16="http://schemas.microsoft.com/office/drawing/2014/main" id="{CFF04876-60CF-2964-F70C-9D9197EAD94D}"/>
              </a:ext>
            </a:extLst>
          </p:cNvPr>
          <p:cNvPicPr>
            <a:picLocks noChangeAspect="1"/>
          </p:cNvPicPr>
          <p:nvPr/>
        </p:nvPicPr>
        <p:blipFill>
          <a:blip r:embed="rId3"/>
          <a:stretch>
            <a:fillRect/>
          </a:stretch>
        </p:blipFill>
        <p:spPr>
          <a:xfrm>
            <a:off x="3138713" y="1260203"/>
            <a:ext cx="5914574" cy="3657600"/>
          </a:xfrm>
          <a:prstGeom prst="rect">
            <a:avLst/>
          </a:prstGeom>
        </p:spPr>
      </p:pic>
      <p:sp>
        <p:nvSpPr>
          <p:cNvPr id="3" name="TextBox 2">
            <a:extLst>
              <a:ext uri="{FF2B5EF4-FFF2-40B4-BE49-F238E27FC236}">
                <a16:creationId xmlns:a16="http://schemas.microsoft.com/office/drawing/2014/main" id="{E547AC50-8446-8D6E-52CA-2697B56AD4C0}"/>
              </a:ext>
            </a:extLst>
          </p:cNvPr>
          <p:cNvSpPr txBox="1"/>
          <p:nvPr/>
        </p:nvSpPr>
        <p:spPr>
          <a:xfrm>
            <a:off x="1218460" y="4911914"/>
            <a:ext cx="9755080" cy="1785104"/>
          </a:xfrm>
          <a:prstGeom prst="rect">
            <a:avLst/>
          </a:prstGeom>
          <a:noFill/>
        </p:spPr>
        <p:txBody>
          <a:bodyPr wrap="square" rtlCol="0">
            <a:spAutoFit/>
          </a:bodyPr>
          <a:lstStyle/>
          <a:p>
            <a:r>
              <a:rPr lang="en-US" sz="2200" b="1" dirty="0">
                <a:solidFill>
                  <a:srgbClr val="C00000"/>
                </a:solidFill>
              </a:rPr>
              <a:t>Issue analysis: We assume that parent and child threads execute in a synchronized way. When the child thread immediately calls exit( ) where the function signal() is invoked. It is possible that the parent has not yet slept, and thus, the issue is no thread to be woken. </a:t>
            </a:r>
          </a:p>
          <a:p>
            <a:endParaRPr lang="en-US" sz="2200" b="1" dirty="0">
              <a:solidFill>
                <a:srgbClr val="C00000"/>
              </a:solidFill>
            </a:endParaRPr>
          </a:p>
        </p:txBody>
      </p:sp>
    </p:spTree>
    <p:extLst>
      <p:ext uri="{BB962C8B-B14F-4D97-AF65-F5344CB8AC3E}">
        <p14:creationId xmlns:p14="http://schemas.microsoft.com/office/powerpoint/2010/main" val="131292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What is the issues raised without the lock?</a:t>
            </a:r>
          </a:p>
        </p:txBody>
      </p:sp>
      <p:pic>
        <p:nvPicPr>
          <p:cNvPr id="4" name="Picture 3">
            <a:extLst>
              <a:ext uri="{FF2B5EF4-FFF2-40B4-BE49-F238E27FC236}">
                <a16:creationId xmlns:a16="http://schemas.microsoft.com/office/drawing/2014/main" id="{ABDB594B-177B-0191-E6BD-CC27C4ABB3B5}"/>
              </a:ext>
            </a:extLst>
          </p:cNvPr>
          <p:cNvPicPr>
            <a:picLocks noChangeAspect="1"/>
          </p:cNvPicPr>
          <p:nvPr/>
        </p:nvPicPr>
        <p:blipFill>
          <a:blip r:embed="rId3"/>
          <a:stretch>
            <a:fillRect/>
          </a:stretch>
        </p:blipFill>
        <p:spPr>
          <a:xfrm>
            <a:off x="3060273" y="1820726"/>
            <a:ext cx="6071453" cy="3200400"/>
          </a:xfrm>
          <a:prstGeom prst="rect">
            <a:avLst/>
          </a:prstGeom>
        </p:spPr>
      </p:pic>
    </p:spTree>
    <p:extLst>
      <p:ext uri="{BB962C8B-B14F-4D97-AF65-F5344CB8AC3E}">
        <p14:creationId xmlns:p14="http://schemas.microsoft.com/office/powerpoint/2010/main" val="2328528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The example of the loop in </a:t>
            </a:r>
            <a:r>
              <a:rPr lang="en-US" sz="4200" dirty="0" err="1">
                <a:solidFill>
                  <a:srgbClr val="C00000"/>
                </a:solidFill>
              </a:rPr>
              <a:t>mutex_lock</a:t>
            </a:r>
            <a:endParaRPr lang="en-US" sz="4200" dirty="0">
              <a:solidFill>
                <a:srgbClr val="C00000"/>
              </a:solidFill>
            </a:endParaRPr>
          </a:p>
        </p:txBody>
      </p:sp>
      <p:pic>
        <p:nvPicPr>
          <p:cNvPr id="4" name="Picture 3">
            <a:extLst>
              <a:ext uri="{FF2B5EF4-FFF2-40B4-BE49-F238E27FC236}">
                <a16:creationId xmlns:a16="http://schemas.microsoft.com/office/drawing/2014/main" id="{FBFF1786-B3AC-A810-FE8E-36B45C97A68F}"/>
              </a:ext>
            </a:extLst>
          </p:cNvPr>
          <p:cNvPicPr>
            <a:picLocks noChangeAspect="1"/>
          </p:cNvPicPr>
          <p:nvPr/>
        </p:nvPicPr>
        <p:blipFill>
          <a:blip r:embed="rId3"/>
          <a:stretch>
            <a:fillRect/>
          </a:stretch>
        </p:blipFill>
        <p:spPr>
          <a:xfrm>
            <a:off x="2169810" y="1544421"/>
            <a:ext cx="7852380" cy="3657600"/>
          </a:xfrm>
          <a:prstGeom prst="rect">
            <a:avLst/>
          </a:prstGeom>
        </p:spPr>
      </p:pic>
    </p:spTree>
    <p:extLst>
      <p:ext uri="{BB962C8B-B14F-4D97-AF65-F5344CB8AC3E}">
        <p14:creationId xmlns:p14="http://schemas.microsoft.com/office/powerpoint/2010/main" val="660943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BDC59-EC4F-1D4F-A721-A1DAF5A01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28E427-A4BE-18C1-C768-5F8D8E3CA25C}"/>
              </a:ext>
            </a:extLst>
          </p:cNvPr>
          <p:cNvSpPr>
            <a:spLocks noGrp="1"/>
          </p:cNvSpPr>
          <p:nvPr>
            <p:ph type="ctrTitle"/>
          </p:nvPr>
        </p:nvSpPr>
        <p:spPr>
          <a:xfrm>
            <a:off x="1218459" y="246231"/>
            <a:ext cx="9755080" cy="633000"/>
          </a:xfrm>
        </p:spPr>
        <p:txBody>
          <a:bodyPr>
            <a:noAutofit/>
          </a:bodyPr>
          <a:lstStyle/>
          <a:p>
            <a:r>
              <a:rPr lang="en-US" sz="3600" dirty="0">
                <a:solidFill>
                  <a:srgbClr val="C00000"/>
                </a:solidFill>
              </a:rPr>
              <a:t>Producer and consumer problem - 0</a:t>
            </a:r>
          </a:p>
        </p:txBody>
      </p:sp>
      <p:sp>
        <p:nvSpPr>
          <p:cNvPr id="3" name="TextBox 2">
            <a:extLst>
              <a:ext uri="{FF2B5EF4-FFF2-40B4-BE49-F238E27FC236}">
                <a16:creationId xmlns:a16="http://schemas.microsoft.com/office/drawing/2014/main" id="{E04986D2-020B-D6D4-C3DB-629185B76D3E}"/>
              </a:ext>
            </a:extLst>
          </p:cNvPr>
          <p:cNvSpPr txBox="1"/>
          <p:nvPr/>
        </p:nvSpPr>
        <p:spPr>
          <a:xfrm>
            <a:off x="414312" y="938806"/>
            <a:ext cx="11209118" cy="707886"/>
          </a:xfrm>
          <a:prstGeom prst="rect">
            <a:avLst/>
          </a:prstGeom>
          <a:noFill/>
        </p:spPr>
        <p:txBody>
          <a:bodyPr wrap="square" rtlCol="0">
            <a:spAutoFit/>
          </a:bodyPr>
          <a:lstStyle/>
          <a:p>
            <a:r>
              <a:rPr lang="en-US" sz="2000" dirty="0"/>
              <a:t>In the manufacturing pipeline, many products, such as apples, are sorted and packaged. How can such an assembly be made more efficient? </a:t>
            </a:r>
          </a:p>
        </p:txBody>
      </p:sp>
      <p:pic>
        <p:nvPicPr>
          <p:cNvPr id="4" name="Picture 3" descr="A row of apples on a conveyor belt">
            <a:extLst>
              <a:ext uri="{FF2B5EF4-FFF2-40B4-BE49-F238E27FC236}">
                <a16:creationId xmlns:a16="http://schemas.microsoft.com/office/drawing/2014/main" id="{47866C8F-4B99-C0DB-D9E3-69D6DBC8FF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84378" y="1713283"/>
            <a:ext cx="4280709" cy="2286000"/>
          </a:xfrm>
          <a:prstGeom prst="rect">
            <a:avLst/>
          </a:prstGeom>
        </p:spPr>
      </p:pic>
      <p:sp>
        <p:nvSpPr>
          <p:cNvPr id="5" name="TextBox 4">
            <a:extLst>
              <a:ext uri="{FF2B5EF4-FFF2-40B4-BE49-F238E27FC236}">
                <a16:creationId xmlns:a16="http://schemas.microsoft.com/office/drawing/2014/main" id="{CFBFF0C0-FE8E-FB61-DDBE-5E8C40ABB452}"/>
              </a:ext>
            </a:extLst>
          </p:cNvPr>
          <p:cNvSpPr txBox="1"/>
          <p:nvPr/>
        </p:nvSpPr>
        <p:spPr>
          <a:xfrm>
            <a:off x="706314" y="4179277"/>
            <a:ext cx="10779369" cy="2246769"/>
          </a:xfrm>
          <a:prstGeom prst="rect">
            <a:avLst/>
          </a:prstGeom>
          <a:noFill/>
        </p:spPr>
        <p:txBody>
          <a:bodyPr wrap="square" rtlCol="0">
            <a:spAutoFit/>
          </a:bodyPr>
          <a:lstStyle/>
          <a:p>
            <a:r>
              <a:rPr lang="en-US" sz="2000" dirty="0"/>
              <a:t>A producer is a role that provides the apples from the farm. A consumer is the role that receives raw apples and packages them for production. As you can see, the apple is a shared resource between the producer and consumer. Throughout the assembly of apples, there are two constraints. </a:t>
            </a:r>
          </a:p>
          <a:p>
            <a:pPr lvl="1"/>
            <a:r>
              <a:rPr lang="en-US" sz="2000" b="1" dirty="0"/>
              <a:t>C1:</a:t>
            </a:r>
            <a:r>
              <a:rPr lang="en-US" sz="2000" dirty="0"/>
              <a:t> If there are no apples, the consumer will wait for the producer to provide them. </a:t>
            </a:r>
          </a:p>
          <a:p>
            <a:pPr lvl="1"/>
            <a:endParaRPr lang="en-US" sz="2000" dirty="0"/>
          </a:p>
          <a:p>
            <a:pPr lvl="1"/>
            <a:r>
              <a:rPr lang="en-US" sz="2000" b="1" dirty="0"/>
              <a:t>C2: </a:t>
            </a:r>
            <a:r>
              <a:rPr lang="en-US" sz="2000" dirty="0"/>
              <a:t>If the apple provision is overridden, such as the threshold for maximum production, the producer will wait for the consumer to package the raw apples. </a:t>
            </a:r>
          </a:p>
        </p:txBody>
      </p:sp>
    </p:spTree>
    <p:extLst>
      <p:ext uri="{BB962C8B-B14F-4D97-AF65-F5344CB8AC3E}">
        <p14:creationId xmlns:p14="http://schemas.microsoft.com/office/powerpoint/2010/main" val="3696890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06011"/>
            <a:ext cx="9755080" cy="737510"/>
          </a:xfrm>
        </p:spPr>
        <p:txBody>
          <a:bodyPr>
            <a:noAutofit/>
          </a:bodyPr>
          <a:lstStyle/>
          <a:p>
            <a:r>
              <a:rPr lang="en-US" sz="4200" dirty="0">
                <a:solidFill>
                  <a:srgbClr val="C00000"/>
                </a:solidFill>
              </a:rPr>
              <a:t>Producer and consumer problem - 1</a:t>
            </a:r>
          </a:p>
        </p:txBody>
      </p:sp>
      <p:pic>
        <p:nvPicPr>
          <p:cNvPr id="9" name="Picture 8">
            <a:extLst>
              <a:ext uri="{FF2B5EF4-FFF2-40B4-BE49-F238E27FC236}">
                <a16:creationId xmlns:a16="http://schemas.microsoft.com/office/drawing/2014/main" id="{F4DA15F5-1277-AB05-3C70-3530978D39A6}"/>
              </a:ext>
            </a:extLst>
          </p:cNvPr>
          <p:cNvPicPr>
            <a:picLocks noChangeAspect="1"/>
          </p:cNvPicPr>
          <p:nvPr/>
        </p:nvPicPr>
        <p:blipFill>
          <a:blip r:embed="rId3"/>
          <a:stretch>
            <a:fillRect/>
          </a:stretch>
        </p:blipFill>
        <p:spPr>
          <a:xfrm>
            <a:off x="1907958" y="1781727"/>
            <a:ext cx="8376083" cy="4114800"/>
          </a:xfrm>
          <a:prstGeom prst="rect">
            <a:avLst/>
          </a:prstGeom>
        </p:spPr>
      </p:pic>
      <p:sp>
        <p:nvSpPr>
          <p:cNvPr id="3" name="TextBox 2">
            <a:extLst>
              <a:ext uri="{FF2B5EF4-FFF2-40B4-BE49-F238E27FC236}">
                <a16:creationId xmlns:a16="http://schemas.microsoft.com/office/drawing/2014/main" id="{702FEE85-0C59-7F94-6EC4-E6F62D9510B1}"/>
              </a:ext>
            </a:extLst>
          </p:cNvPr>
          <p:cNvSpPr txBox="1"/>
          <p:nvPr/>
        </p:nvSpPr>
        <p:spPr>
          <a:xfrm>
            <a:off x="1419827" y="1135470"/>
            <a:ext cx="9616633" cy="400110"/>
          </a:xfrm>
          <a:prstGeom prst="rect">
            <a:avLst/>
          </a:prstGeom>
          <a:noFill/>
        </p:spPr>
        <p:txBody>
          <a:bodyPr wrap="square" rtlCol="0">
            <a:spAutoFit/>
          </a:bodyPr>
          <a:lstStyle/>
          <a:p>
            <a:r>
              <a:rPr lang="en-US" sz="2000" dirty="0"/>
              <a:t>In the example, there is a bounded buffer. </a:t>
            </a:r>
          </a:p>
        </p:txBody>
      </p:sp>
    </p:spTree>
    <p:extLst>
      <p:ext uri="{BB962C8B-B14F-4D97-AF65-F5344CB8AC3E}">
        <p14:creationId xmlns:p14="http://schemas.microsoft.com/office/powerpoint/2010/main" val="827655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248137"/>
            <a:ext cx="9755080" cy="737510"/>
          </a:xfrm>
        </p:spPr>
        <p:txBody>
          <a:bodyPr>
            <a:noAutofit/>
          </a:bodyPr>
          <a:lstStyle/>
          <a:p>
            <a:r>
              <a:rPr lang="en-US" sz="4200" dirty="0">
                <a:solidFill>
                  <a:srgbClr val="C00000"/>
                </a:solidFill>
              </a:rPr>
              <a:t>Producer and consumer problem - 2</a:t>
            </a:r>
          </a:p>
        </p:txBody>
      </p:sp>
      <p:pic>
        <p:nvPicPr>
          <p:cNvPr id="4" name="Picture 3">
            <a:extLst>
              <a:ext uri="{FF2B5EF4-FFF2-40B4-BE49-F238E27FC236}">
                <a16:creationId xmlns:a16="http://schemas.microsoft.com/office/drawing/2014/main" id="{455AE956-2AB3-738F-2AD6-84211D338742}"/>
              </a:ext>
            </a:extLst>
          </p:cNvPr>
          <p:cNvPicPr>
            <a:picLocks noChangeAspect="1"/>
          </p:cNvPicPr>
          <p:nvPr/>
        </p:nvPicPr>
        <p:blipFill>
          <a:blip r:embed="rId3"/>
          <a:stretch>
            <a:fillRect/>
          </a:stretch>
        </p:blipFill>
        <p:spPr>
          <a:xfrm>
            <a:off x="1695450" y="1817411"/>
            <a:ext cx="8801100" cy="4114800"/>
          </a:xfrm>
          <a:prstGeom prst="rect">
            <a:avLst/>
          </a:prstGeom>
        </p:spPr>
      </p:pic>
      <p:sp>
        <p:nvSpPr>
          <p:cNvPr id="3" name="TextBox 2">
            <a:extLst>
              <a:ext uri="{FF2B5EF4-FFF2-40B4-BE49-F238E27FC236}">
                <a16:creationId xmlns:a16="http://schemas.microsoft.com/office/drawing/2014/main" id="{C3BC9620-3DCE-85D5-4C9F-510F030137F1}"/>
              </a:ext>
            </a:extLst>
          </p:cNvPr>
          <p:cNvSpPr txBox="1"/>
          <p:nvPr/>
        </p:nvSpPr>
        <p:spPr>
          <a:xfrm>
            <a:off x="1419827" y="1135470"/>
            <a:ext cx="9616633" cy="400110"/>
          </a:xfrm>
          <a:prstGeom prst="rect">
            <a:avLst/>
          </a:prstGeom>
          <a:noFill/>
        </p:spPr>
        <p:txBody>
          <a:bodyPr wrap="square" rtlCol="0">
            <a:spAutoFit/>
          </a:bodyPr>
          <a:lstStyle/>
          <a:p>
            <a:r>
              <a:rPr lang="en-US" sz="2000" dirty="0"/>
              <a:t>In the example</a:t>
            </a:r>
            <a:r>
              <a:rPr lang="en-US" sz="2000"/>
              <a:t>, we </a:t>
            </a:r>
            <a:r>
              <a:rPr lang="en-US" sz="2000" dirty="0"/>
              <a:t>need the lock to put() and get() because they are critical sections. </a:t>
            </a:r>
          </a:p>
        </p:txBody>
      </p:sp>
    </p:spTree>
    <p:extLst>
      <p:ext uri="{BB962C8B-B14F-4D97-AF65-F5344CB8AC3E}">
        <p14:creationId xmlns:p14="http://schemas.microsoft.com/office/powerpoint/2010/main" val="1665119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Producer and consumer problem - 3</a:t>
            </a:r>
          </a:p>
        </p:txBody>
      </p:sp>
      <p:pic>
        <p:nvPicPr>
          <p:cNvPr id="5" name="Picture 4">
            <a:extLst>
              <a:ext uri="{FF2B5EF4-FFF2-40B4-BE49-F238E27FC236}">
                <a16:creationId xmlns:a16="http://schemas.microsoft.com/office/drawing/2014/main" id="{42D328DE-A6C3-A1E2-69F6-076E6E54E70A}"/>
              </a:ext>
            </a:extLst>
          </p:cNvPr>
          <p:cNvPicPr>
            <a:picLocks noChangeAspect="1"/>
          </p:cNvPicPr>
          <p:nvPr/>
        </p:nvPicPr>
        <p:blipFill>
          <a:blip r:embed="rId3"/>
          <a:stretch>
            <a:fillRect/>
          </a:stretch>
        </p:blipFill>
        <p:spPr>
          <a:xfrm>
            <a:off x="1810076" y="1464870"/>
            <a:ext cx="8571848" cy="4114800"/>
          </a:xfrm>
          <a:prstGeom prst="rect">
            <a:avLst/>
          </a:prstGeom>
        </p:spPr>
      </p:pic>
      <p:sp>
        <p:nvSpPr>
          <p:cNvPr id="3" name="TextBox 2">
            <a:extLst>
              <a:ext uri="{FF2B5EF4-FFF2-40B4-BE49-F238E27FC236}">
                <a16:creationId xmlns:a16="http://schemas.microsoft.com/office/drawing/2014/main" id="{63C0D7F1-2E41-C0B2-9938-B79875413452}"/>
              </a:ext>
            </a:extLst>
          </p:cNvPr>
          <p:cNvSpPr txBox="1"/>
          <p:nvPr/>
        </p:nvSpPr>
        <p:spPr>
          <a:xfrm>
            <a:off x="6916617" y="2497244"/>
            <a:ext cx="4841629" cy="369332"/>
          </a:xfrm>
          <a:prstGeom prst="rect">
            <a:avLst/>
          </a:prstGeom>
          <a:noFill/>
        </p:spPr>
        <p:txBody>
          <a:bodyPr wrap="square" rtlCol="0">
            <a:spAutoFit/>
          </a:bodyPr>
          <a:lstStyle/>
          <a:p>
            <a:r>
              <a:rPr lang="en-US" dirty="0">
                <a:solidFill>
                  <a:srgbClr val="FF0000"/>
                </a:solidFill>
              </a:rPr>
              <a:t>Q: What does the counter’s value set to 1 mean?</a:t>
            </a:r>
          </a:p>
        </p:txBody>
      </p:sp>
      <p:sp>
        <p:nvSpPr>
          <p:cNvPr id="8" name="Rectangle 7">
            <a:extLst>
              <a:ext uri="{FF2B5EF4-FFF2-40B4-BE49-F238E27FC236}">
                <a16:creationId xmlns:a16="http://schemas.microsoft.com/office/drawing/2014/main" id="{D059F63F-D16D-FA00-6C43-A9F90B5CD38E}"/>
              </a:ext>
            </a:extLst>
          </p:cNvPr>
          <p:cNvSpPr/>
          <p:nvPr/>
        </p:nvSpPr>
        <p:spPr>
          <a:xfrm>
            <a:off x="3587262" y="3194538"/>
            <a:ext cx="4501661" cy="3106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122A8AA-7D4E-4DF9-0C43-939DBD5ACA13}"/>
              </a:ext>
            </a:extLst>
          </p:cNvPr>
          <p:cNvSpPr/>
          <p:nvPr/>
        </p:nvSpPr>
        <p:spPr>
          <a:xfrm>
            <a:off x="3587262" y="3563815"/>
            <a:ext cx="5861538" cy="5568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BE9CF0-4A83-2652-BDAB-5B5577794AAE}"/>
              </a:ext>
            </a:extLst>
          </p:cNvPr>
          <p:cNvSpPr/>
          <p:nvPr/>
        </p:nvSpPr>
        <p:spPr>
          <a:xfrm>
            <a:off x="3587262" y="4390292"/>
            <a:ext cx="4378569" cy="2930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E8F8571-BDFB-9C24-A3B2-08E8B37F989F}"/>
              </a:ext>
            </a:extLst>
          </p:cNvPr>
          <p:cNvSpPr/>
          <p:nvPr/>
        </p:nvSpPr>
        <p:spPr>
          <a:xfrm>
            <a:off x="3587262" y="4736123"/>
            <a:ext cx="4630615" cy="2930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3226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Producer and consumer problem - 4</a:t>
            </a:r>
          </a:p>
        </p:txBody>
      </p:sp>
      <p:pic>
        <p:nvPicPr>
          <p:cNvPr id="4" name="Picture 3">
            <a:extLst>
              <a:ext uri="{FF2B5EF4-FFF2-40B4-BE49-F238E27FC236}">
                <a16:creationId xmlns:a16="http://schemas.microsoft.com/office/drawing/2014/main" id="{5DE17F59-D378-6D53-7546-3FF277F0A2CC}"/>
              </a:ext>
            </a:extLst>
          </p:cNvPr>
          <p:cNvPicPr>
            <a:picLocks noChangeAspect="1"/>
          </p:cNvPicPr>
          <p:nvPr/>
        </p:nvPicPr>
        <p:blipFill>
          <a:blip r:embed="rId3"/>
          <a:stretch>
            <a:fillRect/>
          </a:stretch>
        </p:blipFill>
        <p:spPr>
          <a:xfrm>
            <a:off x="1153163" y="1763603"/>
            <a:ext cx="9885674" cy="3840480"/>
          </a:xfrm>
          <a:prstGeom prst="rect">
            <a:avLst/>
          </a:prstGeom>
        </p:spPr>
      </p:pic>
      <p:sp>
        <p:nvSpPr>
          <p:cNvPr id="5" name="Rectangle 4">
            <a:extLst>
              <a:ext uri="{FF2B5EF4-FFF2-40B4-BE49-F238E27FC236}">
                <a16:creationId xmlns:a16="http://schemas.microsoft.com/office/drawing/2014/main" id="{80BABD83-1271-8A1D-EA1E-E4B26F37BA43}"/>
              </a:ext>
            </a:extLst>
          </p:cNvPr>
          <p:cNvSpPr/>
          <p:nvPr/>
        </p:nvSpPr>
        <p:spPr>
          <a:xfrm>
            <a:off x="2860431" y="2602523"/>
            <a:ext cx="3950677" cy="2579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8001212-8208-5976-0661-4AB1D1E77952}"/>
              </a:ext>
            </a:extLst>
          </p:cNvPr>
          <p:cNvSpPr/>
          <p:nvPr/>
        </p:nvSpPr>
        <p:spPr>
          <a:xfrm>
            <a:off x="2860431" y="2919046"/>
            <a:ext cx="5339861" cy="5099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2D1AAD-1C22-99FB-574C-BB665E86B9AD}"/>
              </a:ext>
            </a:extLst>
          </p:cNvPr>
          <p:cNvSpPr/>
          <p:nvPr/>
        </p:nvSpPr>
        <p:spPr>
          <a:xfrm>
            <a:off x="2860431" y="3704492"/>
            <a:ext cx="4021015" cy="2344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21908F3-6CE7-47C6-881A-B5C675D5F4AA}"/>
              </a:ext>
            </a:extLst>
          </p:cNvPr>
          <p:cNvSpPr/>
          <p:nvPr/>
        </p:nvSpPr>
        <p:spPr>
          <a:xfrm>
            <a:off x="2860431" y="3997569"/>
            <a:ext cx="4226169" cy="2168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AC7201A-2494-ED01-3260-2F5E62EDFD5E}"/>
              </a:ext>
            </a:extLst>
          </p:cNvPr>
          <p:cNvSpPr txBox="1"/>
          <p:nvPr/>
        </p:nvSpPr>
        <p:spPr>
          <a:xfrm>
            <a:off x="6488723" y="1945523"/>
            <a:ext cx="4853354" cy="369332"/>
          </a:xfrm>
          <a:prstGeom prst="rect">
            <a:avLst/>
          </a:prstGeom>
          <a:noFill/>
        </p:spPr>
        <p:txBody>
          <a:bodyPr wrap="square">
            <a:spAutoFit/>
          </a:bodyPr>
          <a:lstStyle/>
          <a:p>
            <a:r>
              <a:rPr lang="en-US" dirty="0">
                <a:solidFill>
                  <a:srgbClr val="FF0000"/>
                </a:solidFill>
              </a:rPr>
              <a:t>Q: What does the counter’s value set to 0 mean?</a:t>
            </a:r>
          </a:p>
        </p:txBody>
      </p:sp>
    </p:spTree>
    <p:extLst>
      <p:ext uri="{BB962C8B-B14F-4D97-AF65-F5344CB8AC3E}">
        <p14:creationId xmlns:p14="http://schemas.microsoft.com/office/powerpoint/2010/main" val="558018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Producer and consumer problem - 5 </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000876" y="1347497"/>
            <a:ext cx="9118146" cy="4760226"/>
          </a:xfrm>
        </p:spPr>
        <p:txBody>
          <a:bodyPr>
            <a:noAutofit/>
          </a:bodyPr>
          <a:lstStyle/>
          <a:p>
            <a:pPr marL="342900" indent="-342900" algn="l">
              <a:lnSpc>
                <a:spcPct val="150000"/>
              </a:lnSpc>
              <a:buFont typeface="Arial" panose="020B0604020202020204" pitchFamily="34" charset="0"/>
              <a:buChar char="•"/>
            </a:pPr>
            <a:r>
              <a:rPr lang="en-US" dirty="0"/>
              <a:t>The issue</a:t>
            </a:r>
          </a:p>
          <a:p>
            <a:pPr marL="800100" lvl="1" indent="-342900" algn="l">
              <a:lnSpc>
                <a:spcPct val="150000"/>
              </a:lnSpc>
              <a:buFont typeface="Wingdings" panose="05000000000000000000" pitchFamily="2" charset="2"/>
              <a:buChar char="§"/>
            </a:pPr>
            <a:r>
              <a:rPr lang="en-US" dirty="0"/>
              <a:t>There are two consumers and one producer.</a:t>
            </a:r>
          </a:p>
          <a:p>
            <a:pPr marL="800100" lvl="1" indent="-342900" algn="l">
              <a:lnSpc>
                <a:spcPct val="150000"/>
              </a:lnSpc>
              <a:buFont typeface="Wingdings" panose="05000000000000000000" pitchFamily="2" charset="2"/>
              <a:buChar char="§"/>
            </a:pPr>
            <a:r>
              <a:rPr lang="en-US" dirty="0"/>
              <a:t>When C1 waits for the full buffer, one producer calls put() to satisfy the buffer for only one consumer and then sleeps.</a:t>
            </a:r>
          </a:p>
          <a:p>
            <a:pPr marL="800100" lvl="1" indent="-342900" algn="l">
              <a:lnSpc>
                <a:spcPct val="150000"/>
              </a:lnSpc>
              <a:buFont typeface="Wingdings" panose="05000000000000000000" pitchFamily="2" charset="2"/>
              <a:buChar char="§"/>
            </a:pPr>
            <a:r>
              <a:rPr lang="en-US" dirty="0"/>
              <a:t>Before C1 gets the buffer, C2 is quicker than C1 getting the buffer, but not wakes the producer. As a result, C1 waits for the buffer, but the producer who makes the buffer full is sleep. </a:t>
            </a:r>
          </a:p>
          <a:p>
            <a:pPr marL="342900" indent="-342900" algn="l">
              <a:lnSpc>
                <a:spcPct val="150000"/>
              </a:lnSpc>
              <a:buFont typeface="Arial" panose="020B0604020202020204" pitchFamily="34" charset="0"/>
              <a:buChar char="•"/>
            </a:pPr>
            <a:r>
              <a:rPr lang="en-US" sz="2000" dirty="0"/>
              <a:t>The solution to this issue</a:t>
            </a:r>
          </a:p>
          <a:p>
            <a:pPr marL="800100" lvl="1" indent="-342900" algn="l">
              <a:lnSpc>
                <a:spcPct val="150000"/>
              </a:lnSpc>
              <a:buFont typeface="Wingdings" panose="05000000000000000000" pitchFamily="2" charset="2"/>
              <a:buChar char="§"/>
            </a:pPr>
            <a:r>
              <a:rPr lang="en-US" dirty="0"/>
              <a:t> On the next page</a:t>
            </a:r>
          </a:p>
        </p:txBody>
      </p:sp>
    </p:spTree>
    <p:extLst>
      <p:ext uri="{BB962C8B-B14F-4D97-AF65-F5344CB8AC3E}">
        <p14:creationId xmlns:p14="http://schemas.microsoft.com/office/powerpoint/2010/main" val="2218380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Single CV and while - 1</a:t>
            </a:r>
          </a:p>
        </p:txBody>
      </p:sp>
      <p:pic>
        <p:nvPicPr>
          <p:cNvPr id="5" name="Picture 4">
            <a:extLst>
              <a:ext uri="{FF2B5EF4-FFF2-40B4-BE49-F238E27FC236}">
                <a16:creationId xmlns:a16="http://schemas.microsoft.com/office/drawing/2014/main" id="{605CF232-599A-3E3A-C122-C5ABA02E9857}"/>
              </a:ext>
            </a:extLst>
          </p:cNvPr>
          <p:cNvPicPr>
            <a:picLocks noChangeAspect="1"/>
          </p:cNvPicPr>
          <p:nvPr/>
        </p:nvPicPr>
        <p:blipFill>
          <a:blip r:embed="rId3"/>
          <a:stretch>
            <a:fillRect/>
          </a:stretch>
        </p:blipFill>
        <p:spPr>
          <a:xfrm>
            <a:off x="1716230" y="1423335"/>
            <a:ext cx="8759540" cy="4114800"/>
          </a:xfrm>
          <a:prstGeom prst="rect">
            <a:avLst/>
          </a:prstGeom>
        </p:spPr>
      </p:pic>
      <p:sp>
        <p:nvSpPr>
          <p:cNvPr id="3" name="Rectangle 2">
            <a:extLst>
              <a:ext uri="{FF2B5EF4-FFF2-40B4-BE49-F238E27FC236}">
                <a16:creationId xmlns:a16="http://schemas.microsoft.com/office/drawing/2014/main" id="{DEC8EAF6-D02C-84A7-BFB3-0A91A245834F}"/>
              </a:ext>
            </a:extLst>
          </p:cNvPr>
          <p:cNvSpPr/>
          <p:nvPr/>
        </p:nvSpPr>
        <p:spPr>
          <a:xfrm>
            <a:off x="3516923" y="3540369"/>
            <a:ext cx="5967046" cy="6096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6427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Single CV and while - 2</a:t>
            </a:r>
          </a:p>
        </p:txBody>
      </p:sp>
      <p:pic>
        <p:nvPicPr>
          <p:cNvPr id="4" name="Picture 3">
            <a:extLst>
              <a:ext uri="{FF2B5EF4-FFF2-40B4-BE49-F238E27FC236}">
                <a16:creationId xmlns:a16="http://schemas.microsoft.com/office/drawing/2014/main" id="{EF391E69-B79C-43B3-B4FC-44341410CEB7}"/>
              </a:ext>
            </a:extLst>
          </p:cNvPr>
          <p:cNvPicPr>
            <a:picLocks noChangeAspect="1"/>
          </p:cNvPicPr>
          <p:nvPr/>
        </p:nvPicPr>
        <p:blipFill>
          <a:blip r:embed="rId3"/>
          <a:stretch>
            <a:fillRect/>
          </a:stretch>
        </p:blipFill>
        <p:spPr>
          <a:xfrm>
            <a:off x="1266217" y="1551006"/>
            <a:ext cx="9659566" cy="4114800"/>
          </a:xfrm>
          <a:prstGeom prst="rect">
            <a:avLst/>
          </a:prstGeom>
        </p:spPr>
      </p:pic>
      <p:sp>
        <p:nvSpPr>
          <p:cNvPr id="3" name="Rectangle 2">
            <a:extLst>
              <a:ext uri="{FF2B5EF4-FFF2-40B4-BE49-F238E27FC236}">
                <a16:creationId xmlns:a16="http://schemas.microsoft.com/office/drawing/2014/main" id="{25E190EC-7B83-549A-D274-8E9C4D46E770}"/>
              </a:ext>
            </a:extLst>
          </p:cNvPr>
          <p:cNvSpPr/>
          <p:nvPr/>
        </p:nvSpPr>
        <p:spPr>
          <a:xfrm>
            <a:off x="3006969" y="2678723"/>
            <a:ext cx="5457093" cy="5216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5390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Issue </a:t>
            </a:r>
            <a:r>
              <a:rPr lang="en-US" sz="4200">
                <a:solidFill>
                  <a:srgbClr val="C00000"/>
                </a:solidFill>
              </a:rPr>
              <a:t>from single </a:t>
            </a:r>
            <a:r>
              <a:rPr lang="en-US" sz="4200" dirty="0">
                <a:solidFill>
                  <a:srgbClr val="C00000"/>
                </a:solidFill>
              </a:rPr>
              <a:t>CV</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000876" y="1347497"/>
            <a:ext cx="9118146" cy="4277799"/>
          </a:xfrm>
        </p:spPr>
        <p:txBody>
          <a:bodyPr>
            <a:noAutofit/>
          </a:bodyPr>
          <a:lstStyle/>
          <a:p>
            <a:pPr marL="342900" indent="-342900" algn="l">
              <a:lnSpc>
                <a:spcPct val="150000"/>
              </a:lnSpc>
              <a:buFont typeface="Arial" panose="020B0604020202020204" pitchFamily="34" charset="0"/>
              <a:buChar char="•"/>
            </a:pPr>
            <a:r>
              <a:rPr lang="en-US" dirty="0"/>
              <a:t>The issue</a:t>
            </a:r>
          </a:p>
          <a:p>
            <a:pPr marL="800100" lvl="1" indent="-342900" algn="l">
              <a:lnSpc>
                <a:spcPct val="150000"/>
              </a:lnSpc>
              <a:buFont typeface="Wingdings" panose="05000000000000000000" pitchFamily="2" charset="2"/>
              <a:buChar char="§"/>
            </a:pPr>
            <a:r>
              <a:rPr lang="en-US" dirty="0"/>
              <a:t>There are two consumers and one producer.</a:t>
            </a:r>
          </a:p>
          <a:p>
            <a:pPr marL="800100" lvl="1" indent="-342900" algn="l">
              <a:lnSpc>
                <a:spcPct val="150000"/>
              </a:lnSpc>
              <a:buFont typeface="Wingdings" panose="05000000000000000000" pitchFamily="2" charset="2"/>
              <a:buChar char="§"/>
            </a:pPr>
            <a:r>
              <a:rPr lang="en-US" dirty="0"/>
              <a:t>When C1 and C2 wait for the full buffer, one producer calls put() to satisfy the buffer for only one consumer and then sleeps.</a:t>
            </a:r>
          </a:p>
          <a:p>
            <a:pPr marL="800100" lvl="1" indent="-342900" algn="l">
              <a:lnSpc>
                <a:spcPct val="150000"/>
              </a:lnSpc>
              <a:buFont typeface="Wingdings" panose="05000000000000000000" pitchFamily="2" charset="2"/>
              <a:buChar char="§"/>
            </a:pPr>
            <a:r>
              <a:rPr lang="en-US" dirty="0"/>
              <a:t>Before C1 gets the buffer, C2 is quicker than C1 getting the buffer, but not wakes the producer. As a result, C1 waits for the buffer, but the producer who makes the buffer full is asleep. </a:t>
            </a:r>
          </a:p>
          <a:p>
            <a:pPr algn="l">
              <a:lnSpc>
                <a:spcPct val="150000"/>
              </a:lnSpc>
            </a:pPr>
            <a:endParaRPr lang="en-US" sz="2000" dirty="0"/>
          </a:p>
        </p:txBody>
      </p:sp>
    </p:spTree>
    <p:extLst>
      <p:ext uri="{BB962C8B-B14F-4D97-AF65-F5344CB8AC3E}">
        <p14:creationId xmlns:p14="http://schemas.microsoft.com/office/powerpoint/2010/main" val="2153710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Two CV and while - 1</a:t>
            </a:r>
          </a:p>
        </p:txBody>
      </p:sp>
      <p:pic>
        <p:nvPicPr>
          <p:cNvPr id="4" name="Picture 3">
            <a:extLst>
              <a:ext uri="{FF2B5EF4-FFF2-40B4-BE49-F238E27FC236}">
                <a16:creationId xmlns:a16="http://schemas.microsoft.com/office/drawing/2014/main" id="{D2B7C519-E72C-D9E2-9A59-2BBADCD01DCB}"/>
              </a:ext>
            </a:extLst>
          </p:cNvPr>
          <p:cNvPicPr>
            <a:picLocks noChangeAspect="1"/>
          </p:cNvPicPr>
          <p:nvPr/>
        </p:nvPicPr>
        <p:blipFill>
          <a:blip r:embed="rId3"/>
          <a:stretch>
            <a:fillRect/>
          </a:stretch>
        </p:blipFill>
        <p:spPr>
          <a:xfrm>
            <a:off x="1802781" y="1370583"/>
            <a:ext cx="8586437" cy="4572000"/>
          </a:xfrm>
          <a:prstGeom prst="rect">
            <a:avLst/>
          </a:prstGeom>
        </p:spPr>
      </p:pic>
      <p:sp>
        <p:nvSpPr>
          <p:cNvPr id="3" name="Rectangle 2">
            <a:extLst>
              <a:ext uri="{FF2B5EF4-FFF2-40B4-BE49-F238E27FC236}">
                <a16:creationId xmlns:a16="http://schemas.microsoft.com/office/drawing/2014/main" id="{BDD3F155-5925-BDB1-98EE-D93B3CD10FD1}"/>
              </a:ext>
            </a:extLst>
          </p:cNvPr>
          <p:cNvSpPr/>
          <p:nvPr/>
        </p:nvSpPr>
        <p:spPr>
          <a:xfrm>
            <a:off x="2385646" y="1370583"/>
            <a:ext cx="3645877" cy="33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5203B3-961D-1F7C-A909-3A49AE8AB1CE}"/>
              </a:ext>
            </a:extLst>
          </p:cNvPr>
          <p:cNvSpPr/>
          <p:nvPr/>
        </p:nvSpPr>
        <p:spPr>
          <a:xfrm>
            <a:off x="3768969" y="3640015"/>
            <a:ext cx="6676293" cy="7033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4770FCB-0044-07E9-FC94-BEA6FD8A31C9}"/>
              </a:ext>
            </a:extLst>
          </p:cNvPr>
          <p:cNvSpPr/>
          <p:nvPr/>
        </p:nvSpPr>
        <p:spPr>
          <a:xfrm>
            <a:off x="3768969" y="4654062"/>
            <a:ext cx="4741985" cy="26963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7986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Two CV and while - 2</a:t>
            </a:r>
          </a:p>
        </p:txBody>
      </p:sp>
      <p:pic>
        <p:nvPicPr>
          <p:cNvPr id="5" name="Picture 4">
            <a:extLst>
              <a:ext uri="{FF2B5EF4-FFF2-40B4-BE49-F238E27FC236}">
                <a16:creationId xmlns:a16="http://schemas.microsoft.com/office/drawing/2014/main" id="{408826B0-6673-DADB-60AB-6B276DD1741C}"/>
              </a:ext>
            </a:extLst>
          </p:cNvPr>
          <p:cNvPicPr>
            <a:picLocks noChangeAspect="1"/>
          </p:cNvPicPr>
          <p:nvPr/>
        </p:nvPicPr>
        <p:blipFill>
          <a:blip r:embed="rId3"/>
          <a:stretch>
            <a:fillRect/>
          </a:stretch>
        </p:blipFill>
        <p:spPr>
          <a:xfrm>
            <a:off x="1199414" y="1600200"/>
            <a:ext cx="9793171" cy="3657600"/>
          </a:xfrm>
          <a:prstGeom prst="rect">
            <a:avLst/>
          </a:prstGeom>
        </p:spPr>
      </p:pic>
      <p:sp>
        <p:nvSpPr>
          <p:cNvPr id="3" name="Rectangle 2">
            <a:extLst>
              <a:ext uri="{FF2B5EF4-FFF2-40B4-BE49-F238E27FC236}">
                <a16:creationId xmlns:a16="http://schemas.microsoft.com/office/drawing/2014/main" id="{E6D92124-BB62-4B02-65B4-018939E478A9}"/>
              </a:ext>
            </a:extLst>
          </p:cNvPr>
          <p:cNvSpPr/>
          <p:nvPr/>
        </p:nvSpPr>
        <p:spPr>
          <a:xfrm>
            <a:off x="3030415" y="2743200"/>
            <a:ext cx="5509847" cy="5509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97DC63A-B8A2-6C1E-C1D3-16DE542F8E0D}"/>
              </a:ext>
            </a:extLst>
          </p:cNvPr>
          <p:cNvSpPr/>
          <p:nvPr/>
        </p:nvSpPr>
        <p:spPr>
          <a:xfrm>
            <a:off x="3030415" y="3593123"/>
            <a:ext cx="4290647" cy="2403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69749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The correct put() and get()</a:t>
            </a:r>
          </a:p>
        </p:txBody>
      </p:sp>
      <p:pic>
        <p:nvPicPr>
          <p:cNvPr id="5" name="Picture 4">
            <a:extLst>
              <a:ext uri="{FF2B5EF4-FFF2-40B4-BE49-F238E27FC236}">
                <a16:creationId xmlns:a16="http://schemas.microsoft.com/office/drawing/2014/main" id="{3C55EC08-2040-E7AE-0EBB-C2C9E4F029A5}"/>
              </a:ext>
            </a:extLst>
          </p:cNvPr>
          <p:cNvPicPr>
            <a:picLocks noChangeAspect="1"/>
          </p:cNvPicPr>
          <p:nvPr/>
        </p:nvPicPr>
        <p:blipFill>
          <a:blip r:embed="rId3"/>
          <a:stretch>
            <a:fillRect/>
          </a:stretch>
        </p:blipFill>
        <p:spPr>
          <a:xfrm>
            <a:off x="2194818" y="1361823"/>
            <a:ext cx="7802364" cy="4572000"/>
          </a:xfrm>
          <a:prstGeom prst="rect">
            <a:avLst/>
          </a:prstGeom>
        </p:spPr>
      </p:pic>
      <p:sp>
        <p:nvSpPr>
          <p:cNvPr id="3" name="Rectangle 2">
            <a:extLst>
              <a:ext uri="{FF2B5EF4-FFF2-40B4-BE49-F238E27FC236}">
                <a16:creationId xmlns:a16="http://schemas.microsoft.com/office/drawing/2014/main" id="{FCE3E101-1559-2A1A-B54C-55E17DBA7A3D}"/>
              </a:ext>
            </a:extLst>
          </p:cNvPr>
          <p:cNvSpPr/>
          <p:nvPr/>
        </p:nvSpPr>
        <p:spPr>
          <a:xfrm>
            <a:off x="3141785" y="3100754"/>
            <a:ext cx="3200400" cy="5216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B8D4881-62A2-72AE-DACA-2A81A2AE1269}"/>
              </a:ext>
            </a:extLst>
          </p:cNvPr>
          <p:cNvSpPr/>
          <p:nvPr/>
        </p:nvSpPr>
        <p:spPr>
          <a:xfrm>
            <a:off x="3141785" y="4624754"/>
            <a:ext cx="2954215" cy="4747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3289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1383</TotalTime>
  <Words>904</Words>
  <Application>Microsoft Office PowerPoint</Application>
  <PresentationFormat>Widescreen</PresentationFormat>
  <Paragraphs>83</Paragraphs>
  <Slides>21</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Wingdings</vt:lpstr>
      <vt:lpstr>Office Theme</vt:lpstr>
      <vt:lpstr>PowerPoint Presentation</vt:lpstr>
      <vt:lpstr>Reading Assignment</vt:lpstr>
      <vt:lpstr>Agenda</vt:lpstr>
      <vt:lpstr>The motivation </vt:lpstr>
      <vt:lpstr>Definition of condition variable</vt:lpstr>
      <vt:lpstr>The example of parent waiting for child</vt:lpstr>
      <vt:lpstr>Issues of only using wait() and signal()</vt:lpstr>
      <vt:lpstr>What is the issues raised without the lock?</vt:lpstr>
      <vt:lpstr>The example of the loop in mutex_lock</vt:lpstr>
      <vt:lpstr>Producer and consumer problem - 0</vt:lpstr>
      <vt:lpstr>Producer and consumer problem - 1</vt:lpstr>
      <vt:lpstr>Producer and consumer problem - 2</vt:lpstr>
      <vt:lpstr>Producer and consumer problem - 3</vt:lpstr>
      <vt:lpstr>Producer and consumer problem - 4</vt:lpstr>
      <vt:lpstr>Producer and consumer problem - 5 </vt:lpstr>
      <vt:lpstr>Single CV and while - 1</vt:lpstr>
      <vt:lpstr>Single CV and while - 2</vt:lpstr>
      <vt:lpstr>Issue from single CV</vt:lpstr>
      <vt:lpstr>Two CV and while - 1</vt:lpstr>
      <vt:lpstr>Two CV and while - 2</vt:lpstr>
      <vt:lpstr>The correct put() and get()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 Zhao</dc:creator>
  <cp:lastModifiedBy>Zhao, Jie</cp:lastModifiedBy>
  <cp:revision>7</cp:revision>
  <dcterms:created xsi:type="dcterms:W3CDTF">2023-08-19T20:44:10Z</dcterms:created>
  <dcterms:modified xsi:type="dcterms:W3CDTF">2026-04-05T22:58:02Z</dcterms:modified>
</cp:coreProperties>
</file>