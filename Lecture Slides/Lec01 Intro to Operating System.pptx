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94" r:id="rId4"/>
    <p:sldId id="281" r:id="rId5"/>
    <p:sldId id="295" r:id="rId6"/>
    <p:sldId id="285" r:id="rId7"/>
    <p:sldId id="297" r:id="rId8"/>
    <p:sldId id="293" r:id="rId9"/>
    <p:sldId id="296" r:id="rId10"/>
    <p:sldId id="287" r:id="rId11"/>
    <p:sldId id="288" r:id="rId12"/>
    <p:sldId id="289" r:id="rId13"/>
    <p:sldId id="290" r:id="rId14"/>
    <p:sldId id="291" r:id="rId15"/>
    <p:sldId id="29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76426" autoAdjust="0"/>
  </p:normalViewPr>
  <p:slideViewPr>
    <p:cSldViewPr snapToGrid="0">
      <p:cViewPr varScale="1">
        <p:scale>
          <a:sx n="64" d="100"/>
          <a:sy n="64" d="100"/>
        </p:scale>
        <p:origin x="979"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Jie" userId="7be6526a-30ba-445c-b3a9-aabf2c8f5828" providerId="ADAL" clId="{DEC740C7-2239-4DCB-A2EC-28D5B021DFB5}"/>
    <pc:docChg chg="undo custSel addSld modSld">
      <pc:chgData name="Zhao, Jie" userId="7be6526a-30ba-445c-b3a9-aabf2c8f5828" providerId="ADAL" clId="{DEC740C7-2239-4DCB-A2EC-28D5B021DFB5}" dt="2026-01-14T17:39:41.510" v="1164" actId="20577"/>
      <pc:docMkLst>
        <pc:docMk/>
      </pc:docMkLst>
      <pc:sldChg chg="modSp mod">
        <pc:chgData name="Zhao, Jie" userId="7be6526a-30ba-445c-b3a9-aabf2c8f5828" providerId="ADAL" clId="{DEC740C7-2239-4DCB-A2EC-28D5B021DFB5}" dt="2026-01-14T17:35:30.067" v="1020" actId="20577"/>
        <pc:sldMkLst>
          <pc:docMk/>
          <pc:sldMk cId="2199995263" sldId="256"/>
        </pc:sldMkLst>
        <pc:spChg chg="mod">
          <ac:chgData name="Zhao, Jie" userId="7be6526a-30ba-445c-b3a9-aabf2c8f5828" providerId="ADAL" clId="{DEC740C7-2239-4DCB-A2EC-28D5B021DFB5}" dt="2026-01-14T17:35:30.067" v="1020" actId="20577"/>
          <ac:spMkLst>
            <pc:docMk/>
            <pc:sldMk cId="2199995263" sldId="256"/>
            <ac:spMk id="3" creationId="{2C5DF914-4B40-4A23-8AAC-9CFE7F215ACD}"/>
          </ac:spMkLst>
        </pc:spChg>
      </pc:sldChg>
      <pc:sldChg chg="modSp mod">
        <pc:chgData name="Zhao, Jie" userId="7be6526a-30ba-445c-b3a9-aabf2c8f5828" providerId="ADAL" clId="{DEC740C7-2239-4DCB-A2EC-28D5B021DFB5}" dt="2026-01-14T17:37:20.850" v="1150" actId="20577"/>
        <pc:sldMkLst>
          <pc:docMk/>
          <pc:sldMk cId="3760905314" sldId="281"/>
        </pc:sldMkLst>
        <pc:spChg chg="mod">
          <ac:chgData name="Zhao, Jie" userId="7be6526a-30ba-445c-b3a9-aabf2c8f5828" providerId="ADAL" clId="{DEC740C7-2239-4DCB-A2EC-28D5B021DFB5}" dt="2026-01-14T17:37:20.850" v="1150" actId="20577"/>
          <ac:spMkLst>
            <pc:docMk/>
            <pc:sldMk cId="3760905314" sldId="281"/>
            <ac:spMk id="3" creationId="{2C5DF914-4B40-4A23-8AAC-9CFE7F215ACD}"/>
          </ac:spMkLst>
        </pc:spChg>
      </pc:sldChg>
      <pc:sldChg chg="modSp mod">
        <pc:chgData name="Zhao, Jie" userId="7be6526a-30ba-445c-b3a9-aabf2c8f5828" providerId="ADAL" clId="{DEC740C7-2239-4DCB-A2EC-28D5B021DFB5}" dt="2026-01-14T17:39:41.510" v="1164" actId="20577"/>
        <pc:sldMkLst>
          <pc:docMk/>
          <pc:sldMk cId="3475695164" sldId="285"/>
        </pc:sldMkLst>
        <pc:spChg chg="mod">
          <ac:chgData name="Zhao, Jie" userId="7be6526a-30ba-445c-b3a9-aabf2c8f5828" providerId="ADAL" clId="{DEC740C7-2239-4DCB-A2EC-28D5B021DFB5}" dt="2026-01-14T17:39:41.510" v="1164" actId="20577"/>
          <ac:spMkLst>
            <pc:docMk/>
            <pc:sldMk cId="3475695164" sldId="285"/>
            <ac:spMk id="3" creationId="{2C5DF914-4B40-4A23-8AAC-9CFE7F215A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E94F02-DFE8-47F5-999D-4D065381BD97}"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532FC-0C26-41ED-91C4-2A1C58AE2C83}" type="slidenum">
              <a:rPr lang="en-US" smtClean="0"/>
              <a:t>‹#›</a:t>
            </a:fld>
            <a:endParaRPr lang="en-US"/>
          </a:p>
        </p:txBody>
      </p:sp>
    </p:spTree>
    <p:extLst>
      <p:ext uri="{BB962C8B-B14F-4D97-AF65-F5344CB8AC3E}">
        <p14:creationId xmlns:p14="http://schemas.microsoft.com/office/powerpoint/2010/main" val="165300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6</a:t>
            </a:fld>
            <a:endParaRPr lang="en-US"/>
          </a:p>
        </p:txBody>
      </p:sp>
    </p:spTree>
    <p:extLst>
      <p:ext uri="{BB962C8B-B14F-4D97-AF65-F5344CB8AC3E}">
        <p14:creationId xmlns:p14="http://schemas.microsoft.com/office/powerpoint/2010/main" val="349637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AFF05-F67B-39C8-5776-926E05CC9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5206A-E417-8102-B797-CCB0179560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55E09E-FE7D-569C-7A85-FEC65587D201}"/>
              </a:ext>
            </a:extLst>
          </p:cNvPr>
          <p:cNvSpPr>
            <a:spLocks noGrp="1"/>
          </p:cNvSpPr>
          <p:nvPr>
            <p:ph type="body" idx="1"/>
          </p:nvPr>
        </p:nvSpPr>
        <p:spPr/>
        <p:txBody>
          <a:bodyPr/>
          <a:lstStyle/>
          <a:p>
            <a:r>
              <a:rPr lang="en-US" dirty="0"/>
              <a:t>The diagram has four devices: reg, mem, mux, and ALU. Mux is a selector with N inputs and one output. How does an instruction run and execute? Step One: The PC fetches an instruction. Step Two’s instruction is decoded, and the data from memory. In step three, the instruction is executed in the ALU. </a:t>
            </a:r>
          </a:p>
        </p:txBody>
      </p:sp>
      <p:sp>
        <p:nvSpPr>
          <p:cNvPr id="4" name="Slide Number Placeholder 3">
            <a:extLst>
              <a:ext uri="{FF2B5EF4-FFF2-40B4-BE49-F238E27FC236}">
                <a16:creationId xmlns:a16="http://schemas.microsoft.com/office/drawing/2014/main" id="{CC999D56-534A-813E-D89C-0D42A6D930D5}"/>
              </a:ext>
            </a:extLst>
          </p:cNvPr>
          <p:cNvSpPr>
            <a:spLocks noGrp="1"/>
          </p:cNvSpPr>
          <p:nvPr>
            <p:ph type="sldNum" sz="quarter" idx="5"/>
          </p:nvPr>
        </p:nvSpPr>
        <p:spPr/>
        <p:txBody>
          <a:bodyPr/>
          <a:lstStyle/>
          <a:p>
            <a:fld id="{7B9532FC-0C26-41ED-91C4-2A1C58AE2C83}" type="slidenum">
              <a:rPr lang="en-US" smtClean="0"/>
              <a:t>9</a:t>
            </a:fld>
            <a:endParaRPr lang="en-US"/>
          </a:p>
        </p:txBody>
      </p:sp>
    </p:spTree>
    <p:extLst>
      <p:ext uri="{BB962C8B-B14F-4D97-AF65-F5344CB8AC3E}">
        <p14:creationId xmlns:p14="http://schemas.microsoft.com/office/powerpoint/2010/main" val="2517639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8CFA-34B8-4985-9EBD-3480D5E1D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33D6D-E622-4C3B-9F70-ED49553B9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5B9800-BBE3-43F3-954C-1BE89C95AF77}"/>
              </a:ext>
            </a:extLst>
          </p:cNvPr>
          <p:cNvSpPr>
            <a:spLocks noGrp="1"/>
          </p:cNvSpPr>
          <p:nvPr>
            <p:ph type="dt" sz="half" idx="10"/>
          </p:nvPr>
        </p:nvSpPr>
        <p:spPr/>
        <p:txBody>
          <a:bodyPr/>
          <a:lstStyle/>
          <a:p>
            <a:fld id="{5701B579-BE22-4365-9624-3AE1F352F1A7}" type="datetimeFigureOut">
              <a:rPr lang="en-US" smtClean="0"/>
              <a:t>1/14/2026</a:t>
            </a:fld>
            <a:endParaRPr lang="en-US"/>
          </a:p>
        </p:txBody>
      </p:sp>
      <p:sp>
        <p:nvSpPr>
          <p:cNvPr id="5" name="Footer Placeholder 4">
            <a:extLst>
              <a:ext uri="{FF2B5EF4-FFF2-40B4-BE49-F238E27FC236}">
                <a16:creationId xmlns:a16="http://schemas.microsoft.com/office/drawing/2014/main" id="{4549448D-A783-4933-8C87-202B908B1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A539E-77FB-4784-8F48-40A6E10C521F}"/>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6561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774-D8FB-4609-AAE6-9DFB9337B9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8BC86-19DE-433A-AC72-8E6E8A93B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FEAE9-538F-4540-99B2-F94BBB0C3D78}"/>
              </a:ext>
            </a:extLst>
          </p:cNvPr>
          <p:cNvSpPr>
            <a:spLocks noGrp="1"/>
          </p:cNvSpPr>
          <p:nvPr>
            <p:ph type="dt" sz="half" idx="10"/>
          </p:nvPr>
        </p:nvSpPr>
        <p:spPr/>
        <p:txBody>
          <a:bodyPr/>
          <a:lstStyle/>
          <a:p>
            <a:fld id="{5701B579-BE22-4365-9624-3AE1F352F1A7}" type="datetimeFigureOut">
              <a:rPr lang="en-US" smtClean="0"/>
              <a:t>1/14/2026</a:t>
            </a:fld>
            <a:endParaRPr lang="en-US"/>
          </a:p>
        </p:txBody>
      </p:sp>
      <p:sp>
        <p:nvSpPr>
          <p:cNvPr id="5" name="Footer Placeholder 4">
            <a:extLst>
              <a:ext uri="{FF2B5EF4-FFF2-40B4-BE49-F238E27FC236}">
                <a16:creationId xmlns:a16="http://schemas.microsoft.com/office/drawing/2014/main" id="{0A00FA06-A552-48E9-984C-063D23529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CB287-478F-4020-BBF4-AE2612E417F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89758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5F8E-D378-48F1-982D-606B3160FF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94D5D-2E6F-4291-B1C6-BBFC0323C9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AAFD2-28C6-455D-AE60-B9D724863CD9}"/>
              </a:ext>
            </a:extLst>
          </p:cNvPr>
          <p:cNvSpPr>
            <a:spLocks noGrp="1"/>
          </p:cNvSpPr>
          <p:nvPr>
            <p:ph type="dt" sz="half" idx="10"/>
          </p:nvPr>
        </p:nvSpPr>
        <p:spPr/>
        <p:txBody>
          <a:bodyPr/>
          <a:lstStyle/>
          <a:p>
            <a:fld id="{5701B579-BE22-4365-9624-3AE1F352F1A7}" type="datetimeFigureOut">
              <a:rPr lang="en-US" smtClean="0"/>
              <a:t>1/14/2026</a:t>
            </a:fld>
            <a:endParaRPr lang="en-US"/>
          </a:p>
        </p:txBody>
      </p:sp>
      <p:sp>
        <p:nvSpPr>
          <p:cNvPr id="5" name="Footer Placeholder 4">
            <a:extLst>
              <a:ext uri="{FF2B5EF4-FFF2-40B4-BE49-F238E27FC236}">
                <a16:creationId xmlns:a16="http://schemas.microsoft.com/office/drawing/2014/main" id="{7F662756-894F-46FE-B4D3-4C370744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C601B-7763-446C-9DC5-9ACF5EE9B233}"/>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59983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85D5-4A70-4523-8C56-7A2F63097D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B50669-8B6D-4573-A65D-5723BE7B81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26AA6-27C3-4956-B4F9-B51F02240F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CADE07-F788-4954-AC59-F7BCCAD825DE}"/>
              </a:ext>
            </a:extLst>
          </p:cNvPr>
          <p:cNvSpPr>
            <a:spLocks noGrp="1"/>
          </p:cNvSpPr>
          <p:nvPr>
            <p:ph type="dt" sz="half" idx="10"/>
          </p:nvPr>
        </p:nvSpPr>
        <p:spPr/>
        <p:txBody>
          <a:bodyPr/>
          <a:lstStyle/>
          <a:p>
            <a:fld id="{5701B579-BE22-4365-9624-3AE1F352F1A7}" type="datetimeFigureOut">
              <a:rPr lang="en-US" smtClean="0"/>
              <a:t>1/14/2026</a:t>
            </a:fld>
            <a:endParaRPr lang="en-US"/>
          </a:p>
        </p:txBody>
      </p:sp>
      <p:sp>
        <p:nvSpPr>
          <p:cNvPr id="6" name="Footer Placeholder 5">
            <a:extLst>
              <a:ext uri="{FF2B5EF4-FFF2-40B4-BE49-F238E27FC236}">
                <a16:creationId xmlns:a16="http://schemas.microsoft.com/office/drawing/2014/main" id="{D4CEA43F-F602-40EE-B21F-DC7E68CD6E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D1C2A-9F62-4A54-96AE-3DAD4823439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57837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93E4-29D2-4052-9C0C-2B12FB9F04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A1864E-EDC6-4F4B-90E2-73414CCE8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208338-D4D6-46C1-A40B-EBAFA05859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6AB0C-3D87-4B28-A144-FBE1D0F6F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639F3-6EB4-4B92-AE38-D411C1AA3A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1005A4-0514-429B-9362-4434E7932694}"/>
              </a:ext>
            </a:extLst>
          </p:cNvPr>
          <p:cNvSpPr>
            <a:spLocks noGrp="1"/>
          </p:cNvSpPr>
          <p:nvPr>
            <p:ph type="dt" sz="half" idx="10"/>
          </p:nvPr>
        </p:nvSpPr>
        <p:spPr/>
        <p:txBody>
          <a:bodyPr/>
          <a:lstStyle/>
          <a:p>
            <a:fld id="{5701B579-BE22-4365-9624-3AE1F352F1A7}" type="datetimeFigureOut">
              <a:rPr lang="en-US" smtClean="0"/>
              <a:t>1/14/2026</a:t>
            </a:fld>
            <a:endParaRPr lang="en-US"/>
          </a:p>
        </p:txBody>
      </p:sp>
      <p:sp>
        <p:nvSpPr>
          <p:cNvPr id="8" name="Footer Placeholder 7">
            <a:extLst>
              <a:ext uri="{FF2B5EF4-FFF2-40B4-BE49-F238E27FC236}">
                <a16:creationId xmlns:a16="http://schemas.microsoft.com/office/drawing/2014/main" id="{41B49C01-7B53-435D-82F7-A1316279CD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2674F3-601B-4FAC-913E-6356AB82DE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374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F530-2DDE-4090-B9BA-4E706FE890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4B356-E78B-4416-98FE-2C17AE157F2B}"/>
              </a:ext>
            </a:extLst>
          </p:cNvPr>
          <p:cNvSpPr>
            <a:spLocks noGrp="1"/>
          </p:cNvSpPr>
          <p:nvPr>
            <p:ph type="dt" sz="half" idx="10"/>
          </p:nvPr>
        </p:nvSpPr>
        <p:spPr/>
        <p:txBody>
          <a:bodyPr/>
          <a:lstStyle/>
          <a:p>
            <a:fld id="{5701B579-BE22-4365-9624-3AE1F352F1A7}" type="datetimeFigureOut">
              <a:rPr lang="en-US" smtClean="0"/>
              <a:t>1/14/2026</a:t>
            </a:fld>
            <a:endParaRPr lang="en-US"/>
          </a:p>
        </p:txBody>
      </p:sp>
      <p:sp>
        <p:nvSpPr>
          <p:cNvPr id="4" name="Footer Placeholder 3">
            <a:extLst>
              <a:ext uri="{FF2B5EF4-FFF2-40B4-BE49-F238E27FC236}">
                <a16:creationId xmlns:a16="http://schemas.microsoft.com/office/drawing/2014/main" id="{C15593D8-810C-4035-B5ED-80F9BF0D3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F55571-D054-48D1-8803-ADE847A6536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345384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7BE268-32AF-41F1-B9BF-76444776383A}"/>
              </a:ext>
            </a:extLst>
          </p:cNvPr>
          <p:cNvSpPr>
            <a:spLocks noGrp="1"/>
          </p:cNvSpPr>
          <p:nvPr>
            <p:ph type="dt" sz="half" idx="10"/>
          </p:nvPr>
        </p:nvSpPr>
        <p:spPr/>
        <p:txBody>
          <a:bodyPr/>
          <a:lstStyle/>
          <a:p>
            <a:fld id="{5701B579-BE22-4365-9624-3AE1F352F1A7}" type="datetimeFigureOut">
              <a:rPr lang="en-US" smtClean="0"/>
              <a:t>1/14/2026</a:t>
            </a:fld>
            <a:endParaRPr lang="en-US"/>
          </a:p>
        </p:txBody>
      </p:sp>
      <p:sp>
        <p:nvSpPr>
          <p:cNvPr id="3" name="Footer Placeholder 2">
            <a:extLst>
              <a:ext uri="{FF2B5EF4-FFF2-40B4-BE49-F238E27FC236}">
                <a16:creationId xmlns:a16="http://schemas.microsoft.com/office/drawing/2014/main" id="{CF581429-1463-423B-A364-3007974280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1A6839-CB05-4AB6-92C3-597FE9B6E56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7620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0436-DB2A-48F1-B027-49BF16EC7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BF08-10D0-4FEE-BD95-9FDFBA2FF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A3EEA-BC06-42DA-89F3-9E0D2161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5DFBF-2A0A-4BBC-A7A2-C761EAFD3E8C}"/>
              </a:ext>
            </a:extLst>
          </p:cNvPr>
          <p:cNvSpPr>
            <a:spLocks noGrp="1"/>
          </p:cNvSpPr>
          <p:nvPr>
            <p:ph type="dt" sz="half" idx="10"/>
          </p:nvPr>
        </p:nvSpPr>
        <p:spPr/>
        <p:txBody>
          <a:bodyPr/>
          <a:lstStyle/>
          <a:p>
            <a:fld id="{5701B579-BE22-4365-9624-3AE1F352F1A7}" type="datetimeFigureOut">
              <a:rPr lang="en-US" smtClean="0"/>
              <a:t>1/14/2026</a:t>
            </a:fld>
            <a:endParaRPr lang="en-US"/>
          </a:p>
        </p:txBody>
      </p:sp>
      <p:sp>
        <p:nvSpPr>
          <p:cNvPr id="6" name="Footer Placeholder 5">
            <a:extLst>
              <a:ext uri="{FF2B5EF4-FFF2-40B4-BE49-F238E27FC236}">
                <a16:creationId xmlns:a16="http://schemas.microsoft.com/office/drawing/2014/main" id="{34E032EE-DBDF-4DD6-B09C-98EFBACD07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0F9592-0DF4-4888-A204-38DA63D36B25}"/>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253836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96FA-1210-4D0E-9505-D51795E07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255D6-880E-44DA-919F-3FCF13B52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C7E01-C6FB-46A7-A74A-898E5820E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E34C9-0AC3-43C3-A654-3FC0164AC92B}"/>
              </a:ext>
            </a:extLst>
          </p:cNvPr>
          <p:cNvSpPr>
            <a:spLocks noGrp="1"/>
          </p:cNvSpPr>
          <p:nvPr>
            <p:ph type="dt" sz="half" idx="10"/>
          </p:nvPr>
        </p:nvSpPr>
        <p:spPr/>
        <p:txBody>
          <a:bodyPr/>
          <a:lstStyle/>
          <a:p>
            <a:fld id="{5701B579-BE22-4365-9624-3AE1F352F1A7}" type="datetimeFigureOut">
              <a:rPr lang="en-US" smtClean="0"/>
              <a:t>1/14/2026</a:t>
            </a:fld>
            <a:endParaRPr lang="en-US"/>
          </a:p>
        </p:txBody>
      </p:sp>
      <p:sp>
        <p:nvSpPr>
          <p:cNvPr id="6" name="Footer Placeholder 5">
            <a:extLst>
              <a:ext uri="{FF2B5EF4-FFF2-40B4-BE49-F238E27FC236}">
                <a16:creationId xmlns:a16="http://schemas.microsoft.com/office/drawing/2014/main" id="{23447480-0FFC-41C2-88A2-0A21C7263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F4567-0817-4CF6-BD05-B1BDEA7995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8511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00B9-FC21-406B-B5FA-B60B7DC90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496599-23BC-425D-8BD9-EE0D324D6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C455-686D-48B4-8DAB-D94E33E0608A}"/>
              </a:ext>
            </a:extLst>
          </p:cNvPr>
          <p:cNvSpPr>
            <a:spLocks noGrp="1"/>
          </p:cNvSpPr>
          <p:nvPr>
            <p:ph type="dt" sz="half" idx="10"/>
          </p:nvPr>
        </p:nvSpPr>
        <p:spPr/>
        <p:txBody>
          <a:bodyPr/>
          <a:lstStyle/>
          <a:p>
            <a:fld id="{5701B579-BE22-4365-9624-3AE1F352F1A7}" type="datetimeFigureOut">
              <a:rPr lang="en-US" smtClean="0"/>
              <a:t>1/14/2026</a:t>
            </a:fld>
            <a:endParaRPr lang="en-US"/>
          </a:p>
        </p:txBody>
      </p:sp>
      <p:sp>
        <p:nvSpPr>
          <p:cNvPr id="5" name="Footer Placeholder 4">
            <a:extLst>
              <a:ext uri="{FF2B5EF4-FFF2-40B4-BE49-F238E27FC236}">
                <a16:creationId xmlns:a16="http://schemas.microsoft.com/office/drawing/2014/main" id="{63AD1942-3ED0-4931-A8CE-6D984F839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B5B99-3A43-477C-B42A-3C08D02D7574}"/>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95686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23F515-C31F-4273-9268-3D1EF4F6FB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4BF6F7-9F34-4BB4-8961-A8EDC9D82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59CB1-7397-4C82-89C9-0693FB2910E9}"/>
              </a:ext>
            </a:extLst>
          </p:cNvPr>
          <p:cNvSpPr>
            <a:spLocks noGrp="1"/>
          </p:cNvSpPr>
          <p:nvPr>
            <p:ph type="dt" sz="half" idx="10"/>
          </p:nvPr>
        </p:nvSpPr>
        <p:spPr/>
        <p:txBody>
          <a:bodyPr/>
          <a:lstStyle/>
          <a:p>
            <a:fld id="{5701B579-BE22-4365-9624-3AE1F352F1A7}" type="datetimeFigureOut">
              <a:rPr lang="en-US" smtClean="0"/>
              <a:t>1/14/2026</a:t>
            </a:fld>
            <a:endParaRPr lang="en-US"/>
          </a:p>
        </p:txBody>
      </p:sp>
      <p:sp>
        <p:nvSpPr>
          <p:cNvPr id="5" name="Footer Placeholder 4">
            <a:extLst>
              <a:ext uri="{FF2B5EF4-FFF2-40B4-BE49-F238E27FC236}">
                <a16:creationId xmlns:a16="http://schemas.microsoft.com/office/drawing/2014/main" id="{5F201C97-2278-43A9-BE35-0AD612655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5134C-7180-46A6-9627-AECEF8DCC93D}"/>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63731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26403-82E5-42A1-9D17-51FB8924C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0F3246-0D43-4E66-B320-0671607BF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15B71-0150-43A3-94BD-2B7D0897C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1B579-BE22-4365-9624-3AE1F352F1A7}" type="datetimeFigureOut">
              <a:rPr lang="en-US" smtClean="0"/>
              <a:t>1/14/2026</a:t>
            </a:fld>
            <a:endParaRPr lang="en-US"/>
          </a:p>
        </p:txBody>
      </p:sp>
      <p:sp>
        <p:nvSpPr>
          <p:cNvPr id="5" name="Footer Placeholder 4">
            <a:extLst>
              <a:ext uri="{FF2B5EF4-FFF2-40B4-BE49-F238E27FC236}">
                <a16:creationId xmlns:a16="http://schemas.microsoft.com/office/drawing/2014/main" id="{E979B45D-F9D5-470F-9240-ABDE82EA29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C585F-DBFF-493F-8D4A-16FE923EE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7EF8F-CC04-49FF-99A7-DBE4E5B3B38F}" type="slidenum">
              <a:rPr lang="en-US" smtClean="0"/>
              <a:t>‹#›</a:t>
            </a:fld>
            <a:endParaRPr lang="en-US"/>
          </a:p>
        </p:txBody>
      </p:sp>
    </p:spTree>
    <p:extLst>
      <p:ext uri="{BB962C8B-B14F-4D97-AF65-F5344CB8AC3E}">
        <p14:creationId xmlns:p14="http://schemas.microsoft.com/office/powerpoint/2010/main" val="1848083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726434" y="4659359"/>
            <a:ext cx="9144000" cy="1655762"/>
          </a:xfrm>
        </p:spPr>
        <p:txBody>
          <a:bodyPr/>
          <a:lstStyle/>
          <a:p>
            <a:r>
              <a:rPr lang="en-US" dirty="0"/>
              <a:t>Topic: Intro to Operating Systems</a:t>
            </a:r>
          </a:p>
          <a:p>
            <a:r>
              <a:rPr lang="en-US" dirty="0"/>
              <a:t>Lecture: Dr. Zhao Jie</a:t>
            </a:r>
          </a:p>
          <a:p>
            <a:r>
              <a:rPr lang="en-US" dirty="0"/>
              <a:t>Date: 01/14/2026</a:t>
            </a:r>
          </a:p>
        </p:txBody>
      </p:sp>
      <p:pic>
        <p:nvPicPr>
          <p:cNvPr id="5" name="Picture 4">
            <a:extLst>
              <a:ext uri="{FF2B5EF4-FFF2-40B4-BE49-F238E27FC236}">
                <a16:creationId xmlns:a16="http://schemas.microsoft.com/office/drawing/2014/main" id="{22F60897-8669-4C6A-9213-A875ED322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50" y="237202"/>
            <a:ext cx="9967968" cy="4572000"/>
          </a:xfrm>
          <a:prstGeom prst="rect">
            <a:avLst/>
          </a:prstGeom>
        </p:spPr>
      </p:pic>
    </p:spTree>
    <p:extLst>
      <p:ext uri="{BB962C8B-B14F-4D97-AF65-F5344CB8AC3E}">
        <p14:creationId xmlns:p14="http://schemas.microsoft.com/office/powerpoint/2010/main" val="219999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1122363"/>
            <a:ext cx="9144000" cy="1079299"/>
          </a:xfrm>
        </p:spPr>
        <p:txBody>
          <a:bodyPr/>
          <a:lstStyle/>
          <a:p>
            <a:r>
              <a:rPr lang="en-US" b="0" i="0" dirty="0">
                <a:solidFill>
                  <a:srgbClr val="000000"/>
                </a:solidFill>
                <a:effectLst/>
                <a:latin typeface="Arial" panose="020B0604020202020204" pitchFamily="34" charset="0"/>
              </a:rPr>
              <a:t>Reading Assignment</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p:txBody>
          <a:bodyPr>
            <a:normAutofit/>
          </a:bodyPr>
          <a:lstStyle/>
          <a:p>
            <a:r>
              <a:rPr lang="en-US" b="0" i="0" dirty="0">
                <a:solidFill>
                  <a:srgbClr val="000000"/>
                </a:solidFill>
                <a:effectLst/>
                <a:latin typeface="Arial" panose="020B0604020202020204" pitchFamily="34" charset="0"/>
              </a:rPr>
              <a:t>Reading Assignment: Ch. 2</a:t>
            </a:r>
            <a:endParaRPr lang="en-US" dirty="0"/>
          </a:p>
        </p:txBody>
      </p:sp>
    </p:spTree>
    <p:extLst>
      <p:ext uri="{BB962C8B-B14F-4D97-AF65-F5344CB8AC3E}">
        <p14:creationId xmlns:p14="http://schemas.microsoft.com/office/powerpoint/2010/main" val="403879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2C8B3-C848-A159-0BAD-245DDFA65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7F4B9-85E0-64AB-49D7-EC9F7088E96B}"/>
              </a:ext>
            </a:extLst>
          </p:cNvPr>
          <p:cNvSpPr>
            <a:spLocks noGrp="1"/>
          </p:cNvSpPr>
          <p:nvPr>
            <p:ph type="ctrTitle"/>
          </p:nvPr>
        </p:nvSpPr>
        <p:spPr>
          <a:xfrm>
            <a:off x="1524000" y="1122363"/>
            <a:ext cx="9144000" cy="1079299"/>
          </a:xfrm>
        </p:spPr>
        <p:txBody>
          <a:bodyPr/>
          <a:lstStyle/>
          <a:p>
            <a:r>
              <a:rPr lang="en-US" b="0" i="0" dirty="0">
                <a:solidFill>
                  <a:srgbClr val="000000"/>
                </a:solidFill>
                <a:effectLst/>
                <a:latin typeface="Arial" panose="020B0604020202020204" pitchFamily="34" charset="0"/>
              </a:rPr>
              <a:t>Agenda</a:t>
            </a:r>
            <a:endParaRPr lang="en-US" dirty="0"/>
          </a:p>
        </p:txBody>
      </p:sp>
      <p:sp>
        <p:nvSpPr>
          <p:cNvPr id="3" name="Subtitle 2">
            <a:extLst>
              <a:ext uri="{FF2B5EF4-FFF2-40B4-BE49-F238E27FC236}">
                <a16:creationId xmlns:a16="http://schemas.microsoft.com/office/drawing/2014/main" id="{133A5346-22C7-524B-92BF-73B8FE3CC8A7}"/>
              </a:ext>
            </a:extLst>
          </p:cNvPr>
          <p:cNvSpPr>
            <a:spLocks noGrp="1"/>
          </p:cNvSpPr>
          <p:nvPr>
            <p:ph type="subTitle" idx="1"/>
          </p:nvPr>
        </p:nvSpPr>
        <p:spPr>
          <a:xfrm>
            <a:off x="1524000" y="2771309"/>
            <a:ext cx="9144000" cy="2470056"/>
          </a:xfrm>
        </p:spPr>
        <p:txBody>
          <a:bodyPr>
            <a:normAutofit/>
          </a:bodyPr>
          <a:lstStyle/>
          <a:p>
            <a:pPr marL="800100" lvl="1" indent="-342900" algn="l">
              <a:lnSpc>
                <a:spcPct val="150000"/>
              </a:lnSpc>
              <a:buFont typeface="Arial" panose="020B0604020202020204" pitchFamily="34" charset="0"/>
              <a:buChar char="•"/>
            </a:pPr>
            <a:r>
              <a:rPr lang="en-US" sz="2400" b="0" i="0" dirty="0">
                <a:solidFill>
                  <a:srgbClr val="000000"/>
                </a:solidFill>
                <a:effectLst/>
                <a:latin typeface="Arial" panose="020B0604020202020204" pitchFamily="34" charset="0"/>
              </a:rPr>
              <a:t>OS Definition</a:t>
            </a:r>
          </a:p>
          <a:p>
            <a:pPr marL="800100" lvl="1" indent="-342900" algn="l">
              <a:lnSpc>
                <a:spcPct val="150000"/>
              </a:lnSpc>
              <a:buFont typeface="Arial" panose="020B0604020202020204" pitchFamily="34" charset="0"/>
              <a:buChar char="•"/>
            </a:pPr>
            <a:r>
              <a:rPr lang="en-US" sz="2400" dirty="0">
                <a:solidFill>
                  <a:srgbClr val="000000"/>
                </a:solidFill>
                <a:latin typeface="Arial" panose="020B0604020202020204" pitchFamily="34" charset="0"/>
              </a:rPr>
              <a:t>How to Run a Program on a Computer</a:t>
            </a:r>
          </a:p>
          <a:p>
            <a:pPr marL="800100" lvl="1" indent="-342900" algn="l">
              <a:lnSpc>
                <a:spcPct val="150000"/>
              </a:lnSpc>
              <a:buFont typeface="Arial" panose="020B0604020202020204" pitchFamily="34" charset="0"/>
              <a:buChar char="•"/>
            </a:pPr>
            <a:r>
              <a:rPr lang="en-US" sz="2400" dirty="0">
                <a:solidFill>
                  <a:srgbClr val="000000"/>
                </a:solidFill>
                <a:latin typeface="Arial" panose="020B0604020202020204" pitchFamily="34" charset="0"/>
              </a:rPr>
              <a:t> OS Management</a:t>
            </a:r>
            <a:endParaRPr lang="en-US" sz="2400" dirty="0"/>
          </a:p>
        </p:txBody>
      </p:sp>
    </p:spTree>
    <p:extLst>
      <p:ext uri="{BB962C8B-B14F-4D97-AF65-F5344CB8AC3E}">
        <p14:creationId xmlns:p14="http://schemas.microsoft.com/office/powerpoint/2010/main" val="2375479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73020"/>
          </a:xfrm>
        </p:spPr>
        <p:txBody>
          <a:bodyPr>
            <a:noAutofit/>
          </a:bodyPr>
          <a:lstStyle/>
          <a:p>
            <a:r>
              <a:rPr lang="en-US" sz="4800" dirty="0">
                <a:solidFill>
                  <a:srgbClr val="C00000"/>
                </a:solidFill>
              </a:rPr>
              <a:t>What is an operating system?[1]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519953" y="1342168"/>
            <a:ext cx="11170023" cy="4269744"/>
          </a:xfrm>
        </p:spPr>
        <p:txBody>
          <a:bodyPr>
            <a:normAutofit/>
          </a:bodyPr>
          <a:lstStyle/>
          <a:p>
            <a:pPr marL="342900" indent="-342900" algn="l">
              <a:lnSpc>
                <a:spcPct val="150000"/>
              </a:lnSpc>
              <a:buFont typeface="Arial" panose="020B0604020202020204" pitchFamily="34" charset="0"/>
              <a:buChar char="•"/>
            </a:pPr>
            <a:r>
              <a:rPr lang="en-US" sz="2000" dirty="0"/>
              <a:t>Definition</a:t>
            </a:r>
          </a:p>
          <a:p>
            <a:pPr lvl="1" algn="l">
              <a:lnSpc>
                <a:spcPct val="150000"/>
              </a:lnSpc>
            </a:pPr>
            <a:r>
              <a:rPr lang="en-US" dirty="0"/>
              <a:t>Middleware between user programs and system hardware</a:t>
            </a:r>
          </a:p>
          <a:p>
            <a:pPr marL="342900" indent="-342900" algn="l">
              <a:lnSpc>
                <a:spcPct val="150000"/>
              </a:lnSpc>
              <a:buFont typeface="Arial" panose="020B0604020202020204" pitchFamily="34" charset="0"/>
              <a:buChar char="•"/>
            </a:pPr>
            <a:r>
              <a:rPr lang="en-US" sz="2000" dirty="0"/>
              <a:t>Role(</a:t>
            </a:r>
            <a:r>
              <a:rPr lang="en-US" sz="2000" dirty="0">
                <a:solidFill>
                  <a:srgbClr val="C00000"/>
                </a:solidFill>
              </a:rPr>
              <a:t>Q: What are five basic components of a computer?</a:t>
            </a:r>
            <a:r>
              <a:rPr lang="en-US" sz="2000" dirty="0"/>
              <a:t>)</a:t>
            </a:r>
          </a:p>
          <a:p>
            <a:pPr lvl="1" algn="l">
              <a:lnSpc>
                <a:spcPct val="150000"/>
              </a:lnSpc>
            </a:pPr>
            <a:r>
              <a:rPr lang="en-US" dirty="0"/>
              <a:t>Manage both software and hardware components, including CPU, memory, secondary data storage, and I/O devices.</a:t>
            </a:r>
          </a:p>
          <a:p>
            <a:pPr marL="342900" indent="-342900" algn="l">
              <a:lnSpc>
                <a:spcPct val="150000"/>
              </a:lnSpc>
              <a:buFont typeface="Arial" panose="020B0604020202020204" pitchFamily="34" charset="0"/>
              <a:buChar char="•"/>
            </a:pPr>
            <a:r>
              <a:rPr lang="en-US" sz="2000" dirty="0"/>
              <a:t>Implementation (</a:t>
            </a:r>
            <a:r>
              <a:rPr lang="en-US" sz="2000" dirty="0">
                <a:solidFill>
                  <a:srgbClr val="C00000"/>
                </a:solidFill>
              </a:rPr>
              <a:t>Q: to understand a function call, give a C program example, and ask for outputs.</a:t>
            </a:r>
            <a:r>
              <a:rPr lang="en-US" sz="2000" dirty="0"/>
              <a:t>)</a:t>
            </a:r>
          </a:p>
          <a:p>
            <a:pPr lvl="1" algn="l">
              <a:lnSpc>
                <a:spcPct val="150000"/>
              </a:lnSpc>
            </a:pPr>
            <a:r>
              <a:rPr lang="en-US" dirty="0"/>
              <a:t>Use system calls, which are simple function calls but have notable differences. </a:t>
            </a:r>
          </a:p>
        </p:txBody>
      </p:sp>
      <p:sp>
        <p:nvSpPr>
          <p:cNvPr id="5" name="TextBox 4">
            <a:extLst>
              <a:ext uri="{FF2B5EF4-FFF2-40B4-BE49-F238E27FC236}">
                <a16:creationId xmlns:a16="http://schemas.microsoft.com/office/drawing/2014/main" id="{AA4FE70E-0EDC-9B66-5374-DF349B12EBA7}"/>
              </a:ext>
            </a:extLst>
          </p:cNvPr>
          <p:cNvSpPr txBox="1"/>
          <p:nvPr/>
        </p:nvSpPr>
        <p:spPr>
          <a:xfrm>
            <a:off x="2813111" y="5914242"/>
            <a:ext cx="6929021" cy="369332"/>
          </a:xfrm>
          <a:prstGeom prst="rect">
            <a:avLst/>
          </a:prstGeom>
          <a:noFill/>
        </p:spPr>
        <p:txBody>
          <a:bodyPr wrap="square" rtlCol="0">
            <a:spAutoFit/>
          </a:bodyPr>
          <a:lstStyle/>
          <a:p>
            <a:r>
              <a:rPr lang="en-US" dirty="0"/>
              <a:t>[1]. https://www.cse.iitb.ac.in/~mythili/os/anno_slides/lecture1.pdf</a:t>
            </a:r>
          </a:p>
        </p:txBody>
      </p:sp>
    </p:spTree>
    <p:extLst>
      <p:ext uri="{BB962C8B-B14F-4D97-AF65-F5344CB8AC3E}">
        <p14:creationId xmlns:p14="http://schemas.microsoft.com/office/powerpoint/2010/main" val="3760905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73ECC-9F23-C316-A43D-4E7744968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CF01C9-4BE8-EA7C-E5E3-950029AF41F2}"/>
              </a:ext>
            </a:extLst>
          </p:cNvPr>
          <p:cNvSpPr>
            <a:spLocks noGrp="1"/>
          </p:cNvSpPr>
          <p:nvPr>
            <p:ph type="ctrTitle"/>
          </p:nvPr>
        </p:nvSpPr>
        <p:spPr>
          <a:xfrm>
            <a:off x="1218460" y="323372"/>
            <a:ext cx="10452740" cy="638840"/>
          </a:xfrm>
        </p:spPr>
        <p:txBody>
          <a:bodyPr>
            <a:noAutofit/>
          </a:bodyPr>
          <a:lstStyle/>
          <a:p>
            <a:r>
              <a:rPr lang="en-US" sz="4000" dirty="0">
                <a:solidFill>
                  <a:srgbClr val="C00000"/>
                </a:solidFill>
              </a:rPr>
              <a:t>High-level and low-level programming languages</a:t>
            </a:r>
          </a:p>
        </p:txBody>
      </p:sp>
      <p:sp>
        <p:nvSpPr>
          <p:cNvPr id="3" name="Subtitle 2">
            <a:extLst>
              <a:ext uri="{FF2B5EF4-FFF2-40B4-BE49-F238E27FC236}">
                <a16:creationId xmlns:a16="http://schemas.microsoft.com/office/drawing/2014/main" id="{E6B0F036-6BCA-81A0-49DA-48FF9491B3A9}"/>
              </a:ext>
            </a:extLst>
          </p:cNvPr>
          <p:cNvSpPr>
            <a:spLocks noGrp="1"/>
          </p:cNvSpPr>
          <p:nvPr>
            <p:ph type="subTitle" idx="1"/>
          </p:nvPr>
        </p:nvSpPr>
        <p:spPr>
          <a:xfrm>
            <a:off x="705223" y="1074985"/>
            <a:ext cx="10919011" cy="3006943"/>
          </a:xfrm>
        </p:spPr>
        <p:txBody>
          <a:bodyPr>
            <a:noAutofit/>
          </a:bodyPr>
          <a:lstStyle/>
          <a:p>
            <a:pPr marL="342900" indent="-342900" algn="l">
              <a:lnSpc>
                <a:spcPct val="150000"/>
              </a:lnSpc>
              <a:buFont typeface="Arial" panose="020B0604020202020204" pitchFamily="34" charset="0"/>
              <a:buChar char="•"/>
            </a:pPr>
            <a:r>
              <a:rPr lang="en-US" sz="2000" dirty="0"/>
              <a:t>A C program is one type of high-level programming language, written by a programmer, with the feature of human readability.</a:t>
            </a:r>
          </a:p>
          <a:p>
            <a:pPr marL="342900" indent="-342900" algn="l">
              <a:lnSpc>
                <a:spcPct val="150000"/>
              </a:lnSpc>
              <a:buFont typeface="Arial" panose="020B0604020202020204" pitchFamily="34" charset="0"/>
              <a:buChar char="•"/>
            </a:pPr>
            <a:r>
              <a:rPr lang="en-US" sz="2000" dirty="0"/>
              <a:t>The computer can understand not the C program, but machine language, which is a series of binary digits. </a:t>
            </a:r>
          </a:p>
          <a:p>
            <a:pPr marL="342900" indent="-342900" algn="l">
              <a:lnSpc>
                <a:spcPct val="150000"/>
              </a:lnSpc>
              <a:buFont typeface="Arial" panose="020B0604020202020204" pitchFamily="34" charset="0"/>
              <a:buChar char="•"/>
            </a:pPr>
            <a:r>
              <a:rPr lang="en-US" sz="2000" dirty="0"/>
              <a:t>Faced with high-level and low-level programming languages, a compiler is necessary to translate high-level programs into the low-level one, so-called executable(“.c” to “</a:t>
            </a:r>
            <a:r>
              <a:rPr lang="en-US" sz="2000" dirty="0" err="1"/>
              <a:t>a.out</a:t>
            </a:r>
            <a:r>
              <a:rPr lang="en-US" sz="2000" dirty="0"/>
              <a:t>”)</a:t>
            </a:r>
          </a:p>
          <a:p>
            <a:pPr marL="342900" indent="-342900" algn="l">
              <a:lnSpc>
                <a:spcPct val="150000"/>
              </a:lnSpc>
              <a:buFont typeface="Arial" panose="020B0604020202020204" pitchFamily="34" charset="0"/>
              <a:buChar char="•"/>
            </a:pPr>
            <a:endParaRPr lang="en-US" sz="2000" dirty="0"/>
          </a:p>
        </p:txBody>
      </p:sp>
      <p:pic>
        <p:nvPicPr>
          <p:cNvPr id="5" name="Picture 4">
            <a:extLst>
              <a:ext uri="{FF2B5EF4-FFF2-40B4-BE49-F238E27FC236}">
                <a16:creationId xmlns:a16="http://schemas.microsoft.com/office/drawing/2014/main" id="{80E498B7-0BC5-6F2A-8566-8CDFBF3733D3}"/>
              </a:ext>
            </a:extLst>
          </p:cNvPr>
          <p:cNvPicPr>
            <a:picLocks noChangeAspect="1"/>
          </p:cNvPicPr>
          <p:nvPr/>
        </p:nvPicPr>
        <p:blipFill>
          <a:blip r:embed="rId2"/>
          <a:stretch>
            <a:fillRect/>
          </a:stretch>
        </p:blipFill>
        <p:spPr>
          <a:xfrm>
            <a:off x="4321378" y="4290464"/>
            <a:ext cx="4246904" cy="2286000"/>
          </a:xfrm>
          <a:prstGeom prst="rect">
            <a:avLst/>
          </a:prstGeom>
        </p:spPr>
      </p:pic>
    </p:spTree>
    <p:extLst>
      <p:ext uri="{BB962C8B-B14F-4D97-AF65-F5344CB8AC3E}">
        <p14:creationId xmlns:p14="http://schemas.microsoft.com/office/powerpoint/2010/main" val="2420975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Machine language and instruction sets</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615576" y="1399209"/>
            <a:ext cx="11055624" cy="4535999"/>
          </a:xfrm>
        </p:spPr>
        <p:txBody>
          <a:bodyPr>
            <a:normAutofit/>
          </a:bodyPr>
          <a:lstStyle/>
          <a:p>
            <a:pPr marL="342900" indent="-342900" algn="l">
              <a:lnSpc>
                <a:spcPct val="150000"/>
              </a:lnSpc>
              <a:buFont typeface="Arial" panose="020B0604020202020204" pitchFamily="34" charset="0"/>
              <a:buChar char="•"/>
            </a:pPr>
            <a:r>
              <a:rPr lang="en-US" sz="2000" dirty="0"/>
              <a:t>An instruction set is the dictionary of commands a CPU can understand, like a list of all possible verbs and numbers, while machine language is an actual program, a sequence of binary 0s and 1s that uses those commands to perform a specific task. </a:t>
            </a:r>
          </a:p>
          <a:p>
            <a:pPr marL="342900" indent="-342900" algn="l">
              <a:lnSpc>
                <a:spcPct val="150000"/>
              </a:lnSpc>
              <a:buFont typeface="Arial" panose="020B0604020202020204" pitchFamily="34" charset="0"/>
              <a:buChar char="•"/>
            </a:pPr>
            <a:r>
              <a:rPr lang="en-US" sz="2000" dirty="0"/>
              <a:t>In essence, the instruction set defines what operations are possible (e.g., "add," "load"), and machine language is the specific, executable binary code that uses those definitions to tell the processor what to do. </a:t>
            </a:r>
          </a:p>
        </p:txBody>
      </p:sp>
    </p:spTree>
    <p:extLst>
      <p:ext uri="{BB962C8B-B14F-4D97-AF65-F5344CB8AC3E}">
        <p14:creationId xmlns:p14="http://schemas.microsoft.com/office/powerpoint/2010/main" val="3475695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9869A-3049-0EF3-3F6D-A33A52F2D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6401D-1ECD-4C2A-EA33-199C38ADD8D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What </a:t>
            </a:r>
            <a:r>
              <a:rPr lang="en-US" sz="4800" dirty="0">
                <a:solidFill>
                  <a:srgbClr val="C00000"/>
                </a:solidFill>
              </a:rPr>
              <a:t>happens</a:t>
            </a:r>
            <a:r>
              <a:rPr lang="en-US" sz="4200" dirty="0">
                <a:solidFill>
                  <a:srgbClr val="C00000"/>
                </a:solidFill>
              </a:rPr>
              <a:t> when you run a program?-1[1]</a:t>
            </a:r>
          </a:p>
        </p:txBody>
      </p:sp>
      <p:sp>
        <p:nvSpPr>
          <p:cNvPr id="3" name="Subtitle 2">
            <a:extLst>
              <a:ext uri="{FF2B5EF4-FFF2-40B4-BE49-F238E27FC236}">
                <a16:creationId xmlns:a16="http://schemas.microsoft.com/office/drawing/2014/main" id="{32F2B1FE-EC48-7F38-24EC-4E216E8EA121}"/>
              </a:ext>
            </a:extLst>
          </p:cNvPr>
          <p:cNvSpPr>
            <a:spLocks noGrp="1"/>
          </p:cNvSpPr>
          <p:nvPr>
            <p:ph type="subTitle" idx="1"/>
          </p:nvPr>
        </p:nvSpPr>
        <p:spPr>
          <a:xfrm>
            <a:off x="615576" y="1399209"/>
            <a:ext cx="11055624" cy="4535999"/>
          </a:xfrm>
        </p:spPr>
        <p:txBody>
          <a:bodyPr>
            <a:normAutofit/>
          </a:bodyPr>
          <a:lstStyle/>
          <a:p>
            <a:pPr marL="342900" indent="-342900" algn="l">
              <a:lnSpc>
                <a:spcPct val="150000"/>
              </a:lnSpc>
              <a:buFont typeface="Arial" panose="020B0604020202020204" pitchFamily="34" charset="0"/>
              <a:buChar char="•"/>
            </a:pPr>
            <a:r>
              <a:rPr lang="en-US" sz="2000" dirty="0"/>
              <a:t>A compiler translates high-level programs into an executable(“.c” to “</a:t>
            </a:r>
            <a:r>
              <a:rPr lang="en-US" sz="2000" dirty="0" err="1"/>
              <a:t>a.out</a:t>
            </a:r>
            <a:r>
              <a:rPr lang="en-US" sz="2000" dirty="0"/>
              <a:t>”)</a:t>
            </a:r>
          </a:p>
          <a:p>
            <a:pPr marL="342900" indent="-342900" algn="l">
              <a:lnSpc>
                <a:spcPct val="150000"/>
              </a:lnSpc>
              <a:buFont typeface="Arial" panose="020B0604020202020204" pitchFamily="34" charset="0"/>
              <a:buChar char="•"/>
            </a:pPr>
            <a:r>
              <a:rPr lang="en-US" sz="2000" dirty="0"/>
              <a:t>The exe contains instructions that the CPU can understand the commands and data of the program(all numbered with addresses)</a:t>
            </a:r>
          </a:p>
          <a:p>
            <a:pPr marL="342900" indent="-342900" algn="l">
              <a:lnSpc>
                <a:spcPct val="150000"/>
              </a:lnSpc>
              <a:buFont typeface="Arial" panose="020B0604020202020204" pitchFamily="34" charset="0"/>
              <a:buChar char="•"/>
            </a:pPr>
            <a:r>
              <a:rPr lang="en-US" sz="2000" dirty="0"/>
              <a:t>Instructions run on CPU: hardware implements an </a:t>
            </a:r>
            <a:r>
              <a:rPr lang="en-US" sz="2000" b="1" dirty="0"/>
              <a:t>I</a:t>
            </a:r>
            <a:r>
              <a:rPr lang="en-US" sz="2000" dirty="0"/>
              <a:t>nstruction </a:t>
            </a:r>
            <a:r>
              <a:rPr lang="en-US" sz="2000" b="1" dirty="0"/>
              <a:t>S</a:t>
            </a:r>
            <a:r>
              <a:rPr lang="en-US" sz="2000" dirty="0"/>
              <a:t>et </a:t>
            </a:r>
            <a:r>
              <a:rPr lang="en-US" sz="2000" b="1" dirty="0"/>
              <a:t>A</a:t>
            </a:r>
            <a:r>
              <a:rPr lang="en-US" sz="2000" dirty="0"/>
              <a:t>rchitecture (ISA)</a:t>
            </a:r>
          </a:p>
          <a:p>
            <a:pPr marL="342900" indent="-342900" algn="l">
              <a:lnSpc>
                <a:spcPct val="150000"/>
              </a:lnSpc>
              <a:buFont typeface="Arial" panose="020B0604020202020204" pitchFamily="34" charset="0"/>
              <a:buChar char="•"/>
            </a:pPr>
            <a:r>
              <a:rPr lang="en-US" sz="2000" dirty="0"/>
              <a:t>CPU also consists of a few registers, e.g.,</a:t>
            </a:r>
          </a:p>
          <a:p>
            <a:pPr lvl="1" algn="l">
              <a:lnSpc>
                <a:spcPct val="150000"/>
              </a:lnSpc>
            </a:pPr>
            <a:r>
              <a:rPr lang="en-US" dirty="0"/>
              <a:t>--- Pointer to current instruction (program counter or PC)</a:t>
            </a:r>
          </a:p>
          <a:p>
            <a:pPr lvl="1" algn="l">
              <a:lnSpc>
                <a:spcPct val="150000"/>
              </a:lnSpc>
            </a:pPr>
            <a:r>
              <a:rPr lang="en-US" dirty="0"/>
              <a:t>--- Operands of instructions, memory addresses</a:t>
            </a:r>
          </a:p>
          <a:p>
            <a:pPr marL="342900" indent="-342900" algn="l">
              <a:lnSpc>
                <a:spcPct val="150000"/>
              </a:lnSpc>
              <a:buFont typeface="Arial" panose="020B0604020202020204" pitchFamily="34" charset="0"/>
              <a:buChar char="•"/>
            </a:pPr>
            <a:endParaRPr lang="en-US" sz="2000" dirty="0"/>
          </a:p>
        </p:txBody>
      </p:sp>
      <p:sp>
        <p:nvSpPr>
          <p:cNvPr id="4" name="TextBox 3">
            <a:extLst>
              <a:ext uri="{FF2B5EF4-FFF2-40B4-BE49-F238E27FC236}">
                <a16:creationId xmlns:a16="http://schemas.microsoft.com/office/drawing/2014/main" id="{6D61831F-BA8D-1054-301B-F9130D65D102}"/>
              </a:ext>
            </a:extLst>
          </p:cNvPr>
          <p:cNvSpPr txBox="1"/>
          <p:nvPr/>
        </p:nvSpPr>
        <p:spPr>
          <a:xfrm>
            <a:off x="2631489" y="6152227"/>
            <a:ext cx="6929021" cy="369332"/>
          </a:xfrm>
          <a:prstGeom prst="rect">
            <a:avLst/>
          </a:prstGeom>
          <a:noFill/>
        </p:spPr>
        <p:txBody>
          <a:bodyPr wrap="square" rtlCol="0">
            <a:spAutoFit/>
          </a:bodyPr>
          <a:lstStyle/>
          <a:p>
            <a:r>
              <a:rPr lang="en-US" dirty="0"/>
              <a:t>[1]. https://www.cse.iitb.ac.in/~mythili/os/anno_slides/lecture1.pdf</a:t>
            </a:r>
          </a:p>
        </p:txBody>
      </p:sp>
    </p:spTree>
    <p:extLst>
      <p:ext uri="{BB962C8B-B14F-4D97-AF65-F5344CB8AC3E}">
        <p14:creationId xmlns:p14="http://schemas.microsoft.com/office/powerpoint/2010/main" val="1746194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What happens when you run a program?-2 [1]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6143" y="1385892"/>
            <a:ext cx="9391836" cy="4535999"/>
          </a:xfrm>
        </p:spPr>
        <p:txBody>
          <a:bodyPr>
            <a:normAutofit/>
          </a:bodyPr>
          <a:lstStyle/>
          <a:p>
            <a:pPr marL="342900" indent="-342900" algn="l">
              <a:lnSpc>
                <a:spcPct val="150000"/>
              </a:lnSpc>
              <a:buFont typeface="Arial" panose="020B0604020202020204" pitchFamily="34" charset="0"/>
              <a:buChar char="•"/>
            </a:pPr>
            <a:r>
              <a:rPr lang="en-US" dirty="0"/>
              <a:t>To run an exe, </a:t>
            </a:r>
            <a:r>
              <a:rPr lang="en-US"/>
              <a:t>CPU will</a:t>
            </a:r>
            <a:endParaRPr lang="en-US" dirty="0"/>
          </a:p>
          <a:p>
            <a:pPr lvl="1" algn="l">
              <a:lnSpc>
                <a:spcPct val="150000"/>
              </a:lnSpc>
            </a:pPr>
            <a:r>
              <a:rPr lang="en-US" dirty="0"/>
              <a:t>--- fetches instruction pointed at by PC from memory</a:t>
            </a:r>
          </a:p>
          <a:p>
            <a:pPr lvl="1" algn="l">
              <a:lnSpc>
                <a:spcPct val="150000"/>
              </a:lnSpc>
            </a:pPr>
            <a:r>
              <a:rPr lang="en-US" dirty="0"/>
              <a:t>--- Decodes and loads data required by the instructions into registers</a:t>
            </a:r>
          </a:p>
          <a:p>
            <a:pPr lvl="1" algn="l">
              <a:lnSpc>
                <a:spcPct val="150000"/>
              </a:lnSpc>
            </a:pPr>
            <a:r>
              <a:rPr lang="en-US" dirty="0"/>
              <a:t>--- Executes the instruction</a:t>
            </a:r>
          </a:p>
          <a:p>
            <a:pPr lvl="1" algn="l">
              <a:lnSpc>
                <a:spcPct val="150000"/>
              </a:lnSpc>
            </a:pPr>
            <a:r>
              <a:rPr lang="en-US" dirty="0"/>
              <a:t>--- stores results in memory(optional)</a:t>
            </a:r>
          </a:p>
          <a:p>
            <a:pPr marL="342900" indent="-342900" algn="l">
              <a:lnSpc>
                <a:spcPct val="150000"/>
              </a:lnSpc>
              <a:buFont typeface="Arial" panose="020B0604020202020204" pitchFamily="34" charset="0"/>
              <a:buChar char="•"/>
            </a:pPr>
            <a:r>
              <a:rPr lang="en-US" sz="2200" dirty="0"/>
              <a:t>Most recently used instructions and data are saved in CPU caches for faster access</a:t>
            </a:r>
          </a:p>
          <a:p>
            <a:pPr lvl="1" algn="l">
              <a:lnSpc>
                <a:spcPct val="150000"/>
              </a:lnSpc>
            </a:pPr>
            <a:endParaRPr lang="en-US" dirty="0"/>
          </a:p>
          <a:p>
            <a:pPr marL="342900" indent="-342900" algn="l">
              <a:lnSpc>
                <a:spcPct val="150000"/>
              </a:lnSpc>
              <a:buFont typeface="Arial" panose="020B0604020202020204" pitchFamily="34" charset="0"/>
              <a:buChar char="•"/>
            </a:pPr>
            <a:endParaRPr lang="en-US" dirty="0"/>
          </a:p>
        </p:txBody>
      </p:sp>
      <p:sp>
        <p:nvSpPr>
          <p:cNvPr id="4" name="TextBox 3">
            <a:extLst>
              <a:ext uri="{FF2B5EF4-FFF2-40B4-BE49-F238E27FC236}">
                <a16:creationId xmlns:a16="http://schemas.microsoft.com/office/drawing/2014/main" id="{F24B5778-B588-4D16-B036-394F7EB5F172}"/>
              </a:ext>
            </a:extLst>
          </p:cNvPr>
          <p:cNvSpPr txBox="1"/>
          <p:nvPr/>
        </p:nvSpPr>
        <p:spPr>
          <a:xfrm>
            <a:off x="2631489" y="5513034"/>
            <a:ext cx="6929021" cy="369332"/>
          </a:xfrm>
          <a:prstGeom prst="rect">
            <a:avLst/>
          </a:prstGeom>
          <a:noFill/>
        </p:spPr>
        <p:txBody>
          <a:bodyPr wrap="square" rtlCol="0">
            <a:spAutoFit/>
          </a:bodyPr>
          <a:lstStyle/>
          <a:p>
            <a:r>
              <a:rPr lang="en-US" dirty="0"/>
              <a:t>[1]. https://www.cse.iitb.ac.in/~mythili/os/anno_slides/lecture1.pdf</a:t>
            </a:r>
          </a:p>
        </p:txBody>
      </p:sp>
      <p:sp>
        <p:nvSpPr>
          <p:cNvPr id="5" name="Rectangle 4">
            <a:extLst>
              <a:ext uri="{FF2B5EF4-FFF2-40B4-BE49-F238E27FC236}">
                <a16:creationId xmlns:a16="http://schemas.microsoft.com/office/drawing/2014/main" id="{5890529C-E2EE-1695-AB68-471F12845811}"/>
              </a:ext>
            </a:extLst>
          </p:cNvPr>
          <p:cNvSpPr/>
          <p:nvPr/>
        </p:nvSpPr>
        <p:spPr>
          <a:xfrm>
            <a:off x="1882588" y="2115670"/>
            <a:ext cx="7677922" cy="194235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0943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E7871-4643-7F55-88C3-2D2E6D6C8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19CBC-CCAD-B63C-AEDF-7AFB734A150B}"/>
              </a:ext>
            </a:extLst>
          </p:cNvPr>
          <p:cNvSpPr>
            <a:spLocks noGrp="1"/>
          </p:cNvSpPr>
          <p:nvPr>
            <p:ph type="ctrTitle"/>
          </p:nvPr>
        </p:nvSpPr>
        <p:spPr>
          <a:xfrm>
            <a:off x="869629" y="120374"/>
            <a:ext cx="10452740" cy="524445"/>
          </a:xfrm>
        </p:spPr>
        <p:txBody>
          <a:bodyPr>
            <a:noAutofit/>
          </a:bodyPr>
          <a:lstStyle/>
          <a:p>
            <a:r>
              <a:rPr lang="en-US" sz="3200" dirty="0">
                <a:solidFill>
                  <a:srgbClr val="C00000"/>
                </a:solidFill>
              </a:rPr>
              <a:t>So, what happens when you run a program? -3 [2]</a:t>
            </a:r>
          </a:p>
        </p:txBody>
      </p:sp>
      <p:pic>
        <p:nvPicPr>
          <p:cNvPr id="7" name="Picture 6">
            <a:extLst>
              <a:ext uri="{FF2B5EF4-FFF2-40B4-BE49-F238E27FC236}">
                <a16:creationId xmlns:a16="http://schemas.microsoft.com/office/drawing/2014/main" id="{816DFFA6-2765-AE2B-52B1-693CCC724A68}"/>
              </a:ext>
            </a:extLst>
          </p:cNvPr>
          <p:cNvPicPr>
            <a:picLocks noChangeAspect="1"/>
          </p:cNvPicPr>
          <p:nvPr/>
        </p:nvPicPr>
        <p:blipFill>
          <a:blip r:embed="rId3"/>
          <a:stretch>
            <a:fillRect/>
          </a:stretch>
        </p:blipFill>
        <p:spPr>
          <a:xfrm>
            <a:off x="2234230" y="652784"/>
            <a:ext cx="7723539" cy="5685013"/>
          </a:xfrm>
          <a:prstGeom prst="rect">
            <a:avLst/>
          </a:prstGeom>
        </p:spPr>
      </p:pic>
      <p:sp>
        <p:nvSpPr>
          <p:cNvPr id="3" name="Title 1">
            <a:extLst>
              <a:ext uri="{FF2B5EF4-FFF2-40B4-BE49-F238E27FC236}">
                <a16:creationId xmlns:a16="http://schemas.microsoft.com/office/drawing/2014/main" id="{11FB5534-B994-E9D3-5176-CC398F4ECECB}"/>
              </a:ext>
            </a:extLst>
          </p:cNvPr>
          <p:cNvSpPr txBox="1">
            <a:spLocks/>
          </p:cNvSpPr>
          <p:nvPr/>
        </p:nvSpPr>
        <p:spPr>
          <a:xfrm>
            <a:off x="869629" y="6347789"/>
            <a:ext cx="10452740" cy="3898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1800" dirty="0"/>
              <a:t>[2]. David A. Patterson, “Computer Organization and Design RISC-V Edition: The Hardware Software Interface”</a:t>
            </a:r>
          </a:p>
        </p:txBody>
      </p:sp>
    </p:spTree>
    <p:extLst>
      <p:ext uri="{BB962C8B-B14F-4D97-AF65-F5344CB8AC3E}">
        <p14:creationId xmlns:p14="http://schemas.microsoft.com/office/powerpoint/2010/main" val="1075274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800" dirty="0">
                <a:solidFill>
                  <a:srgbClr val="C00000"/>
                </a:solidFill>
              </a:rPr>
              <a:t>So, what does the OS do?[1]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1267561"/>
            <a:ext cx="9391836" cy="4027970"/>
          </a:xfrm>
        </p:spPr>
        <p:txBody>
          <a:bodyPr>
            <a:normAutofit/>
          </a:bodyPr>
          <a:lstStyle/>
          <a:p>
            <a:pPr marL="342900" indent="-342900" algn="l">
              <a:lnSpc>
                <a:spcPct val="150000"/>
              </a:lnSpc>
              <a:buFont typeface="Arial" panose="020B0604020202020204" pitchFamily="34" charset="0"/>
              <a:buChar char="•"/>
            </a:pPr>
            <a:r>
              <a:rPr lang="en-US" dirty="0"/>
              <a:t>OS manages program memory</a:t>
            </a:r>
          </a:p>
          <a:p>
            <a:pPr lvl="1" algn="l">
              <a:lnSpc>
                <a:spcPct val="150000"/>
              </a:lnSpc>
            </a:pPr>
            <a:r>
              <a:rPr lang="en-US" dirty="0"/>
              <a:t>--- Loads program executable(code, data) from disk to memory</a:t>
            </a:r>
          </a:p>
          <a:p>
            <a:pPr marL="342900" indent="-342900" algn="l">
              <a:lnSpc>
                <a:spcPct val="150000"/>
              </a:lnSpc>
              <a:buFont typeface="Arial" panose="020B0604020202020204" pitchFamily="34" charset="0"/>
              <a:buChar char="•"/>
            </a:pPr>
            <a:r>
              <a:rPr lang="en-US" dirty="0"/>
              <a:t>OS manages CPU</a:t>
            </a:r>
          </a:p>
          <a:p>
            <a:pPr lvl="1" algn="l">
              <a:lnSpc>
                <a:spcPct val="150000"/>
              </a:lnSpc>
            </a:pPr>
            <a:r>
              <a:rPr lang="en-US" dirty="0"/>
              <a:t>--- initializes program counter (PC) and other registers to begin execution</a:t>
            </a:r>
          </a:p>
          <a:p>
            <a:pPr marL="342900" indent="-342900" algn="l">
              <a:lnSpc>
                <a:spcPct val="150000"/>
              </a:lnSpc>
              <a:buFont typeface="Arial" panose="020B0604020202020204" pitchFamily="34" charset="0"/>
              <a:buChar char="•"/>
            </a:pPr>
            <a:r>
              <a:rPr lang="en-US" dirty="0"/>
              <a:t>OS manages external devices</a:t>
            </a:r>
          </a:p>
          <a:p>
            <a:pPr lvl="1" algn="l">
              <a:lnSpc>
                <a:spcPct val="150000"/>
              </a:lnSpc>
            </a:pPr>
            <a:r>
              <a:rPr lang="en-US" dirty="0"/>
              <a:t>--- Read/write files from disk.</a:t>
            </a:r>
          </a:p>
          <a:p>
            <a:pPr algn="l">
              <a:lnSpc>
                <a:spcPct val="150000"/>
              </a:lnSpc>
            </a:pPr>
            <a:endParaRPr lang="en-US" dirty="0"/>
          </a:p>
        </p:txBody>
      </p:sp>
      <p:sp>
        <p:nvSpPr>
          <p:cNvPr id="4" name="TextBox 3">
            <a:extLst>
              <a:ext uri="{FF2B5EF4-FFF2-40B4-BE49-F238E27FC236}">
                <a16:creationId xmlns:a16="http://schemas.microsoft.com/office/drawing/2014/main" id="{B83E7FFF-9F51-D11D-84BF-5381A2D0E5D3}"/>
              </a:ext>
            </a:extLst>
          </p:cNvPr>
          <p:cNvSpPr txBox="1"/>
          <p:nvPr/>
        </p:nvSpPr>
        <p:spPr>
          <a:xfrm>
            <a:off x="2631489" y="5513034"/>
            <a:ext cx="6929021" cy="369332"/>
          </a:xfrm>
          <a:prstGeom prst="rect">
            <a:avLst/>
          </a:prstGeom>
          <a:noFill/>
        </p:spPr>
        <p:txBody>
          <a:bodyPr wrap="square" rtlCol="0">
            <a:spAutoFit/>
          </a:bodyPr>
          <a:lstStyle/>
          <a:p>
            <a:r>
              <a:rPr lang="en-US" dirty="0"/>
              <a:t>[1]. https://www.cse.iitb.ac.in/~mythili/os/anno_slides/lecture1.pdf</a:t>
            </a:r>
          </a:p>
        </p:txBody>
      </p:sp>
    </p:spTree>
    <p:extLst>
      <p:ext uri="{BB962C8B-B14F-4D97-AF65-F5344CB8AC3E}">
        <p14:creationId xmlns:p14="http://schemas.microsoft.com/office/powerpoint/2010/main" val="1344119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800" dirty="0">
                <a:solidFill>
                  <a:srgbClr val="C00000"/>
                </a:solidFill>
              </a:rPr>
              <a:t>OS manages CPU [1]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1267561"/>
            <a:ext cx="9391836" cy="4387516"/>
          </a:xfrm>
        </p:spPr>
        <p:txBody>
          <a:bodyPr>
            <a:normAutofit/>
          </a:bodyPr>
          <a:lstStyle/>
          <a:p>
            <a:pPr marL="342900" indent="-342900" algn="l">
              <a:lnSpc>
                <a:spcPct val="150000"/>
              </a:lnSpc>
              <a:buFont typeface="Arial" panose="020B0604020202020204" pitchFamily="34" charset="0"/>
              <a:buChar char="•"/>
            </a:pPr>
            <a:r>
              <a:rPr lang="en-US" dirty="0"/>
              <a:t>OS provides the process abstraction</a:t>
            </a:r>
          </a:p>
          <a:p>
            <a:pPr lvl="1" algn="l">
              <a:lnSpc>
                <a:spcPct val="150000"/>
              </a:lnSpc>
            </a:pPr>
            <a:r>
              <a:rPr lang="en-US" dirty="0"/>
              <a:t>--- Process: a running program</a:t>
            </a:r>
          </a:p>
          <a:p>
            <a:pPr lvl="1" algn="l">
              <a:lnSpc>
                <a:spcPct val="150000"/>
              </a:lnSpc>
            </a:pPr>
            <a:r>
              <a:rPr lang="en-US" dirty="0"/>
              <a:t>--- OS creates and manages processes</a:t>
            </a:r>
          </a:p>
          <a:p>
            <a:pPr marL="342900" indent="-342900" algn="l">
              <a:lnSpc>
                <a:spcPct val="150000"/>
              </a:lnSpc>
              <a:buFont typeface="Arial" panose="020B0604020202020204" pitchFamily="34" charset="0"/>
              <a:buChar char="•"/>
            </a:pPr>
            <a:r>
              <a:rPr lang="en-US" dirty="0"/>
              <a:t>Each process has the illusion of having the complete CPU, i.e., OS virtualizes CPU</a:t>
            </a:r>
          </a:p>
          <a:p>
            <a:pPr marL="342900" indent="-342900" algn="l">
              <a:lnSpc>
                <a:spcPct val="150000"/>
              </a:lnSpc>
              <a:buFont typeface="Arial" panose="020B0604020202020204" pitchFamily="34" charset="0"/>
              <a:buChar char="•"/>
            </a:pPr>
            <a:r>
              <a:rPr lang="en-US" dirty="0"/>
              <a:t>Timeshares CPU between processes</a:t>
            </a:r>
          </a:p>
          <a:p>
            <a:pPr marL="342900" indent="-342900" algn="l">
              <a:lnSpc>
                <a:spcPct val="150000"/>
              </a:lnSpc>
              <a:buFont typeface="Arial" panose="020B0604020202020204" pitchFamily="34" charset="0"/>
              <a:buChar char="•"/>
            </a:pPr>
            <a:r>
              <a:rPr lang="en-US" dirty="0"/>
              <a:t>Enables coordination between processes</a:t>
            </a:r>
          </a:p>
          <a:p>
            <a:pPr marL="342900" indent="-342900" algn="l">
              <a:lnSpc>
                <a:spcPct val="150000"/>
              </a:lnSpc>
              <a:buFont typeface="Arial" panose="020B0604020202020204" pitchFamily="34" charset="0"/>
              <a:buChar char="•"/>
            </a:pPr>
            <a:endParaRPr lang="en-US" dirty="0"/>
          </a:p>
          <a:p>
            <a:pPr algn="l">
              <a:lnSpc>
                <a:spcPct val="150000"/>
              </a:lnSpc>
            </a:pPr>
            <a:endParaRPr lang="en-US" dirty="0"/>
          </a:p>
        </p:txBody>
      </p:sp>
      <p:sp>
        <p:nvSpPr>
          <p:cNvPr id="4" name="TextBox 3">
            <a:extLst>
              <a:ext uri="{FF2B5EF4-FFF2-40B4-BE49-F238E27FC236}">
                <a16:creationId xmlns:a16="http://schemas.microsoft.com/office/drawing/2014/main" id="{52583DB3-6D87-1E99-063D-037EDA01C6E8}"/>
              </a:ext>
            </a:extLst>
          </p:cNvPr>
          <p:cNvSpPr txBox="1"/>
          <p:nvPr/>
        </p:nvSpPr>
        <p:spPr>
          <a:xfrm>
            <a:off x="2631489" y="5925848"/>
            <a:ext cx="6929021" cy="369332"/>
          </a:xfrm>
          <a:prstGeom prst="rect">
            <a:avLst/>
          </a:prstGeom>
          <a:noFill/>
        </p:spPr>
        <p:txBody>
          <a:bodyPr wrap="square" rtlCol="0">
            <a:spAutoFit/>
          </a:bodyPr>
          <a:lstStyle/>
          <a:p>
            <a:r>
              <a:rPr lang="en-US" dirty="0"/>
              <a:t>[1]. https://www.cse.iitb.ac.in/~mythili/os/anno_slides/lecture1.pdf</a:t>
            </a:r>
          </a:p>
        </p:txBody>
      </p:sp>
    </p:spTree>
    <p:extLst>
      <p:ext uri="{BB962C8B-B14F-4D97-AF65-F5344CB8AC3E}">
        <p14:creationId xmlns:p14="http://schemas.microsoft.com/office/powerpoint/2010/main" val="2880740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800" dirty="0">
                <a:solidFill>
                  <a:srgbClr val="C00000"/>
                </a:solidFill>
              </a:rPr>
              <a:t>OS manages memory [1]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1267561"/>
            <a:ext cx="9391836" cy="3495310"/>
          </a:xfrm>
        </p:spPr>
        <p:txBody>
          <a:bodyPr>
            <a:normAutofit/>
          </a:bodyPr>
          <a:lstStyle/>
          <a:p>
            <a:pPr marL="342900" indent="-342900" algn="l">
              <a:lnSpc>
                <a:spcPct val="150000"/>
              </a:lnSpc>
              <a:buFont typeface="Arial" panose="020B0604020202020204" pitchFamily="34" charset="0"/>
              <a:buChar char="•"/>
            </a:pPr>
            <a:r>
              <a:rPr lang="en-US" dirty="0"/>
              <a:t>OS provides the memory of the process: code, data, stack, heap </a:t>
            </a:r>
            <a:r>
              <a:rPr lang="en-US" dirty="0" err="1"/>
              <a:t>etc</a:t>
            </a:r>
            <a:endParaRPr lang="en-US" dirty="0"/>
          </a:p>
          <a:p>
            <a:pPr marL="342900" indent="-342900" algn="l">
              <a:lnSpc>
                <a:spcPct val="150000"/>
              </a:lnSpc>
              <a:buFont typeface="Arial" panose="020B0604020202020204" pitchFamily="34" charset="0"/>
              <a:buChar char="•"/>
            </a:pPr>
            <a:r>
              <a:rPr lang="en-US" dirty="0"/>
              <a:t>Each process thinks it has an isolated memory space for itself, numbers code, and data starting from 0 (virtual addresses)</a:t>
            </a:r>
          </a:p>
          <a:p>
            <a:pPr marL="342900" indent="-342900" algn="l">
              <a:lnSpc>
                <a:spcPct val="150000"/>
              </a:lnSpc>
              <a:buFont typeface="Arial" panose="020B0604020202020204" pitchFamily="34" charset="0"/>
              <a:buChar char="•"/>
            </a:pPr>
            <a:r>
              <a:rPr lang="en-US" dirty="0"/>
              <a:t>OS abstracts out the details of the actual placement in memory, translates from virtual addresses to actual physical addresses</a:t>
            </a:r>
          </a:p>
          <a:p>
            <a:pPr algn="l">
              <a:lnSpc>
                <a:spcPct val="150000"/>
              </a:lnSpc>
            </a:pPr>
            <a:endParaRPr lang="en-US" dirty="0"/>
          </a:p>
        </p:txBody>
      </p:sp>
      <p:sp>
        <p:nvSpPr>
          <p:cNvPr id="4" name="TextBox 3">
            <a:extLst>
              <a:ext uri="{FF2B5EF4-FFF2-40B4-BE49-F238E27FC236}">
                <a16:creationId xmlns:a16="http://schemas.microsoft.com/office/drawing/2014/main" id="{29D19BB5-819E-A902-E953-6BB7029A4711}"/>
              </a:ext>
            </a:extLst>
          </p:cNvPr>
          <p:cNvSpPr txBox="1"/>
          <p:nvPr/>
        </p:nvSpPr>
        <p:spPr>
          <a:xfrm>
            <a:off x="2631489" y="5513034"/>
            <a:ext cx="6929021" cy="369332"/>
          </a:xfrm>
          <a:prstGeom prst="rect">
            <a:avLst/>
          </a:prstGeom>
          <a:noFill/>
        </p:spPr>
        <p:txBody>
          <a:bodyPr wrap="square" rtlCol="0">
            <a:spAutoFit/>
          </a:bodyPr>
          <a:lstStyle/>
          <a:p>
            <a:r>
              <a:rPr lang="en-US" dirty="0"/>
              <a:t>[1]. https://www.cse.iitb.ac.in/~mythili/os/anno_slides/lecture1.pdf</a:t>
            </a:r>
          </a:p>
        </p:txBody>
      </p:sp>
    </p:spTree>
    <p:extLst>
      <p:ext uri="{BB962C8B-B14F-4D97-AF65-F5344CB8AC3E}">
        <p14:creationId xmlns:p14="http://schemas.microsoft.com/office/powerpoint/2010/main" val="2790480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800" dirty="0">
                <a:solidFill>
                  <a:srgbClr val="C00000"/>
                </a:solidFill>
              </a:rPr>
              <a:t>OS manages devices [1]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1267560"/>
            <a:ext cx="9391836" cy="4161135"/>
          </a:xfrm>
        </p:spPr>
        <p:txBody>
          <a:bodyPr>
            <a:normAutofit/>
          </a:bodyPr>
          <a:lstStyle/>
          <a:p>
            <a:pPr marL="342900" indent="-342900" algn="l">
              <a:lnSpc>
                <a:spcPct val="150000"/>
              </a:lnSpc>
              <a:buFont typeface="Arial" panose="020B0604020202020204" pitchFamily="34" charset="0"/>
              <a:buChar char="•"/>
            </a:pPr>
            <a:r>
              <a:rPr lang="en-US" dirty="0"/>
              <a:t>OS has code to manage disk, network card, and other external devices: device drivers</a:t>
            </a:r>
          </a:p>
          <a:p>
            <a:pPr marL="342900" indent="-342900" algn="l">
              <a:lnSpc>
                <a:spcPct val="150000"/>
              </a:lnSpc>
              <a:buFont typeface="Arial" panose="020B0604020202020204" pitchFamily="34" charset="0"/>
              <a:buChar char="•"/>
            </a:pPr>
            <a:r>
              <a:rPr lang="en-US" dirty="0"/>
              <a:t>Device driver talks the language of the hardware devices</a:t>
            </a:r>
          </a:p>
          <a:p>
            <a:pPr lvl="1" algn="l">
              <a:lnSpc>
                <a:spcPct val="150000"/>
              </a:lnSpc>
            </a:pPr>
            <a:r>
              <a:rPr lang="en-US" dirty="0"/>
              <a:t>--- Issues instructions to devices (fetch data from a file)</a:t>
            </a:r>
          </a:p>
          <a:p>
            <a:pPr lvl="1" algn="l">
              <a:lnSpc>
                <a:spcPct val="150000"/>
              </a:lnSpc>
            </a:pPr>
            <a:r>
              <a:rPr lang="en-US" dirty="0"/>
              <a:t>--- Responds to interrupt events from devices (user has pressed a key on the keyboard)</a:t>
            </a:r>
          </a:p>
          <a:p>
            <a:pPr marL="342900" indent="-342900" algn="l">
              <a:lnSpc>
                <a:spcPct val="150000"/>
              </a:lnSpc>
              <a:buFont typeface="Arial" panose="020B0604020202020204" pitchFamily="34" charset="0"/>
              <a:buChar char="•"/>
            </a:pPr>
            <a:r>
              <a:rPr lang="en-US" dirty="0"/>
              <a:t>Persistent data organized as a filesystem on disk</a:t>
            </a:r>
          </a:p>
          <a:p>
            <a:pPr algn="l">
              <a:lnSpc>
                <a:spcPct val="150000"/>
              </a:lnSpc>
            </a:pPr>
            <a:endParaRPr lang="en-US" dirty="0"/>
          </a:p>
        </p:txBody>
      </p:sp>
      <p:sp>
        <p:nvSpPr>
          <p:cNvPr id="4" name="TextBox 3">
            <a:extLst>
              <a:ext uri="{FF2B5EF4-FFF2-40B4-BE49-F238E27FC236}">
                <a16:creationId xmlns:a16="http://schemas.microsoft.com/office/drawing/2014/main" id="{0EE7447A-99D8-A074-FD9B-ABBC6A4C77E6}"/>
              </a:ext>
            </a:extLst>
          </p:cNvPr>
          <p:cNvSpPr txBox="1"/>
          <p:nvPr/>
        </p:nvSpPr>
        <p:spPr>
          <a:xfrm>
            <a:off x="2631489" y="5770488"/>
            <a:ext cx="6929021" cy="369332"/>
          </a:xfrm>
          <a:prstGeom prst="rect">
            <a:avLst/>
          </a:prstGeom>
          <a:noFill/>
        </p:spPr>
        <p:txBody>
          <a:bodyPr wrap="square" rtlCol="0">
            <a:spAutoFit/>
          </a:bodyPr>
          <a:lstStyle/>
          <a:p>
            <a:r>
              <a:rPr lang="en-US" dirty="0"/>
              <a:t>[1]. https://www.cse.iitb.ac.in/~mythili/os/anno_slides/lecture1.pdf</a:t>
            </a:r>
          </a:p>
        </p:txBody>
      </p:sp>
    </p:spTree>
    <p:extLst>
      <p:ext uri="{BB962C8B-B14F-4D97-AF65-F5344CB8AC3E}">
        <p14:creationId xmlns:p14="http://schemas.microsoft.com/office/powerpoint/2010/main" val="1834639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800" dirty="0">
                <a:solidFill>
                  <a:srgbClr val="C00000"/>
                </a:solidFill>
              </a:rPr>
              <a:t>Design goals of an operating system [1]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1267561"/>
            <a:ext cx="9391836" cy="2816168"/>
          </a:xfrm>
        </p:spPr>
        <p:txBody>
          <a:bodyPr>
            <a:normAutofit/>
          </a:bodyPr>
          <a:lstStyle/>
          <a:p>
            <a:pPr marL="342900" indent="-342900" algn="l">
              <a:lnSpc>
                <a:spcPct val="150000"/>
              </a:lnSpc>
              <a:buFont typeface="Arial" panose="020B0604020202020204" pitchFamily="34" charset="0"/>
              <a:buChar char="•"/>
            </a:pPr>
            <a:r>
              <a:rPr lang="en-US" dirty="0"/>
              <a:t>Convenience, abstraction of hardware resources for user programs</a:t>
            </a:r>
          </a:p>
          <a:p>
            <a:pPr marL="342900" indent="-342900" algn="l">
              <a:lnSpc>
                <a:spcPct val="150000"/>
              </a:lnSpc>
              <a:buFont typeface="Arial" panose="020B0604020202020204" pitchFamily="34" charset="0"/>
              <a:buChar char="•"/>
            </a:pPr>
            <a:r>
              <a:rPr lang="en-US" dirty="0"/>
              <a:t>Efficiency of usage of CPU, memory, </a:t>
            </a:r>
            <a:r>
              <a:rPr lang="en-US" dirty="0" err="1"/>
              <a:t>etc</a:t>
            </a:r>
            <a:endParaRPr lang="en-US" dirty="0"/>
          </a:p>
          <a:p>
            <a:pPr marL="342900" indent="-342900" algn="l">
              <a:lnSpc>
                <a:spcPct val="150000"/>
              </a:lnSpc>
              <a:buFont typeface="Arial" panose="020B0604020202020204" pitchFamily="34" charset="0"/>
              <a:buChar char="•"/>
            </a:pPr>
            <a:r>
              <a:rPr lang="en-US" dirty="0"/>
              <a:t>Isolation between multiple processes</a:t>
            </a:r>
          </a:p>
        </p:txBody>
      </p:sp>
      <p:sp>
        <p:nvSpPr>
          <p:cNvPr id="4" name="TextBox 3">
            <a:extLst>
              <a:ext uri="{FF2B5EF4-FFF2-40B4-BE49-F238E27FC236}">
                <a16:creationId xmlns:a16="http://schemas.microsoft.com/office/drawing/2014/main" id="{BB6D8F10-F0DE-967B-0DFA-27E037AEBDB5}"/>
              </a:ext>
            </a:extLst>
          </p:cNvPr>
          <p:cNvSpPr txBox="1"/>
          <p:nvPr/>
        </p:nvSpPr>
        <p:spPr>
          <a:xfrm>
            <a:off x="2631489" y="5513034"/>
            <a:ext cx="6929021" cy="369332"/>
          </a:xfrm>
          <a:prstGeom prst="rect">
            <a:avLst/>
          </a:prstGeom>
          <a:noFill/>
        </p:spPr>
        <p:txBody>
          <a:bodyPr wrap="square" rtlCol="0">
            <a:spAutoFit/>
          </a:bodyPr>
          <a:lstStyle/>
          <a:p>
            <a:r>
              <a:rPr lang="en-US" dirty="0"/>
              <a:t>[1]. https://www.cse.iitb.ac.in/~mythili/os/anno_slides/lecture1.pdf</a:t>
            </a:r>
          </a:p>
        </p:txBody>
      </p:sp>
    </p:spTree>
    <p:extLst>
      <p:ext uri="{BB962C8B-B14F-4D97-AF65-F5344CB8AC3E}">
        <p14:creationId xmlns:p14="http://schemas.microsoft.com/office/powerpoint/2010/main" val="941714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800" dirty="0">
                <a:solidFill>
                  <a:srgbClr val="C00000"/>
                </a:solidFill>
              </a:rPr>
              <a:t>History of operating systems [1]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81704" y="1267560"/>
            <a:ext cx="9391836" cy="4192207"/>
          </a:xfrm>
        </p:spPr>
        <p:txBody>
          <a:bodyPr>
            <a:normAutofit lnSpcReduction="10000"/>
          </a:bodyPr>
          <a:lstStyle/>
          <a:p>
            <a:pPr marL="342900" indent="-342900" algn="l">
              <a:lnSpc>
                <a:spcPct val="150000"/>
              </a:lnSpc>
              <a:buFont typeface="Arial" panose="020B0604020202020204" pitchFamily="34" charset="0"/>
              <a:buChar char="•"/>
            </a:pPr>
            <a:r>
              <a:rPr lang="en-US" dirty="0"/>
              <a:t>Started out as a library to provide common functionality across programs</a:t>
            </a:r>
          </a:p>
          <a:p>
            <a:pPr marL="342900" indent="-342900" algn="l">
              <a:lnSpc>
                <a:spcPct val="150000"/>
              </a:lnSpc>
              <a:buFont typeface="Arial" panose="020B0604020202020204" pitchFamily="34" charset="0"/>
              <a:buChar char="•"/>
            </a:pPr>
            <a:r>
              <a:rPr lang="en-US" dirty="0"/>
              <a:t>Later, evolved from procedure call to system call</a:t>
            </a:r>
          </a:p>
          <a:p>
            <a:pPr marL="342900" indent="-342900" algn="l">
              <a:lnSpc>
                <a:spcPct val="150000"/>
              </a:lnSpc>
              <a:buFont typeface="Arial" panose="020B0604020202020204" pitchFamily="34" charset="0"/>
              <a:buChar char="•"/>
            </a:pPr>
            <a:r>
              <a:rPr lang="en-US" dirty="0"/>
              <a:t>When a system call is made to run OS code, the CPU executes at a higher privilege level</a:t>
            </a:r>
          </a:p>
          <a:p>
            <a:pPr marL="342900" indent="-342900" algn="l">
              <a:lnSpc>
                <a:spcPct val="150000"/>
              </a:lnSpc>
              <a:buFont typeface="Arial" panose="020B0604020202020204" pitchFamily="34" charset="0"/>
              <a:buChar char="•"/>
            </a:pPr>
            <a:r>
              <a:rPr lang="en-US" dirty="0"/>
              <a:t>Evolved from running a single program to multiple processes concurrently</a:t>
            </a:r>
          </a:p>
        </p:txBody>
      </p:sp>
      <p:sp>
        <p:nvSpPr>
          <p:cNvPr id="4" name="TextBox 3">
            <a:extLst>
              <a:ext uri="{FF2B5EF4-FFF2-40B4-BE49-F238E27FC236}">
                <a16:creationId xmlns:a16="http://schemas.microsoft.com/office/drawing/2014/main" id="{2BA4C33F-F7F1-E582-1D89-1D0D822BCB8E}"/>
              </a:ext>
            </a:extLst>
          </p:cNvPr>
          <p:cNvSpPr txBox="1"/>
          <p:nvPr/>
        </p:nvSpPr>
        <p:spPr>
          <a:xfrm>
            <a:off x="2631489" y="6116720"/>
            <a:ext cx="6929021" cy="369332"/>
          </a:xfrm>
          <a:prstGeom prst="rect">
            <a:avLst/>
          </a:prstGeom>
          <a:noFill/>
        </p:spPr>
        <p:txBody>
          <a:bodyPr wrap="square" rtlCol="0">
            <a:spAutoFit/>
          </a:bodyPr>
          <a:lstStyle/>
          <a:p>
            <a:r>
              <a:rPr lang="en-US" dirty="0"/>
              <a:t>[1]. https://www.cse.iitb.ac.in/~mythili/os/anno_slides/lecture1.pdf</a:t>
            </a:r>
          </a:p>
        </p:txBody>
      </p:sp>
    </p:spTree>
    <p:extLst>
      <p:ext uri="{BB962C8B-B14F-4D97-AF65-F5344CB8AC3E}">
        <p14:creationId xmlns:p14="http://schemas.microsoft.com/office/powerpoint/2010/main" val="42261619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TotalTime>
  <Words>1124</Words>
  <Application>Microsoft Office PowerPoint</Application>
  <PresentationFormat>Widescreen</PresentationFormat>
  <Paragraphs>84</Paragraphs>
  <Slides>15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Reading Assignment</vt:lpstr>
      <vt:lpstr>Agenda</vt:lpstr>
      <vt:lpstr>What is an operating system?[1]</vt:lpstr>
      <vt:lpstr>High-level and low-level programming languages</vt:lpstr>
      <vt:lpstr>Machine language and instruction sets</vt:lpstr>
      <vt:lpstr>What happens when you run a program?-1[1]</vt:lpstr>
      <vt:lpstr>What happens when you run a program?-2 [1]</vt:lpstr>
      <vt:lpstr>So, what happens when you run a program? -3 [2]</vt:lpstr>
      <vt:lpstr>So, what does the OS do?[1]</vt:lpstr>
      <vt:lpstr>OS manages CPU [1]</vt:lpstr>
      <vt:lpstr>OS manages memory [1]</vt:lpstr>
      <vt:lpstr>OS manages devices [1]</vt:lpstr>
      <vt:lpstr>Design goals of an operating system [1]</vt:lpstr>
      <vt:lpstr>History of operating systems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 Zhao</dc:creator>
  <cp:lastModifiedBy>Zhao, Jie</cp:lastModifiedBy>
  <cp:revision>1</cp:revision>
  <dcterms:created xsi:type="dcterms:W3CDTF">2023-08-19T20:44:10Z</dcterms:created>
  <dcterms:modified xsi:type="dcterms:W3CDTF">2026-01-14T17:39:49Z</dcterms:modified>
</cp:coreProperties>
</file>