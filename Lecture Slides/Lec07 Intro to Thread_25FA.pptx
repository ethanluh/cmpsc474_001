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07" r:id="rId4"/>
    <p:sldId id="303" r:id="rId5"/>
    <p:sldId id="304" r:id="rId6"/>
    <p:sldId id="281" r:id="rId7"/>
    <p:sldId id="293" r:id="rId8"/>
    <p:sldId id="290" r:id="rId9"/>
    <p:sldId id="295" r:id="rId10"/>
    <p:sldId id="305" r:id="rId11"/>
    <p:sldId id="306" r:id="rId12"/>
    <p:sldId id="298" r:id="rId13"/>
    <p:sldId id="29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09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Jie" userId="7be6526a-30ba-445c-b3a9-aabf2c8f5828" providerId="ADAL" clId="{DEC740C7-2239-4DCB-A2EC-28D5B021DFB5}"/>
    <pc:docChg chg="modSld">
      <pc:chgData name="Zhao, Jie" userId="7be6526a-30ba-445c-b3a9-aabf2c8f5828" providerId="ADAL" clId="{DEC740C7-2239-4DCB-A2EC-28D5B021DFB5}" dt="2026-02-16T00:23:16.381" v="7" actId="20577"/>
      <pc:docMkLst>
        <pc:docMk/>
      </pc:docMkLst>
      <pc:sldChg chg="modSp mod">
        <pc:chgData name="Zhao, Jie" userId="7be6526a-30ba-445c-b3a9-aabf2c8f5828" providerId="ADAL" clId="{DEC740C7-2239-4DCB-A2EC-28D5B021DFB5}" dt="2026-02-16T00:23:16.381" v="7" actId="20577"/>
        <pc:sldMkLst>
          <pc:docMk/>
          <pc:sldMk cId="2199995263" sldId="256"/>
        </pc:sldMkLst>
        <pc:spChg chg="mod">
          <ac:chgData name="Zhao, Jie" userId="7be6526a-30ba-445c-b3a9-aabf2c8f5828" providerId="ADAL" clId="{DEC740C7-2239-4DCB-A2EC-28D5B021DFB5}" dt="2026-02-16T00:23:16.381" v="7" actId="20577"/>
          <ac:spMkLst>
            <pc:docMk/>
            <pc:sldMk cId="2199995263" sldId="256"/>
            <ac:spMk id="3" creationId="{2C5DF914-4B40-4A23-8AAC-9CFE7F215A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94F02-DFE8-47F5-999D-4D065381BD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532FC-0C26-41ED-91C4-2A1C58AE2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0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CFA-34B8-4985-9EBD-3480D5E1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33D6D-E622-4C3B-9F70-ED49553B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B9800-BBE3-43F3-954C-1BE89C9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448D-A783-4933-8C87-202B908B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A539E-77FB-4784-8F48-40A6E10C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5774-D8FB-4609-AAE6-9DFB9337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BC86-19DE-433A-AC72-8E6E8A93B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EAE9-538F-4540-99B2-F94BBB0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FA06-A552-48E9-984C-063D235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B287-478F-4020-BBF4-AE2612E4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8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5F8E-D378-48F1-982D-606B316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94D5D-2E6F-4291-B1C6-BBFC0323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AFD2-28C6-455D-AE60-B9D72486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2756-894F-46FE-B4D3-4C370744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601B-7763-446C-9DC5-9ACF5EE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5D5-4A70-4523-8C56-7A2F6309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0669-8B6D-4573-A65D-5723BE7B8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26AA6-27C3-4956-B4F9-B51F02240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ADE07-F788-4954-AC59-F7BCCAD8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EA43F-F602-40EE-B21F-DC7E68CD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1C2A-9F62-4A54-96AE-3DAD4823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93E4-29D2-4052-9C0C-2B12FB9F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864E-EDC6-4F4B-90E2-73414CCE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8338-D4D6-46C1-A40B-EBAFA058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6AB0C-3D87-4B28-A144-FBE1D0F6F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639F3-6EB4-4B92-AE38-D411C1AA3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005A4-0514-429B-9362-4434E793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49C01-7B53-435D-82F7-A1316279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674F3-601B-4FAC-913E-6356AB82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F530-2DDE-4090-B9BA-4E706FE8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B356-E78B-4416-98FE-2C17AE15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593D8-810C-4035-B5ED-80F9BF0D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55571-D054-48D1-8803-ADE847A6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E268-32AF-41F1-B9BF-76444776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81429-1463-423B-A364-3007974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A6839-CB05-4AB6-92C3-597FE9B6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0436-DB2A-48F1-B027-49BF16EC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BF08-10D0-4FEE-BD95-9FDFBA2F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3EEA-BC06-42DA-89F3-9E0D2161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5DFBF-2A0A-4BBC-A7A2-C761EAFD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32EE-DBDF-4DD6-B09C-98EFBACD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F9592-0DF4-4888-A204-38DA63D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96FA-1210-4D0E-9505-D51795E0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255D6-880E-44DA-919F-3FCF13B52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7E01-C6FB-46A7-A74A-898E5820E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34C9-0AC3-43C3-A654-3FC0164A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7480-0FFC-41C2-88A2-0A21C726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4567-0817-4CF6-BD05-B1BDEA79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0B9-FC21-406B-B5FA-B60B7DC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6599-23BC-425D-8BD9-EE0D324D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C455-686D-48B4-8DAB-D94E33E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1942-3ED0-4931-A8CE-6D984F83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5B99-3A43-477C-B42A-3C08D02D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3F515-C31F-4273-9268-3D1EF4F6F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F6F7-9F34-4BB4-8961-A8EDC9D8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9CB1-7397-4C82-89C9-0693FB29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1C97-2278-43A9-BE35-0AD61265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134C-7180-46A6-9627-AECEF8D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26403-82E5-42A1-9D17-51FB8924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3246-0D43-4E66-B320-0671607B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5B71-0150-43A3-94BD-2B7D0897C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B579-BE22-4365-9624-3AE1F352F1A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B45D-F9D5-470F-9240-ABDE82EA2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585F-DBFF-493F-8D4A-16FE923E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34" y="465935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Topic: </a:t>
            </a:r>
            <a:r>
              <a:rPr lang="fr-FR" dirty="0"/>
              <a:t>Intro to Threads</a:t>
            </a:r>
            <a:endParaRPr lang="en-US" dirty="0"/>
          </a:p>
          <a:p>
            <a:r>
              <a:rPr lang="en-US" dirty="0"/>
              <a:t>Lecture: Dr. Zhao Jie</a:t>
            </a:r>
          </a:p>
          <a:p>
            <a:r>
              <a:rPr lang="en-US" dirty="0"/>
              <a:t>Date: 02/16/2026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60897-8669-4C6A-9213-A875ED322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37202"/>
            <a:ext cx="996796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9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Reading Assignment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Reading Assignment: Ch. 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79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5CCB8-C9FC-0445-39B9-F8DFA9EE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BA09-0297-CC12-8ABA-8D4B47648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5801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Agenda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945F2-D693-8A00-10B9-66DF86458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37676"/>
            <a:ext cx="9144000" cy="1288411"/>
          </a:xfrm>
        </p:spPr>
        <p:txBody>
          <a:bodyPr numCol="2"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Single-thread process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Multi-thread process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Thread structure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Thread implementation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Race condition</a:t>
            </a:r>
          </a:p>
        </p:txBody>
      </p:sp>
    </p:spTree>
    <p:extLst>
      <p:ext uri="{BB962C8B-B14F-4D97-AF65-F5344CB8AC3E}">
        <p14:creationId xmlns:p14="http://schemas.microsoft.com/office/powerpoint/2010/main" val="323929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5A19F-D76F-459B-1514-A34AEB2B5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C372-7F53-0B5C-F171-D3D049C01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572831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Motivation - 1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70006-8E65-084B-31C9-83BB807FD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458" y="1488009"/>
            <a:ext cx="5706542" cy="4649756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 retrospect, what are the components of a process?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If there is a need for an I/O request, will the process be blocked for I/O access?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If there are two processes, with the I/O request, does an increased number of process helps for efficient execution?</a:t>
            </a:r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algn="l"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9E3B25-CC26-DD2D-242C-DD89FAA6C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276" y="5972606"/>
            <a:ext cx="3605343" cy="228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EF15E3-BBAC-FC24-417D-5B8A10E45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614" y="1345044"/>
            <a:ext cx="438800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4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A5E8D-437E-6914-CEAF-048EC925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9B539-A96E-C951-08E3-5C694CF94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250583"/>
            <a:ext cx="9755080" cy="591029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Motivation - 2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C73ED-78CF-5C15-1C3B-8942560C1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600" y="1008586"/>
            <a:ext cx="11456799" cy="5369466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Introduction of the thread is necessary.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is the thread? 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The thread is a lightweight process.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There are two reasons to use Thread, not Process. </a:t>
            </a:r>
          </a:p>
          <a:p>
            <a:pPr marL="800100" lvl="1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/>
              <a:t>The first reason is </a:t>
            </a:r>
            <a:r>
              <a:rPr lang="en-US" sz="1800" b="1" dirty="0"/>
              <a:t>parallelism</a:t>
            </a:r>
          </a:p>
          <a:p>
            <a:pPr lvl="1" algn="l">
              <a:lnSpc>
                <a:spcPct val="150000"/>
              </a:lnSpc>
            </a:pPr>
            <a:endParaRPr lang="en-US" dirty="0"/>
          </a:p>
          <a:p>
            <a:pPr lvl="1" algn="l">
              <a:lnSpc>
                <a:spcPct val="150000"/>
              </a:lnSpc>
            </a:pPr>
            <a:endParaRPr lang="en-US" dirty="0"/>
          </a:p>
          <a:p>
            <a:pPr marL="800100" lvl="1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/>
              <a:t>The second reason </a:t>
            </a:r>
            <a:r>
              <a:rPr lang="en-US" sz="1800" b="1" dirty="0"/>
              <a:t>is non-blocking progress</a:t>
            </a:r>
            <a:r>
              <a:rPr lang="en-US" sz="1800" dirty="0"/>
              <a:t>.</a:t>
            </a:r>
          </a:p>
          <a:p>
            <a:pPr lvl="2" algn="l">
              <a:lnSpc>
                <a:spcPct val="150000"/>
              </a:lnSpc>
            </a:pPr>
            <a:r>
              <a:rPr lang="en-US" sz="1600" dirty="0"/>
              <a:t>When a thread is blocked for an I/O request, the OS allows another thread to use CPU resources without incurring the costs of a context switch.</a:t>
            </a:r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algn="l">
              <a:lnSpc>
                <a:spcPct val="150000"/>
              </a:lnSpc>
            </a:pPr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F6B66B-F19C-56D5-5A55-4CC802E91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081382"/>
              </p:ext>
            </p:extLst>
          </p:nvPr>
        </p:nvGraphicFramePr>
        <p:xfrm>
          <a:off x="6026245" y="3622090"/>
          <a:ext cx="54864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11958250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87486093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91680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05267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4CA7A0-F1AE-5734-9644-27B6F5B64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750098"/>
              </p:ext>
            </p:extLst>
          </p:nvPr>
        </p:nvGraphicFramePr>
        <p:xfrm>
          <a:off x="6026245" y="4502564"/>
          <a:ext cx="54864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11958250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87486093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91680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05267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1ACCE39-9512-EC85-8C82-34A617798C85}"/>
              </a:ext>
            </a:extLst>
          </p:cNvPr>
          <p:cNvSpPr txBox="1"/>
          <p:nvPr/>
        </p:nvSpPr>
        <p:spPr>
          <a:xfrm>
            <a:off x="4676634" y="3622090"/>
            <a:ext cx="1223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int arr1[3]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3A80E-F18B-FB1F-67AD-028F609D9BD4}"/>
              </a:ext>
            </a:extLst>
          </p:cNvPr>
          <p:cNvSpPr txBox="1"/>
          <p:nvPr/>
        </p:nvSpPr>
        <p:spPr>
          <a:xfrm>
            <a:off x="4676634" y="4447779"/>
            <a:ext cx="1223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int arr2[3]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020A8BB-956C-0B3C-6187-ED559C0EF7CC}"/>
              </a:ext>
            </a:extLst>
          </p:cNvPr>
          <p:cNvSpPr/>
          <p:nvPr/>
        </p:nvSpPr>
        <p:spPr>
          <a:xfrm>
            <a:off x="6933063" y="4121624"/>
            <a:ext cx="168322" cy="326155"/>
          </a:xfrm>
          <a:prstGeom prst="down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21BD428-ED28-6100-A518-6ABEA7C39F70}"/>
              </a:ext>
            </a:extLst>
          </p:cNvPr>
          <p:cNvSpPr/>
          <p:nvPr/>
        </p:nvSpPr>
        <p:spPr>
          <a:xfrm>
            <a:off x="8685284" y="4084669"/>
            <a:ext cx="168322" cy="326155"/>
          </a:xfrm>
          <a:prstGeom prst="down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ECF0B48D-E9E9-3F9B-03CD-730F2DCE1FCD}"/>
              </a:ext>
            </a:extLst>
          </p:cNvPr>
          <p:cNvSpPr/>
          <p:nvPr/>
        </p:nvSpPr>
        <p:spPr>
          <a:xfrm>
            <a:off x="10622508" y="4084822"/>
            <a:ext cx="168322" cy="326155"/>
          </a:xfrm>
          <a:prstGeom prst="down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7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253503"/>
            <a:ext cx="9755080" cy="556264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Thread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3524" y="1321552"/>
            <a:ext cx="7387036" cy="4649756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 a process, there can be many threads.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Each thread is independently executable.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Whereas threads share the same address space(code, heap)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Each thread has a separate </a:t>
            </a:r>
            <a:r>
              <a:rPr lang="en-US" sz="2000" b="1" dirty="0"/>
              <a:t>PC</a:t>
            </a:r>
          </a:p>
          <a:p>
            <a:pPr lvl="1" algn="l">
              <a:lnSpc>
                <a:spcPct val="150000"/>
              </a:lnSpc>
            </a:pPr>
            <a:r>
              <a:rPr lang="en-US" sz="1600" dirty="0"/>
              <a:t>--- Each thread may run over a different part of the program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Each thread has a separate </a:t>
            </a:r>
            <a:r>
              <a:rPr lang="en-US" sz="2000" b="1" dirty="0"/>
              <a:t>stack</a:t>
            </a:r>
            <a:r>
              <a:rPr lang="en-US" sz="2000" dirty="0"/>
              <a:t> for independent function calls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7F16C-9683-B6AF-C693-7E3B32F41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589" y="1326101"/>
            <a:ext cx="2333951" cy="3867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0FC5DE-A54D-CAA3-E9FC-93FC3202A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6" y="5514517"/>
            <a:ext cx="5258534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05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291525"/>
            <a:ext cx="10452740" cy="522663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Thread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9901" y="924572"/>
            <a:ext cx="9391836" cy="5314858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Thread creation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Use </a:t>
            </a:r>
            <a:r>
              <a:rPr lang="en-US" sz="1800" dirty="0" err="1"/>
              <a:t>pthread_create</a:t>
            </a:r>
            <a:r>
              <a:rPr lang="en-US" sz="1800" dirty="0"/>
              <a:t>() system calls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Thread synchronization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The use of </a:t>
            </a:r>
            <a:r>
              <a:rPr lang="en-US" sz="1800" dirty="0" err="1"/>
              <a:t>pthread_join</a:t>
            </a:r>
            <a:r>
              <a:rPr lang="en-US" sz="1800" dirty="0"/>
              <a:t>() is to make the process wait for the thread’s completion.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Thread function</a:t>
            </a:r>
          </a:p>
          <a:p>
            <a:pPr marL="800100" lvl="1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/>
              <a:t> As said before, each thread may run over a different part of the program. So, the thread can be regarded as a function. </a:t>
            </a:r>
          </a:p>
          <a:p>
            <a:pPr marL="800100" lvl="1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/>
              <a:t>Thus, using (void *) </a:t>
            </a:r>
            <a:r>
              <a:rPr lang="en-US" sz="1800" dirty="0" err="1"/>
              <a:t>thread_function</a:t>
            </a:r>
            <a:r>
              <a:rPr lang="en-US" sz="1800" dirty="0"/>
              <a:t>() is a way to fulfill the thread functionality.</a:t>
            </a:r>
          </a:p>
          <a:p>
            <a:pPr marL="800100" lvl="1" indent="-3429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/>
              <a:t>The </a:t>
            </a:r>
            <a:r>
              <a:rPr lang="en-US" sz="1800" dirty="0" err="1"/>
              <a:t>thread_function</a:t>
            </a:r>
            <a:r>
              <a:rPr lang="en-US" sz="1800" dirty="0"/>
              <a:t>() is user-defined.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Pthread</a:t>
            </a:r>
            <a:r>
              <a:rPr lang="en-US" sz="2000" dirty="0"/>
              <a:t> library</a:t>
            </a:r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lvl="1" algn="l">
              <a:lnSpc>
                <a:spcPct val="150000"/>
              </a:lnSpc>
            </a:pPr>
            <a:endParaRPr lang="en-US" dirty="0"/>
          </a:p>
          <a:p>
            <a:pPr lvl="1" algn="l">
              <a:lnSpc>
                <a:spcPct val="150000"/>
              </a:lnSpc>
            </a:pPr>
            <a:endParaRPr lang="en-US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9A418C-3D45-8908-DFD4-5524797A7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138" y="5819128"/>
            <a:ext cx="248738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94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85766"/>
            <a:ext cx="10452740" cy="583058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Scheduling threads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1019317"/>
            <a:ext cx="9391836" cy="5169239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OS schedules threads that are ready to run independently, much like processes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context of a thread (PC, registers) is saved into/restored from the thread control block(TCB)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Every PCB has one or more linked TCBs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Threads that are scheduled independently by the kernel are called kernel threads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E.g., Linux </a:t>
            </a:r>
            <a:r>
              <a:rPr lang="en-US" sz="1800" dirty="0" err="1"/>
              <a:t>pthreads</a:t>
            </a:r>
            <a:r>
              <a:rPr lang="en-US" sz="1800" dirty="0"/>
              <a:t> are kernel threads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 contrast, some libraries provide user-level threads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User program sees multiple threads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Library multiplexes larger number of user threads over a smaller number of kernel threads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Low overhead of switching between user threads (no expensive context switch)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But multiple user threads cannot run in parallel</a:t>
            </a:r>
          </a:p>
          <a:p>
            <a:pPr lvl="1"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</a:pPr>
            <a:endParaRPr lang="en-US" sz="2200" dirty="0"/>
          </a:p>
          <a:p>
            <a:pPr algn="l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4639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244907"/>
            <a:ext cx="10452740" cy="533016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Creating threads using the </a:t>
            </a:r>
            <a:r>
              <a:rPr lang="en-US" sz="3800" dirty="0" err="1">
                <a:solidFill>
                  <a:srgbClr val="C00000"/>
                </a:solidFill>
              </a:rPr>
              <a:t>pthreads</a:t>
            </a:r>
            <a:r>
              <a:rPr lang="en-US" sz="3800" dirty="0">
                <a:solidFill>
                  <a:srgbClr val="C00000"/>
                </a:solidFill>
              </a:rPr>
              <a:t>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31C34-88FB-09F3-3E7E-50E73BCF3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070" y="2201647"/>
            <a:ext cx="4027519" cy="4419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074EB1-89CB-0758-C973-1B0EC5211D75}"/>
              </a:ext>
            </a:extLst>
          </p:cNvPr>
          <p:cNvSpPr txBox="1"/>
          <p:nvPr/>
        </p:nvSpPr>
        <p:spPr>
          <a:xfrm>
            <a:off x="1460310" y="927994"/>
            <a:ext cx="8343331" cy="134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Question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How many process(es)? How many thread(s)?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What are outputs?</a:t>
            </a:r>
          </a:p>
        </p:txBody>
      </p:sp>
    </p:spTree>
    <p:extLst>
      <p:ext uri="{BB962C8B-B14F-4D97-AF65-F5344CB8AC3E}">
        <p14:creationId xmlns:p14="http://schemas.microsoft.com/office/powerpoint/2010/main" val="3647568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039CB-4248-B145-F57D-00C97F06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FD75-E125-003E-ABC3-ED40CA35E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85766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What is happening-1?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784D78-0ADD-FF06-F6C0-D93756312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082" y="974524"/>
            <a:ext cx="9391836" cy="5175572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Trace table 1&amp;3</a:t>
            </a:r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AA680B-C77D-050B-00A0-0EF61606C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174" y="1668684"/>
            <a:ext cx="5901638" cy="4114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F023A8F-9FCF-A6DF-594E-ACA5EDF4B89E}"/>
              </a:ext>
            </a:extLst>
          </p:cNvPr>
          <p:cNvSpPr/>
          <p:nvPr/>
        </p:nvSpPr>
        <p:spPr>
          <a:xfrm>
            <a:off x="3055919" y="1614094"/>
            <a:ext cx="5901638" cy="38313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2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73C0B-83C1-7794-DC00-6C5EB466D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F7DD-59B8-3ECB-6954-7CC2F0186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85766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What is happening-2?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D2672-4CF8-A3CB-404E-90587A3F8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082" y="974524"/>
            <a:ext cx="9391836" cy="5175572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Trace table 1&amp;3</a:t>
            </a:r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EE584-85CB-06F5-FF9E-1E1A1885C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903" y="1472376"/>
            <a:ext cx="5840193" cy="4114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E3C36C-0310-D933-ACF9-67EB7A082DC8}"/>
              </a:ext>
            </a:extLst>
          </p:cNvPr>
          <p:cNvSpPr/>
          <p:nvPr/>
        </p:nvSpPr>
        <p:spPr>
          <a:xfrm>
            <a:off x="3153158" y="1472376"/>
            <a:ext cx="5901638" cy="38313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18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85766"/>
            <a:ext cx="10452740" cy="583058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The example of shared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082" y="765258"/>
            <a:ext cx="9391836" cy="1619390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Question</a:t>
            </a:r>
          </a:p>
          <a:p>
            <a:pPr marL="800100" lvl="1" indent="-342900" algn="l">
              <a:lnSpc>
                <a:spcPct val="150000"/>
              </a:lnSpc>
              <a:buFont typeface="+mj-lt"/>
              <a:buAutoNum type="arabicParenR"/>
            </a:pPr>
            <a:r>
              <a:rPr lang="en-US" sz="1800" dirty="0"/>
              <a:t>How many process(es)? How many thread(s)?</a:t>
            </a:r>
          </a:p>
          <a:p>
            <a:pPr marL="800100" lvl="1" indent="-342900" algn="l">
              <a:lnSpc>
                <a:spcPct val="150000"/>
              </a:lnSpc>
              <a:buFont typeface="+mj-lt"/>
              <a:buAutoNum type="arabicParenR"/>
            </a:pPr>
            <a:r>
              <a:rPr lang="en-US" sz="1800" dirty="0"/>
              <a:t>What are outputs?</a:t>
            </a:r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A80BDD-3C84-8DE5-E0AD-EAAEC3F70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082" y="2415953"/>
            <a:ext cx="4145443" cy="411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218F06-E61A-8EB1-BB1A-A3BEFEBDE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420" y="3342636"/>
            <a:ext cx="4482498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44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531888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Race conditions and synchronization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1147710"/>
            <a:ext cx="9391836" cy="4658286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just happened is called a race condition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Concurrent execution can lead to different results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Critical section: portion of code that can lead to race conditions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we need: mutual exclusion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Only one thread should be executing critical section at any time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we need: atomicity of the critical section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The critical sections should execute like one uninterruptible instruction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How is it achieved? Locks (topic of next lecture)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75759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584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PowerPoint Presentation</vt:lpstr>
      <vt:lpstr>Reading Assignment</vt:lpstr>
      <vt:lpstr>Agenda</vt:lpstr>
      <vt:lpstr>Motivation - 1</vt:lpstr>
      <vt:lpstr>Motivation - 2</vt:lpstr>
      <vt:lpstr>Thread structure</vt:lpstr>
      <vt:lpstr>Thread implementation</vt:lpstr>
      <vt:lpstr>Scheduling threads</vt:lpstr>
      <vt:lpstr>Creating threads using the pthreads API</vt:lpstr>
      <vt:lpstr>What is happening-1?</vt:lpstr>
      <vt:lpstr>What is happening-2?</vt:lpstr>
      <vt:lpstr>The example of shared data</vt:lpstr>
      <vt:lpstr>Race conditions and synchronization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Zhao</dc:creator>
  <cp:lastModifiedBy>Zhao, Jie</cp:lastModifiedBy>
  <cp:revision>7</cp:revision>
  <dcterms:created xsi:type="dcterms:W3CDTF">2023-08-19T20:44:10Z</dcterms:created>
  <dcterms:modified xsi:type="dcterms:W3CDTF">2026-02-16T17:16:09Z</dcterms:modified>
</cp:coreProperties>
</file>