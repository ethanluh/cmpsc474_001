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320" r:id="rId4"/>
    <p:sldId id="304" r:id="rId5"/>
    <p:sldId id="319" r:id="rId6"/>
    <p:sldId id="293" r:id="rId7"/>
    <p:sldId id="317" r:id="rId8"/>
    <p:sldId id="287" r:id="rId9"/>
    <p:sldId id="316" r:id="rId10"/>
    <p:sldId id="314" r:id="rId11"/>
    <p:sldId id="31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02F373-4869-44BA-8F19-7E96CD4FF069}" v="1" dt="2026-01-21T20:19:42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9" autoAdjust="0"/>
    <p:restoredTop sz="84791" autoAdjust="0"/>
  </p:normalViewPr>
  <p:slideViewPr>
    <p:cSldViewPr snapToGrid="0">
      <p:cViewPr varScale="1">
        <p:scale>
          <a:sx n="71" d="100"/>
          <a:sy n="71" d="100"/>
        </p:scale>
        <p:origin x="710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, Jie" userId="7be6526a-30ba-445c-b3a9-aabf2c8f5828" providerId="ADAL" clId="{DEC740C7-2239-4DCB-A2EC-28D5B021DFB5}"/>
    <pc:docChg chg="addSld modSld">
      <pc:chgData name="Zhao, Jie" userId="7be6526a-30ba-445c-b3a9-aabf2c8f5828" providerId="ADAL" clId="{DEC740C7-2239-4DCB-A2EC-28D5B021DFB5}" dt="2026-01-21T20:21:04.447" v="121" actId="1036"/>
      <pc:docMkLst>
        <pc:docMk/>
      </pc:docMkLst>
      <pc:sldChg chg="modSp mod">
        <pc:chgData name="Zhao, Jie" userId="7be6526a-30ba-445c-b3a9-aabf2c8f5828" providerId="ADAL" clId="{DEC740C7-2239-4DCB-A2EC-28D5B021DFB5}" dt="2026-01-21T20:16:04.166" v="2" actId="20577"/>
        <pc:sldMkLst>
          <pc:docMk/>
          <pc:sldMk cId="2199995263" sldId="256"/>
        </pc:sldMkLst>
        <pc:spChg chg="mod">
          <ac:chgData name="Zhao, Jie" userId="7be6526a-30ba-445c-b3a9-aabf2c8f5828" providerId="ADAL" clId="{DEC740C7-2239-4DCB-A2EC-28D5B021DFB5}" dt="2026-01-21T20:16:04.166" v="2" actId="20577"/>
          <ac:spMkLst>
            <pc:docMk/>
            <pc:sldMk cId="2199995263" sldId="256"/>
            <ac:spMk id="3" creationId="{2C5DF914-4B40-4A23-8AAC-9CFE7F215ACD}"/>
          </ac:spMkLst>
        </pc:spChg>
      </pc:sldChg>
      <pc:sldChg chg="modSp mod">
        <pc:chgData name="Zhao, Jie" userId="7be6526a-30ba-445c-b3a9-aabf2c8f5828" providerId="ADAL" clId="{DEC740C7-2239-4DCB-A2EC-28D5B021DFB5}" dt="2026-01-21T20:21:04.447" v="121" actId="1036"/>
        <pc:sldMkLst>
          <pc:docMk/>
          <pc:sldMk cId="4038797967" sldId="257"/>
        </pc:sldMkLst>
        <pc:spChg chg="mod">
          <ac:chgData name="Zhao, Jie" userId="7be6526a-30ba-445c-b3a9-aabf2c8f5828" providerId="ADAL" clId="{DEC740C7-2239-4DCB-A2EC-28D5B021DFB5}" dt="2026-01-21T20:19:53.818" v="16" actId="20577"/>
          <ac:spMkLst>
            <pc:docMk/>
            <pc:sldMk cId="4038797967" sldId="257"/>
            <ac:spMk id="2" creationId="{C93848F5-1552-4316-ADB3-4EE4924B6477}"/>
          </ac:spMkLst>
        </pc:spChg>
        <pc:spChg chg="mod">
          <ac:chgData name="Zhao, Jie" userId="7be6526a-30ba-445c-b3a9-aabf2c8f5828" providerId="ADAL" clId="{DEC740C7-2239-4DCB-A2EC-28D5B021DFB5}" dt="2026-01-21T20:21:04.447" v="121" actId="1036"/>
          <ac:spMkLst>
            <pc:docMk/>
            <pc:sldMk cId="4038797967" sldId="257"/>
            <ac:spMk id="3" creationId="{2C5DF914-4B40-4A23-8AAC-9CFE7F215ACD}"/>
          </ac:spMkLst>
        </pc:spChg>
      </pc:sldChg>
      <pc:sldChg chg="modNotesTx">
        <pc:chgData name="Zhao, Jie" userId="7be6526a-30ba-445c-b3a9-aabf2c8f5828" providerId="ADAL" clId="{DEC740C7-2239-4DCB-A2EC-28D5B021DFB5}" dt="2026-01-21T20:18:55.779" v="3" actId="6549"/>
        <pc:sldMkLst>
          <pc:docMk/>
          <pc:sldMk cId="2815959665" sldId="317"/>
        </pc:sldMkLst>
      </pc:sldChg>
      <pc:sldChg chg="add">
        <pc:chgData name="Zhao, Jie" userId="7be6526a-30ba-445c-b3a9-aabf2c8f5828" providerId="ADAL" clId="{DEC740C7-2239-4DCB-A2EC-28D5B021DFB5}" dt="2026-01-21T20:19:42.922" v="4"/>
        <pc:sldMkLst>
          <pc:docMk/>
          <pc:sldMk cId="1437133083" sldId="3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94F02-DFE8-47F5-999D-4D065381BD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532FC-0C26-41ED-91C4-2A1C58AE2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0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532FC-0C26-41ED-91C4-2A1C58AE2C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09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532FC-0C26-41ED-91C4-2A1C58AE2C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25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532FC-0C26-41ED-91C4-2A1C58AE2C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07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532FC-0C26-41ED-91C4-2A1C58AE2C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24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532FC-0C26-41ED-91C4-2A1C58AE2C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42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532FC-0C26-41ED-91C4-2A1C58AE2C8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23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532FC-0C26-41ED-91C4-2A1C58AE2C8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1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532FC-0C26-41ED-91C4-2A1C58AE2C8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34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8CFA-34B8-4985-9EBD-3480D5E1D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33D6D-E622-4C3B-9F70-ED49553B9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B9800-BBE3-43F3-954C-1BE89C9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448D-A783-4933-8C87-202B908B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A539E-77FB-4784-8F48-40A6E10C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1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5774-D8FB-4609-AAE6-9DFB9337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BC86-19DE-433A-AC72-8E6E8A93B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FEAE9-538F-4540-99B2-F94BBB0C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FA06-A552-48E9-984C-063D2352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B287-478F-4020-BBF4-AE2612E4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8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5F8E-D378-48F1-982D-606B316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94D5D-2E6F-4291-B1C6-BBFC0323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AAFD2-28C6-455D-AE60-B9D724863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62756-894F-46FE-B4D3-4C370744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601B-7763-446C-9DC5-9ACF5EE9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8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85D5-4A70-4523-8C56-7A2F6309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50669-8B6D-4573-A65D-5723BE7B8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26AA6-27C3-4956-B4F9-B51F02240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ADE07-F788-4954-AC59-F7BCCAD8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EA43F-F602-40EE-B21F-DC7E68CD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D1C2A-9F62-4A54-96AE-3DAD4823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7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93E4-29D2-4052-9C0C-2B12FB9F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1864E-EDC6-4F4B-90E2-73414CCE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08338-D4D6-46C1-A40B-EBAFA058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6AB0C-3D87-4B28-A144-FBE1D0F6F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639F3-6EB4-4B92-AE38-D411C1AA3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005A4-0514-429B-9362-4434E793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B49C01-7B53-435D-82F7-A1316279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674F3-601B-4FAC-913E-6356AB82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F530-2DDE-4090-B9BA-4E706FE8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4B356-E78B-4416-98FE-2C17AE15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593D8-810C-4035-B5ED-80F9BF0D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55571-D054-48D1-8803-ADE847A6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4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7BE268-32AF-41F1-B9BF-76444776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81429-1463-423B-A364-30079742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A6839-CB05-4AB6-92C3-597FE9B6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0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0436-DB2A-48F1-B027-49BF16EC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8BF08-10D0-4FEE-BD95-9FDFBA2F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A3EEA-BC06-42DA-89F3-9E0D2161B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5DFBF-2A0A-4BBC-A7A2-C761EAFD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32EE-DBDF-4DD6-B09C-98EFBACD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F9592-0DF4-4888-A204-38DA63D3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3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96FA-1210-4D0E-9505-D51795E07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255D6-880E-44DA-919F-3FCF13B52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C7E01-C6FB-46A7-A74A-898E5820E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E34C9-0AC3-43C3-A654-3FC0164A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7480-0FFC-41C2-88A2-0A21C726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F4567-0817-4CF6-BD05-B1BDEA79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1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00B9-FC21-406B-B5FA-B60B7DC9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96599-23BC-425D-8BD9-EE0D324D6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C455-686D-48B4-8DAB-D94E33E0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D1942-3ED0-4931-A8CE-6D984F83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B5B99-3A43-477C-B42A-3C08D02D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6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3F515-C31F-4273-9268-3D1EF4F6F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BF6F7-9F34-4BB4-8961-A8EDC9D82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9CB1-7397-4C82-89C9-0693FB29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01C97-2278-43A9-BE35-0AD61265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5134C-7180-46A6-9627-AECEF8DC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1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26403-82E5-42A1-9D17-51FB8924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F3246-0D43-4E66-B320-0671607BF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15B71-0150-43A3-94BD-2B7D0897C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1B579-BE22-4365-9624-3AE1F352F1A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9B45D-F9D5-470F-9240-ABDE82EA2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C585F-DBFF-493F-8D4A-16FE923EE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8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34" y="465935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Topic: The Process Abstraction</a:t>
            </a:r>
          </a:p>
          <a:p>
            <a:r>
              <a:rPr lang="en-US" dirty="0"/>
              <a:t>Lecture: Dr. Zhao Jie</a:t>
            </a:r>
          </a:p>
          <a:p>
            <a:r>
              <a:rPr lang="en-US" dirty="0"/>
              <a:t>Date: 01/21/20246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60897-8669-4C6A-9213-A875ED322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237202"/>
            <a:ext cx="996796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9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92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Agenda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69308"/>
            <a:ext cx="9144000" cy="1655762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The virtualization of the CPU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Scheduling policy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States of a process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00F48-9DB0-08EA-42CE-D4E5E667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9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2A7ED-4C7A-1C60-2F68-4EC241E2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00570-FBA4-7852-5B1F-5FF1504A7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92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Reading Assignment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D80CB-B553-4462-05F1-D318B48874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Chapters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4</a:t>
            </a:r>
            <a:endParaRPr lang="pl-PL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A0785-626A-03B8-6D4E-B3F6936F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33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How many processes and CPUs?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561" y="1375707"/>
            <a:ext cx="10256725" cy="3797184"/>
          </a:xfrm>
        </p:spPr>
        <p:txBody>
          <a:bodyPr>
            <a:no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600" dirty="0"/>
              <a:t>Process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</a:rPr>
              <a:t>A r</a:t>
            </a:r>
            <a:r>
              <a:rPr lang="en-US" sz="2200" b="0" i="0" u="none" strike="noStrike" kern="1200" baseline="0" dirty="0">
                <a:solidFill>
                  <a:srgbClr val="000000"/>
                </a:solidFill>
              </a:rPr>
              <a:t>unning program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2200" b="0" i="0" u="none" strike="noStrike" kern="1200" baseline="0" dirty="0">
                <a:solidFill>
                  <a:srgbClr val="000000"/>
                </a:solidFill>
              </a:rPr>
              <a:t>Described states: </a:t>
            </a:r>
            <a:r>
              <a:rPr lang="en-US" sz="2200" dirty="0">
                <a:solidFill>
                  <a:srgbClr val="000000"/>
                </a:solidFill>
              </a:rPr>
              <a:t>address space, program counter(PC), and stack pointer(SP)</a:t>
            </a:r>
            <a:endParaRPr lang="en-US" sz="2200" b="0" i="0" u="none" strike="noStrike" kern="1200" baseline="0" dirty="0">
              <a:solidFill>
                <a:srgbClr val="000000"/>
              </a:solidFill>
            </a:endParaRPr>
          </a:p>
          <a:p>
            <a:pPr lvl="1" algn="l"/>
            <a:endParaRPr lang="en-US" sz="2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b="0" i="0" u="none" strike="noStrike" kern="1200" baseline="0" dirty="0">
                <a:solidFill>
                  <a:srgbClr val="000000"/>
                </a:solidFill>
              </a:rPr>
              <a:t>The virtualization of the CPU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</a:rPr>
              <a:t>Many processes VS one physical CPU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2200" b="0" i="0" u="none" strike="noStrike" kern="1200" baseline="0" dirty="0">
                <a:solidFill>
                  <a:srgbClr val="000000"/>
                </a:solidFill>
              </a:rPr>
              <a:t>Physically: o</a:t>
            </a:r>
            <a:r>
              <a:rPr lang="en-US" sz="2200" dirty="0">
                <a:solidFill>
                  <a:srgbClr val="000000"/>
                </a:solidFill>
              </a:rPr>
              <a:t>ne program running, and the rest waiting until the one is finished</a:t>
            </a:r>
            <a:endParaRPr lang="en-US" sz="2200" b="0" i="0" u="none" strike="noStrike" kern="1200" baseline="0" dirty="0">
              <a:solidFill>
                <a:srgbClr val="000000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2200" b="0" i="0" u="none" strike="noStrike" kern="1200" baseline="0" dirty="0">
                <a:solidFill>
                  <a:srgbClr val="000000"/>
                </a:solidFill>
              </a:rPr>
              <a:t>Vir</a:t>
            </a:r>
            <a:r>
              <a:rPr lang="en-US" sz="2200" dirty="0">
                <a:solidFill>
                  <a:srgbClr val="000000"/>
                </a:solidFill>
              </a:rPr>
              <a:t>tualized: many processes running, and each of them occupying one CPU</a:t>
            </a:r>
            <a:endParaRPr lang="en-US" sz="2200" b="0" i="0" u="none" strike="noStrike" kern="1200" baseline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807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Implementing the virtualization of the CPU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561" y="1375707"/>
            <a:ext cx="10256725" cy="3797184"/>
          </a:xfrm>
        </p:spPr>
        <p:txBody>
          <a:bodyPr>
            <a:no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600" dirty="0"/>
              <a:t>Mechanism</a:t>
            </a:r>
          </a:p>
          <a:p>
            <a:pPr lvl="1" algn="l"/>
            <a:r>
              <a:rPr lang="en-US" sz="2200" b="0" i="0" u="none" strike="noStrike" kern="1200" baseline="0" dirty="0">
                <a:solidFill>
                  <a:srgbClr val="000000"/>
                </a:solidFill>
              </a:rPr>
              <a:t>Time-sharing between processes</a:t>
            </a:r>
          </a:p>
          <a:p>
            <a:pPr lvl="1" algn="l"/>
            <a:endParaRPr lang="en-US" sz="2200" b="0" i="0" u="none" strike="noStrike" kern="1200" baseline="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</a:rPr>
              <a:t>Scheduling policy</a:t>
            </a:r>
            <a:endParaRPr lang="en-US" sz="2200" b="0" i="0" u="none" strike="noStrike" kern="1200" baseline="0" dirty="0">
              <a:solidFill>
                <a:srgbClr val="000000"/>
              </a:solidFill>
            </a:endParaRPr>
          </a:p>
          <a:p>
            <a:pPr lvl="1" algn="l"/>
            <a:r>
              <a:rPr lang="en-US" sz="2200" dirty="0">
                <a:solidFill>
                  <a:srgbClr val="000000"/>
                </a:solidFill>
              </a:rPr>
              <a:t>Give a number of possible programs to run on a CPU, which program should the OS run? </a:t>
            </a:r>
            <a:endParaRPr lang="en-US" sz="2200" b="0" i="0" u="none" strike="noStrike" kern="1200" baseline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809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99659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A process combinations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242" y="1035629"/>
            <a:ext cx="10518564" cy="5247965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Instruction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Fetch from memory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Also, fetch from memory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Stack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Allocated the memory space when the process is created.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Saved as local variables, function parameters, and return addresses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Heap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Explicitly requested dynamically-allocated data</a:t>
            </a:r>
          </a:p>
        </p:txBody>
      </p:sp>
    </p:spTree>
    <p:extLst>
      <p:ext uri="{BB962C8B-B14F-4D97-AF65-F5344CB8AC3E}">
        <p14:creationId xmlns:p14="http://schemas.microsoft.com/office/powerpoint/2010/main" val="1600943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States of a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242" y="1159342"/>
            <a:ext cx="10518564" cy="5247965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Three states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Running, Ready, and Block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Running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Currently executing process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Ready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The process is ready, but waiting for the CPU resource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Block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The process is not ready, but extra assistance is necessary to make it ready. </a:t>
            </a:r>
          </a:p>
        </p:txBody>
      </p:sp>
    </p:spTree>
    <p:extLst>
      <p:ext uri="{BB962C8B-B14F-4D97-AF65-F5344CB8AC3E}">
        <p14:creationId xmlns:p14="http://schemas.microsoft.com/office/powerpoint/2010/main" val="2815959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801" y="7003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Process state transitions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952B661-DD65-652F-F548-56E3CA7FA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477127"/>
            <a:ext cx="9144000" cy="99311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Scheduled: Ready to Running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Descheduled</a:t>
            </a:r>
            <a:r>
              <a:rPr lang="en-US" dirty="0"/>
              <a:t>: Running to Ready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41AA32-109B-7881-D837-D356D5C17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411" y="1004469"/>
            <a:ext cx="484095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1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35268"/>
            <a:ext cx="9755080" cy="737510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Trace table with CPU only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6927" y="4824420"/>
            <a:ext cx="9118146" cy="1604204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How long does Process0 take to complete the execution? How long does Process1 take to complete the execution? (Assume each time stamp takes one second.)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0AE6C-C746-57E0-7A60-706E7D6FE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209" y="809116"/>
            <a:ext cx="727754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2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35268"/>
            <a:ext cx="9755080" cy="737510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Trace table with CPU and I/O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B4007EA-6D54-B63E-830C-471D18CCA45B}"/>
              </a:ext>
            </a:extLst>
          </p:cNvPr>
          <p:cNvSpPr txBox="1">
            <a:spLocks/>
          </p:cNvSpPr>
          <p:nvPr/>
        </p:nvSpPr>
        <p:spPr>
          <a:xfrm>
            <a:off x="1536927" y="5032763"/>
            <a:ext cx="9118146" cy="1604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How long does Process0 take to complete the execution? How long does Process1 take to complete the execution? (Assume each time stamp takes one second.)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9740D8-A37C-F827-BC67-8370F4C50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845" y="872778"/>
            <a:ext cx="724031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22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586679"/>
            <a:ext cx="9755080" cy="737510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Example discussions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B4007EA-6D54-B63E-830C-471D18CCA45B}"/>
              </a:ext>
            </a:extLst>
          </p:cNvPr>
          <p:cNvSpPr txBox="1">
            <a:spLocks/>
          </p:cNvSpPr>
          <p:nvPr/>
        </p:nvSpPr>
        <p:spPr>
          <a:xfrm>
            <a:off x="1536927" y="1699273"/>
            <a:ext cx="9118146" cy="33241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Being blocked is caused by I/O for most of the time. When reading/writing from/into a disk, the speed to disk is much slower than the speed to read/write from/into a CPU register. Thus, the CPU waiting for I/O access wastes time.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For efficiency, When Process0 is block for I/O access, Process1 can occupy the CPU resource if it is ready. </a:t>
            </a:r>
          </a:p>
        </p:txBody>
      </p:sp>
    </p:spTree>
    <p:extLst>
      <p:ext uri="{BB962C8B-B14F-4D97-AF65-F5344CB8AC3E}">
        <p14:creationId xmlns:p14="http://schemas.microsoft.com/office/powerpoint/2010/main" val="3430385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</TotalTime>
  <Words>390</Words>
  <Application>Microsoft Office PowerPoint</Application>
  <PresentationFormat>Widescreen</PresentationFormat>
  <Paragraphs>63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PowerPoint Presentation</vt:lpstr>
      <vt:lpstr>Agenda</vt:lpstr>
      <vt:lpstr>Reading Assignment</vt:lpstr>
      <vt:lpstr>How many processes and CPUs?</vt:lpstr>
      <vt:lpstr>Implementing the virtualization of the CPU</vt:lpstr>
      <vt:lpstr>A process combinations</vt:lpstr>
      <vt:lpstr>States of a process</vt:lpstr>
      <vt:lpstr>Process state transitions</vt:lpstr>
      <vt:lpstr>Trace table with CPU only</vt:lpstr>
      <vt:lpstr>Trace table with CPU and I/O</vt:lpstr>
      <vt:lpstr>Example discussions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 Zhao</dc:creator>
  <cp:lastModifiedBy>Zhao, Jie</cp:lastModifiedBy>
  <cp:revision>8</cp:revision>
  <dcterms:created xsi:type="dcterms:W3CDTF">2023-08-19T20:44:10Z</dcterms:created>
  <dcterms:modified xsi:type="dcterms:W3CDTF">2026-01-21T20:21:10Z</dcterms:modified>
</cp:coreProperties>
</file>