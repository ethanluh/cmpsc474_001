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305" r:id="rId3"/>
    <p:sldId id="281" r:id="rId4"/>
    <p:sldId id="301" r:id="rId5"/>
    <p:sldId id="306" r:id="rId6"/>
    <p:sldId id="307" r:id="rId7"/>
    <p:sldId id="304" r:id="rId8"/>
    <p:sldId id="302" r:id="rId9"/>
    <p:sldId id="30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4" d="100"/>
          <a:sy n="84" d="100"/>
        </p:scale>
        <p:origin x="211"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Jie" userId="7be6526a-30ba-445c-b3a9-aabf2c8f5828" providerId="ADAL" clId="{DEC740C7-2239-4DCB-A2EC-28D5B021DFB5}"/>
    <pc:docChg chg="modSld">
      <pc:chgData name="Zhao, Jie" userId="7be6526a-30ba-445c-b3a9-aabf2c8f5828" providerId="ADAL" clId="{DEC740C7-2239-4DCB-A2EC-28D5B021DFB5}" dt="2026-01-29T02:03:08.349" v="3" actId="20577"/>
      <pc:docMkLst>
        <pc:docMk/>
      </pc:docMkLst>
      <pc:sldChg chg="modSp mod">
        <pc:chgData name="Zhao, Jie" userId="7be6526a-30ba-445c-b3a9-aabf2c8f5828" providerId="ADAL" clId="{DEC740C7-2239-4DCB-A2EC-28D5B021DFB5}" dt="2026-01-29T02:03:08.349" v="3" actId="20577"/>
        <pc:sldMkLst>
          <pc:docMk/>
          <pc:sldMk cId="2199995263" sldId="256"/>
        </pc:sldMkLst>
        <pc:spChg chg="mod">
          <ac:chgData name="Zhao, Jie" userId="7be6526a-30ba-445c-b3a9-aabf2c8f5828" providerId="ADAL" clId="{DEC740C7-2239-4DCB-A2EC-28D5B021DFB5}" dt="2026-01-29T02:03:08.349" v="3" actId="20577"/>
          <ac:spMkLst>
            <pc:docMk/>
            <pc:sldMk cId="2199995263" sldId="256"/>
            <ac:spMk id="3" creationId="{2C5DF914-4B40-4A23-8AAC-9CFE7F215A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94F02-DFE8-47F5-999D-4D065381BD97}" type="datetimeFigureOut">
              <a:rPr lang="en-US" smtClean="0"/>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532FC-0C26-41ED-91C4-2A1C58AE2C83}" type="slidenum">
              <a:rPr lang="en-US" smtClean="0"/>
              <a:t>‹#›</a:t>
            </a:fld>
            <a:endParaRPr lang="en-US"/>
          </a:p>
        </p:txBody>
      </p:sp>
    </p:spTree>
    <p:extLst>
      <p:ext uri="{BB962C8B-B14F-4D97-AF65-F5344CB8AC3E}">
        <p14:creationId xmlns:p14="http://schemas.microsoft.com/office/powerpoint/2010/main" val="165300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8CFA-34B8-4985-9EBD-3480D5E1D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33D6D-E622-4C3B-9F70-ED49553B9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5B9800-BBE3-43F3-954C-1BE89C95AF77}"/>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5" name="Footer Placeholder 4">
            <a:extLst>
              <a:ext uri="{FF2B5EF4-FFF2-40B4-BE49-F238E27FC236}">
                <a16:creationId xmlns:a16="http://schemas.microsoft.com/office/drawing/2014/main" id="{4549448D-A783-4933-8C87-202B908B1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539E-77FB-4784-8F48-40A6E10C521F}"/>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6561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774-D8FB-4609-AAE6-9DFB9337B9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8BC86-19DE-433A-AC72-8E6E8A93B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FEAE9-538F-4540-99B2-F94BBB0C3D78}"/>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5" name="Footer Placeholder 4">
            <a:extLst>
              <a:ext uri="{FF2B5EF4-FFF2-40B4-BE49-F238E27FC236}">
                <a16:creationId xmlns:a16="http://schemas.microsoft.com/office/drawing/2014/main" id="{0A00FA06-A552-48E9-984C-063D23529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B287-478F-4020-BBF4-AE2612E417F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897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5F8E-D378-48F1-982D-606B3160F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94D5D-2E6F-4291-B1C6-BBFC0323C9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AAFD2-28C6-455D-AE60-B9D724863CD9}"/>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5" name="Footer Placeholder 4">
            <a:extLst>
              <a:ext uri="{FF2B5EF4-FFF2-40B4-BE49-F238E27FC236}">
                <a16:creationId xmlns:a16="http://schemas.microsoft.com/office/drawing/2014/main" id="{7F662756-894F-46FE-B4D3-4C370744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601B-7763-446C-9DC5-9ACF5EE9B233}"/>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5998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85D5-4A70-4523-8C56-7A2F63097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50669-8B6D-4573-A65D-5723BE7B81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26AA6-27C3-4956-B4F9-B51F02240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CADE07-F788-4954-AC59-F7BCCAD825DE}"/>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6" name="Footer Placeholder 5">
            <a:extLst>
              <a:ext uri="{FF2B5EF4-FFF2-40B4-BE49-F238E27FC236}">
                <a16:creationId xmlns:a16="http://schemas.microsoft.com/office/drawing/2014/main" id="{D4CEA43F-F602-40EE-B21F-DC7E68CD6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D1C2A-9F62-4A54-96AE-3DAD4823439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57837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3E4-29D2-4052-9C0C-2B12FB9F0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A1864E-EDC6-4F4B-90E2-73414CCE8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8338-D4D6-46C1-A40B-EBAFA05859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6AB0C-3D87-4B28-A144-FBE1D0F6F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639F3-6EB4-4B92-AE38-D411C1AA3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1005A4-0514-429B-9362-4434E7932694}"/>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8" name="Footer Placeholder 7">
            <a:extLst>
              <a:ext uri="{FF2B5EF4-FFF2-40B4-BE49-F238E27FC236}">
                <a16:creationId xmlns:a16="http://schemas.microsoft.com/office/drawing/2014/main" id="{41B49C01-7B53-435D-82F7-A1316279CD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2674F3-601B-4FAC-913E-6356AB82DE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374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F530-2DDE-4090-B9BA-4E706FE89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4B356-E78B-4416-98FE-2C17AE157F2B}"/>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4" name="Footer Placeholder 3">
            <a:extLst>
              <a:ext uri="{FF2B5EF4-FFF2-40B4-BE49-F238E27FC236}">
                <a16:creationId xmlns:a16="http://schemas.microsoft.com/office/drawing/2014/main" id="{C15593D8-810C-4035-B5ED-80F9BF0D3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55571-D054-48D1-8803-ADE847A6536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34538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BE268-32AF-41F1-B9BF-76444776383A}"/>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3" name="Footer Placeholder 2">
            <a:extLst>
              <a:ext uri="{FF2B5EF4-FFF2-40B4-BE49-F238E27FC236}">
                <a16:creationId xmlns:a16="http://schemas.microsoft.com/office/drawing/2014/main" id="{CF581429-1463-423B-A364-3007974280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1A6839-CB05-4AB6-92C3-597FE9B6E56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7620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0436-DB2A-48F1-B027-49BF16EC7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BF08-10D0-4FEE-BD95-9FDFBA2FF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A3EEA-BC06-42DA-89F3-9E0D2161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5DFBF-2A0A-4BBC-A7A2-C761EAFD3E8C}"/>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6" name="Footer Placeholder 5">
            <a:extLst>
              <a:ext uri="{FF2B5EF4-FFF2-40B4-BE49-F238E27FC236}">
                <a16:creationId xmlns:a16="http://schemas.microsoft.com/office/drawing/2014/main" id="{34E032EE-DBDF-4DD6-B09C-98EFBACD0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0F9592-0DF4-4888-A204-38DA63D36B25}"/>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25383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96FA-1210-4D0E-9505-D51795E07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255D6-880E-44DA-919F-3FCF13B52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C7E01-C6FB-46A7-A74A-898E5820E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E34C9-0AC3-43C3-A654-3FC0164AC92B}"/>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6" name="Footer Placeholder 5">
            <a:extLst>
              <a:ext uri="{FF2B5EF4-FFF2-40B4-BE49-F238E27FC236}">
                <a16:creationId xmlns:a16="http://schemas.microsoft.com/office/drawing/2014/main" id="{23447480-0FFC-41C2-88A2-0A21C7263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F4567-0817-4CF6-BD05-B1BDEA7995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8511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00B9-FC21-406B-B5FA-B60B7DC90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96599-23BC-425D-8BD9-EE0D324D6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C455-686D-48B4-8DAB-D94E33E0608A}"/>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5" name="Footer Placeholder 4">
            <a:extLst>
              <a:ext uri="{FF2B5EF4-FFF2-40B4-BE49-F238E27FC236}">
                <a16:creationId xmlns:a16="http://schemas.microsoft.com/office/drawing/2014/main" id="{63AD1942-3ED0-4931-A8CE-6D984F839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B5B99-3A43-477C-B42A-3C08D02D7574}"/>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95686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3F515-C31F-4273-9268-3D1EF4F6F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4BF6F7-9F34-4BB4-8961-A8EDC9D8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59CB1-7397-4C82-89C9-0693FB2910E9}"/>
              </a:ext>
            </a:extLst>
          </p:cNvPr>
          <p:cNvSpPr>
            <a:spLocks noGrp="1"/>
          </p:cNvSpPr>
          <p:nvPr>
            <p:ph type="dt" sz="half" idx="10"/>
          </p:nvPr>
        </p:nvSpPr>
        <p:spPr/>
        <p:txBody>
          <a:bodyPr/>
          <a:lstStyle/>
          <a:p>
            <a:fld id="{5701B579-BE22-4365-9624-3AE1F352F1A7}" type="datetimeFigureOut">
              <a:rPr lang="en-US" smtClean="0"/>
              <a:t>1/28/2026</a:t>
            </a:fld>
            <a:endParaRPr lang="en-US"/>
          </a:p>
        </p:txBody>
      </p:sp>
      <p:sp>
        <p:nvSpPr>
          <p:cNvPr id="5" name="Footer Placeholder 4">
            <a:extLst>
              <a:ext uri="{FF2B5EF4-FFF2-40B4-BE49-F238E27FC236}">
                <a16:creationId xmlns:a16="http://schemas.microsoft.com/office/drawing/2014/main" id="{5F201C97-2278-43A9-BE35-0AD612655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5134C-7180-46A6-9627-AECEF8DCC93D}"/>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63731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26403-82E5-42A1-9D17-51FB8924C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F3246-0D43-4E66-B320-0671607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15B71-0150-43A3-94BD-2B7D0897C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1B579-BE22-4365-9624-3AE1F352F1A7}" type="datetimeFigureOut">
              <a:rPr lang="en-US" smtClean="0"/>
              <a:t>1/28/2026</a:t>
            </a:fld>
            <a:endParaRPr lang="en-US"/>
          </a:p>
        </p:txBody>
      </p:sp>
      <p:sp>
        <p:nvSpPr>
          <p:cNvPr id="5" name="Footer Placeholder 4">
            <a:extLst>
              <a:ext uri="{FF2B5EF4-FFF2-40B4-BE49-F238E27FC236}">
                <a16:creationId xmlns:a16="http://schemas.microsoft.com/office/drawing/2014/main" id="{E979B45D-F9D5-470F-9240-ABDE82EA29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C585F-DBFF-493F-8D4A-16FE923EE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8F-CC04-49FF-99A7-DBE4E5B3B38F}" type="slidenum">
              <a:rPr lang="en-US" smtClean="0"/>
              <a:t>‹#›</a:t>
            </a:fld>
            <a:endParaRPr lang="en-US"/>
          </a:p>
        </p:txBody>
      </p:sp>
    </p:spTree>
    <p:extLst>
      <p:ext uri="{BB962C8B-B14F-4D97-AF65-F5344CB8AC3E}">
        <p14:creationId xmlns:p14="http://schemas.microsoft.com/office/powerpoint/2010/main" val="1848083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726434" y="4659359"/>
            <a:ext cx="9144000" cy="1655762"/>
          </a:xfrm>
        </p:spPr>
        <p:txBody>
          <a:bodyPr>
            <a:normAutofit/>
          </a:bodyPr>
          <a:lstStyle/>
          <a:p>
            <a:r>
              <a:rPr lang="en-US" dirty="0"/>
              <a:t>Topic: Zombie and </a:t>
            </a:r>
            <a:r>
              <a:rPr lang="en-US" dirty="0" err="1"/>
              <a:t>Execl</a:t>
            </a:r>
            <a:r>
              <a:rPr lang="en-US" dirty="0"/>
              <a:t> Process</a:t>
            </a:r>
          </a:p>
          <a:p>
            <a:r>
              <a:rPr lang="en-US" dirty="0"/>
              <a:t>Lecture: Dr. Zhao Jie</a:t>
            </a:r>
          </a:p>
          <a:p>
            <a:r>
              <a:rPr lang="en-US" dirty="0"/>
              <a:t>Date</a:t>
            </a:r>
            <a:r>
              <a:rPr lang="en-US"/>
              <a:t>: 01/28/2026</a:t>
            </a:r>
            <a:endParaRPr lang="en-US" dirty="0"/>
          </a:p>
        </p:txBody>
      </p:sp>
      <p:pic>
        <p:nvPicPr>
          <p:cNvPr id="5" name="Picture 4">
            <a:extLst>
              <a:ext uri="{FF2B5EF4-FFF2-40B4-BE49-F238E27FC236}">
                <a16:creationId xmlns:a16="http://schemas.microsoft.com/office/drawing/2014/main" id="{22F60897-8669-4C6A-9213-A875ED32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237202"/>
            <a:ext cx="9967968" cy="4572000"/>
          </a:xfrm>
          <a:prstGeom prst="rect">
            <a:avLst/>
          </a:prstGeom>
        </p:spPr>
      </p:pic>
    </p:spTree>
    <p:extLst>
      <p:ext uri="{BB962C8B-B14F-4D97-AF65-F5344CB8AC3E}">
        <p14:creationId xmlns:p14="http://schemas.microsoft.com/office/powerpoint/2010/main" val="21999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a:solidFill>
                  <a:srgbClr val="C00000"/>
                </a:solidFill>
              </a:rPr>
              <a:t>Zombie Process</a:t>
            </a:r>
          </a:p>
        </p:txBody>
      </p:sp>
      <p:sp>
        <p:nvSpPr>
          <p:cNvPr id="3" name="TextBox 2">
            <a:extLst>
              <a:ext uri="{FF2B5EF4-FFF2-40B4-BE49-F238E27FC236}">
                <a16:creationId xmlns:a16="http://schemas.microsoft.com/office/drawing/2014/main" id="{B83A1DEC-7969-59BC-B50E-F2D6F9C6BD5A}"/>
              </a:ext>
            </a:extLst>
          </p:cNvPr>
          <p:cNvSpPr txBox="1"/>
          <p:nvPr/>
        </p:nvSpPr>
        <p:spPr>
          <a:xfrm>
            <a:off x="1218460" y="1605887"/>
            <a:ext cx="10322997" cy="2739211"/>
          </a:xfrm>
          <a:prstGeom prst="rect">
            <a:avLst/>
          </a:prstGeom>
          <a:noFill/>
        </p:spPr>
        <p:txBody>
          <a:bodyPr wrap="square" rtlCol="0">
            <a:spAutoFit/>
          </a:bodyPr>
          <a:lstStyle/>
          <a:p>
            <a:pPr marL="285750" indent="-285750">
              <a:buFont typeface="Arial" panose="020B0604020202020204" pitchFamily="34" charset="0"/>
              <a:buChar char="•"/>
            </a:pPr>
            <a:r>
              <a:rPr lang="en-US" sz="2400" dirty="0"/>
              <a:t>Zombie process </a:t>
            </a:r>
          </a:p>
          <a:p>
            <a:pPr lvl="1"/>
            <a:r>
              <a:rPr lang="en-US" sz="2000" dirty="0"/>
              <a:t>Zombie process is the process that is terminated, but its entry is still in the process table. For example, the child process created by the parent process finishes before the parent process does.</a:t>
            </a:r>
          </a:p>
          <a:p>
            <a:pPr lvl="1"/>
            <a:endParaRPr lang="en-US" sz="2000" dirty="0"/>
          </a:p>
          <a:p>
            <a:endParaRPr lang="en-US" sz="2400" dirty="0"/>
          </a:p>
          <a:p>
            <a:pPr marL="285750" indent="-285750">
              <a:buFont typeface="Arial" panose="020B0604020202020204" pitchFamily="34" charset="0"/>
              <a:buChar char="•"/>
            </a:pPr>
            <a:r>
              <a:rPr lang="en-US" sz="2400" dirty="0"/>
              <a:t>The system call for creating the orphan process</a:t>
            </a:r>
          </a:p>
          <a:p>
            <a:pPr lvl="1"/>
            <a:r>
              <a:rPr lang="en-US" sz="2000" dirty="0"/>
              <a:t>Sleep()</a:t>
            </a:r>
          </a:p>
        </p:txBody>
      </p:sp>
    </p:spTree>
    <p:extLst>
      <p:ext uri="{BB962C8B-B14F-4D97-AF65-F5344CB8AC3E}">
        <p14:creationId xmlns:p14="http://schemas.microsoft.com/office/powerpoint/2010/main" val="3778400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a:solidFill>
                  <a:srgbClr val="C00000"/>
                </a:solidFill>
              </a:rPr>
              <a:t>Zombie Process</a:t>
            </a:r>
          </a:p>
        </p:txBody>
      </p:sp>
      <p:pic>
        <p:nvPicPr>
          <p:cNvPr id="11" name="Picture 10">
            <a:extLst>
              <a:ext uri="{FF2B5EF4-FFF2-40B4-BE49-F238E27FC236}">
                <a16:creationId xmlns:a16="http://schemas.microsoft.com/office/drawing/2014/main" id="{E950B6C9-B26D-FB33-51D3-BD737B23F73D}"/>
              </a:ext>
            </a:extLst>
          </p:cNvPr>
          <p:cNvPicPr>
            <a:picLocks noChangeAspect="1"/>
          </p:cNvPicPr>
          <p:nvPr/>
        </p:nvPicPr>
        <p:blipFill>
          <a:blip r:embed="rId2"/>
          <a:stretch>
            <a:fillRect/>
          </a:stretch>
        </p:blipFill>
        <p:spPr>
          <a:xfrm>
            <a:off x="855829" y="1467709"/>
            <a:ext cx="10480342" cy="4572000"/>
          </a:xfrm>
          <a:prstGeom prst="rect">
            <a:avLst/>
          </a:prstGeom>
        </p:spPr>
      </p:pic>
    </p:spTree>
    <p:extLst>
      <p:ext uri="{BB962C8B-B14F-4D97-AF65-F5344CB8AC3E}">
        <p14:creationId xmlns:p14="http://schemas.microsoft.com/office/powerpoint/2010/main" val="3760905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a:solidFill>
                  <a:srgbClr val="C00000"/>
                </a:solidFill>
              </a:rPr>
              <a:t>Zombie Process Output</a:t>
            </a:r>
          </a:p>
        </p:txBody>
      </p:sp>
      <p:pic>
        <p:nvPicPr>
          <p:cNvPr id="6" name="Picture 5">
            <a:extLst>
              <a:ext uri="{FF2B5EF4-FFF2-40B4-BE49-F238E27FC236}">
                <a16:creationId xmlns:a16="http://schemas.microsoft.com/office/drawing/2014/main" id="{BFC1807A-10EB-51A7-0793-E862F25A8E4B}"/>
              </a:ext>
            </a:extLst>
          </p:cNvPr>
          <p:cNvPicPr>
            <a:picLocks noChangeAspect="1"/>
          </p:cNvPicPr>
          <p:nvPr/>
        </p:nvPicPr>
        <p:blipFill>
          <a:blip r:embed="rId2"/>
          <a:stretch>
            <a:fillRect/>
          </a:stretch>
        </p:blipFill>
        <p:spPr>
          <a:xfrm>
            <a:off x="908415" y="1774371"/>
            <a:ext cx="10375170" cy="4114800"/>
          </a:xfrm>
          <a:prstGeom prst="rect">
            <a:avLst/>
          </a:prstGeom>
        </p:spPr>
      </p:pic>
    </p:spTree>
    <p:extLst>
      <p:ext uri="{BB962C8B-B14F-4D97-AF65-F5344CB8AC3E}">
        <p14:creationId xmlns:p14="http://schemas.microsoft.com/office/powerpoint/2010/main" val="1640831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a:solidFill>
                  <a:srgbClr val="C00000"/>
                </a:solidFill>
              </a:rPr>
              <a:t>Orphan Process</a:t>
            </a:r>
          </a:p>
        </p:txBody>
      </p:sp>
      <p:sp>
        <p:nvSpPr>
          <p:cNvPr id="3" name="TextBox 2">
            <a:extLst>
              <a:ext uri="{FF2B5EF4-FFF2-40B4-BE49-F238E27FC236}">
                <a16:creationId xmlns:a16="http://schemas.microsoft.com/office/drawing/2014/main" id="{B83A1DEC-7969-59BC-B50E-F2D6F9C6BD5A}"/>
              </a:ext>
            </a:extLst>
          </p:cNvPr>
          <p:cNvSpPr txBox="1"/>
          <p:nvPr/>
        </p:nvSpPr>
        <p:spPr>
          <a:xfrm>
            <a:off x="1218460" y="1605887"/>
            <a:ext cx="10322997" cy="2123658"/>
          </a:xfrm>
          <a:prstGeom prst="rect">
            <a:avLst/>
          </a:prstGeom>
          <a:noFill/>
        </p:spPr>
        <p:txBody>
          <a:bodyPr wrap="square" rtlCol="0">
            <a:spAutoFit/>
          </a:bodyPr>
          <a:lstStyle/>
          <a:p>
            <a:pPr marL="285750" indent="-285750">
              <a:buFont typeface="Arial" panose="020B0604020202020204" pitchFamily="34" charset="0"/>
              <a:buChar char="•"/>
            </a:pPr>
            <a:r>
              <a:rPr lang="en-US" sz="2400" dirty="0"/>
              <a:t>Orphan process </a:t>
            </a:r>
          </a:p>
          <a:p>
            <a:pPr lvl="1"/>
            <a:r>
              <a:rPr lang="en-US" sz="2000" dirty="0"/>
              <a:t>An orphan process is a process whose parent has finished. </a:t>
            </a:r>
            <a:endParaRPr lang="en-US" sz="2400" dirty="0"/>
          </a:p>
          <a:p>
            <a:endParaRPr lang="en-US" sz="2400" dirty="0"/>
          </a:p>
          <a:p>
            <a:pPr marL="285750" indent="-285750">
              <a:buFont typeface="Arial" panose="020B0604020202020204" pitchFamily="34" charset="0"/>
              <a:buChar char="•"/>
            </a:pPr>
            <a:r>
              <a:rPr lang="en-US" sz="2400" dirty="0"/>
              <a:t>The system call for creating the orphan process</a:t>
            </a:r>
          </a:p>
          <a:p>
            <a:pPr lvl="1"/>
            <a:r>
              <a:rPr lang="en-US" sz="2000" dirty="0"/>
              <a:t>Sleep()</a:t>
            </a:r>
          </a:p>
          <a:p>
            <a:pPr lvl="1"/>
            <a:r>
              <a:rPr lang="en-US" sz="2000" dirty="0"/>
              <a:t> </a:t>
            </a:r>
          </a:p>
        </p:txBody>
      </p:sp>
    </p:spTree>
    <p:extLst>
      <p:ext uri="{BB962C8B-B14F-4D97-AF65-F5344CB8AC3E}">
        <p14:creationId xmlns:p14="http://schemas.microsoft.com/office/powerpoint/2010/main" val="588226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a:solidFill>
                  <a:srgbClr val="C00000"/>
                </a:solidFill>
              </a:rPr>
              <a:t>Orphan Process</a:t>
            </a:r>
          </a:p>
        </p:txBody>
      </p:sp>
      <p:pic>
        <p:nvPicPr>
          <p:cNvPr id="4" name="Picture 3">
            <a:extLst>
              <a:ext uri="{FF2B5EF4-FFF2-40B4-BE49-F238E27FC236}">
                <a16:creationId xmlns:a16="http://schemas.microsoft.com/office/drawing/2014/main" id="{C33CEDCB-FAE5-93EF-CDF1-694D8D25E3B0}"/>
              </a:ext>
            </a:extLst>
          </p:cNvPr>
          <p:cNvPicPr>
            <a:picLocks noChangeAspect="1"/>
          </p:cNvPicPr>
          <p:nvPr/>
        </p:nvPicPr>
        <p:blipFill>
          <a:blip r:embed="rId2"/>
          <a:stretch>
            <a:fillRect/>
          </a:stretch>
        </p:blipFill>
        <p:spPr>
          <a:xfrm>
            <a:off x="1429286" y="1427534"/>
            <a:ext cx="9948327" cy="4572000"/>
          </a:xfrm>
          <a:prstGeom prst="rect">
            <a:avLst/>
          </a:prstGeom>
        </p:spPr>
      </p:pic>
    </p:spTree>
    <p:extLst>
      <p:ext uri="{BB962C8B-B14F-4D97-AF65-F5344CB8AC3E}">
        <p14:creationId xmlns:p14="http://schemas.microsoft.com/office/powerpoint/2010/main" val="2859681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a:solidFill>
                  <a:srgbClr val="C00000"/>
                </a:solidFill>
              </a:rPr>
              <a:t>The role of </a:t>
            </a:r>
            <a:r>
              <a:rPr lang="en-US" sz="3800" dirty="0" err="1">
                <a:solidFill>
                  <a:srgbClr val="C00000"/>
                </a:solidFill>
              </a:rPr>
              <a:t>execl</a:t>
            </a:r>
            <a:r>
              <a:rPr lang="en-US" sz="3800" dirty="0">
                <a:solidFill>
                  <a:srgbClr val="C00000"/>
                </a:solidFill>
              </a:rPr>
              <a:t>()</a:t>
            </a:r>
          </a:p>
        </p:txBody>
      </p:sp>
      <p:sp>
        <p:nvSpPr>
          <p:cNvPr id="3" name="TextBox 2">
            <a:extLst>
              <a:ext uri="{FF2B5EF4-FFF2-40B4-BE49-F238E27FC236}">
                <a16:creationId xmlns:a16="http://schemas.microsoft.com/office/drawing/2014/main" id="{B83A1DEC-7969-59BC-B50E-F2D6F9C6BD5A}"/>
              </a:ext>
            </a:extLst>
          </p:cNvPr>
          <p:cNvSpPr txBox="1"/>
          <p:nvPr/>
        </p:nvSpPr>
        <p:spPr>
          <a:xfrm>
            <a:off x="1218460" y="1392072"/>
            <a:ext cx="10322997"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t>After running fork()</a:t>
            </a:r>
          </a:p>
          <a:p>
            <a:pPr lvl="1"/>
            <a:r>
              <a:rPr lang="en-US" sz="2000" dirty="0"/>
              <a:t>After running fork(), both parent and child processes have the same code. However, unlike human being, the original purpose of such a reproduction is not for genetic inheritance, but for the code diversity. </a:t>
            </a:r>
          </a:p>
          <a:p>
            <a:endParaRPr lang="en-US" sz="2400" dirty="0"/>
          </a:p>
          <a:p>
            <a:pPr marL="285750" indent="-285750">
              <a:buFont typeface="Arial" panose="020B0604020202020204" pitchFamily="34" charset="0"/>
              <a:buChar char="•"/>
            </a:pPr>
            <a:r>
              <a:rPr lang="en-US" sz="2400" dirty="0"/>
              <a:t>Using </a:t>
            </a:r>
            <a:r>
              <a:rPr lang="en-US" sz="2400" dirty="0" err="1"/>
              <a:t>execl</a:t>
            </a:r>
            <a:r>
              <a:rPr lang="en-US" sz="2400" dirty="0"/>
              <a:t>()</a:t>
            </a:r>
          </a:p>
          <a:p>
            <a:pPr lvl="1"/>
            <a:r>
              <a:rPr lang="en-US" sz="2000" dirty="0"/>
              <a:t>To support the code diversity, </a:t>
            </a:r>
            <a:r>
              <a:rPr lang="en-US" sz="2000" dirty="0" err="1"/>
              <a:t>execl</a:t>
            </a:r>
            <a:r>
              <a:rPr lang="en-US" sz="2000" dirty="0"/>
              <a:t>() is explored. The synopsis is show</a:t>
            </a:r>
          </a:p>
          <a:p>
            <a:pPr lvl="1"/>
            <a:endParaRPr lang="en-US" sz="2000" dirty="0"/>
          </a:p>
          <a:p>
            <a:pPr lvl="1"/>
            <a:endParaRPr lang="en-US" sz="2000" dirty="0"/>
          </a:p>
          <a:p>
            <a:pPr marL="800100" lvl="1" indent="-342900">
              <a:buFont typeface="Wingdings" panose="05000000000000000000" pitchFamily="2" charset="2"/>
              <a:buChar char="§"/>
            </a:pPr>
            <a:r>
              <a:rPr lang="en-US" sz="2000" dirty="0" err="1"/>
              <a:t>Func</a:t>
            </a:r>
            <a:r>
              <a:rPr lang="en-US" sz="2000" dirty="0"/>
              <a:t>: Replaces the current process image with a new one, specified by a path.</a:t>
            </a:r>
          </a:p>
          <a:p>
            <a:pPr marL="800100" lvl="1" indent="-342900">
              <a:buFont typeface="Wingdings" panose="05000000000000000000" pitchFamily="2" charset="2"/>
              <a:buChar char="§"/>
            </a:pPr>
            <a:r>
              <a:rPr lang="en-US" sz="2000" dirty="0"/>
              <a:t>*Arg1: The path to the new process image file </a:t>
            </a:r>
          </a:p>
          <a:p>
            <a:pPr marL="800100" lvl="1" indent="-342900">
              <a:buFont typeface="Wingdings" panose="05000000000000000000" pitchFamily="2" charset="2"/>
              <a:buChar char="§"/>
            </a:pPr>
            <a:r>
              <a:rPr lang="en-US" sz="2000" dirty="0"/>
              <a:t>Arg2: a list of pointers to null-terminated strings that represent the argument list for the new process </a:t>
            </a:r>
          </a:p>
          <a:p>
            <a:pPr marL="800100" lvl="1" indent="-342900">
              <a:buFont typeface="Wingdings" panose="05000000000000000000" pitchFamily="2" charset="2"/>
              <a:buChar char="§"/>
            </a:pPr>
            <a:r>
              <a:rPr lang="en-US" sz="2000" dirty="0"/>
              <a:t>Arg3: By default, set it NULL</a:t>
            </a:r>
          </a:p>
          <a:p>
            <a:pPr marL="800100" lvl="1" indent="-342900">
              <a:buFont typeface="Wingdings" panose="05000000000000000000" pitchFamily="2" charset="2"/>
              <a:buChar char="§"/>
            </a:pPr>
            <a:r>
              <a:rPr lang="en-US" sz="2000" dirty="0"/>
              <a:t>Return: Return -1 if on failure.</a:t>
            </a:r>
          </a:p>
        </p:txBody>
      </p:sp>
      <p:pic>
        <p:nvPicPr>
          <p:cNvPr id="5" name="Picture 4">
            <a:extLst>
              <a:ext uri="{FF2B5EF4-FFF2-40B4-BE49-F238E27FC236}">
                <a16:creationId xmlns:a16="http://schemas.microsoft.com/office/drawing/2014/main" id="{60D59800-90B7-4E82-5824-0128A407E885}"/>
              </a:ext>
            </a:extLst>
          </p:cNvPr>
          <p:cNvPicPr>
            <a:picLocks noChangeAspect="1"/>
          </p:cNvPicPr>
          <p:nvPr/>
        </p:nvPicPr>
        <p:blipFill>
          <a:blip r:embed="rId2"/>
          <a:stretch>
            <a:fillRect/>
          </a:stretch>
        </p:blipFill>
        <p:spPr>
          <a:xfrm>
            <a:off x="1821045" y="3834909"/>
            <a:ext cx="7532184" cy="457200"/>
          </a:xfrm>
          <a:prstGeom prst="rect">
            <a:avLst/>
          </a:prstGeom>
        </p:spPr>
      </p:pic>
    </p:spTree>
    <p:extLst>
      <p:ext uri="{BB962C8B-B14F-4D97-AF65-F5344CB8AC3E}">
        <p14:creationId xmlns:p14="http://schemas.microsoft.com/office/powerpoint/2010/main" val="873798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err="1">
                <a:solidFill>
                  <a:srgbClr val="C00000"/>
                </a:solidFill>
              </a:rPr>
              <a:t>Execl</a:t>
            </a:r>
            <a:r>
              <a:rPr lang="en-US" sz="3800" dirty="0">
                <a:solidFill>
                  <a:srgbClr val="C00000"/>
                </a:solidFill>
              </a:rPr>
              <a:t> Process</a:t>
            </a:r>
          </a:p>
        </p:txBody>
      </p:sp>
      <p:pic>
        <p:nvPicPr>
          <p:cNvPr id="4" name="Picture 3">
            <a:extLst>
              <a:ext uri="{FF2B5EF4-FFF2-40B4-BE49-F238E27FC236}">
                <a16:creationId xmlns:a16="http://schemas.microsoft.com/office/drawing/2014/main" id="{C36AD97A-E3A5-CEAE-986A-D4BE2C0FC32B}"/>
              </a:ext>
            </a:extLst>
          </p:cNvPr>
          <p:cNvPicPr>
            <a:picLocks noChangeAspect="1"/>
          </p:cNvPicPr>
          <p:nvPr/>
        </p:nvPicPr>
        <p:blipFill>
          <a:blip r:embed="rId2"/>
          <a:stretch>
            <a:fillRect/>
          </a:stretch>
        </p:blipFill>
        <p:spPr>
          <a:xfrm>
            <a:off x="1493188" y="1257180"/>
            <a:ext cx="9205623" cy="5029200"/>
          </a:xfrm>
          <a:prstGeom prst="rect">
            <a:avLst/>
          </a:prstGeom>
        </p:spPr>
      </p:pic>
    </p:spTree>
    <p:extLst>
      <p:ext uri="{BB962C8B-B14F-4D97-AF65-F5344CB8AC3E}">
        <p14:creationId xmlns:p14="http://schemas.microsoft.com/office/powerpoint/2010/main" val="1770290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err="1">
                <a:solidFill>
                  <a:srgbClr val="C00000"/>
                </a:solidFill>
              </a:rPr>
              <a:t>Execl</a:t>
            </a:r>
            <a:r>
              <a:rPr lang="en-US" sz="3800" dirty="0">
                <a:solidFill>
                  <a:srgbClr val="C00000"/>
                </a:solidFill>
              </a:rPr>
              <a:t> Process Output</a:t>
            </a:r>
          </a:p>
        </p:txBody>
      </p:sp>
      <p:pic>
        <p:nvPicPr>
          <p:cNvPr id="4" name="Picture 3">
            <a:extLst>
              <a:ext uri="{FF2B5EF4-FFF2-40B4-BE49-F238E27FC236}">
                <a16:creationId xmlns:a16="http://schemas.microsoft.com/office/drawing/2014/main" id="{D13B5C28-CFC5-B004-5A1D-E12EDF088048}"/>
              </a:ext>
            </a:extLst>
          </p:cNvPr>
          <p:cNvPicPr>
            <a:picLocks noChangeAspect="1"/>
          </p:cNvPicPr>
          <p:nvPr/>
        </p:nvPicPr>
        <p:blipFill>
          <a:blip r:embed="rId2"/>
          <a:stretch>
            <a:fillRect/>
          </a:stretch>
        </p:blipFill>
        <p:spPr>
          <a:xfrm>
            <a:off x="319597" y="2089904"/>
            <a:ext cx="11655408" cy="2560320"/>
          </a:xfrm>
          <a:prstGeom prst="rect">
            <a:avLst/>
          </a:prstGeom>
        </p:spPr>
      </p:pic>
    </p:spTree>
    <p:extLst>
      <p:ext uri="{BB962C8B-B14F-4D97-AF65-F5344CB8AC3E}">
        <p14:creationId xmlns:p14="http://schemas.microsoft.com/office/powerpoint/2010/main" val="1851154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524</TotalTime>
  <Words>233</Words>
  <Application>Microsoft Office PowerPoint</Application>
  <PresentationFormat>Widescreen</PresentationFormat>
  <Paragraphs>35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PowerPoint Presentation</vt:lpstr>
      <vt:lpstr>Zombie Process</vt:lpstr>
      <vt:lpstr>Zombie Process</vt:lpstr>
      <vt:lpstr>Zombie Process Output</vt:lpstr>
      <vt:lpstr>Orphan Process</vt:lpstr>
      <vt:lpstr>Orphan Process</vt:lpstr>
      <vt:lpstr>The role of execl()</vt:lpstr>
      <vt:lpstr>Execl Process</vt:lpstr>
      <vt:lpstr>Execl Process 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 Zhao</dc:creator>
  <cp:lastModifiedBy>Zhao, Jie</cp:lastModifiedBy>
  <cp:revision>7</cp:revision>
  <dcterms:created xsi:type="dcterms:W3CDTF">2023-08-19T20:44:10Z</dcterms:created>
  <dcterms:modified xsi:type="dcterms:W3CDTF">2026-01-29T02:03:10Z</dcterms:modified>
</cp:coreProperties>
</file>