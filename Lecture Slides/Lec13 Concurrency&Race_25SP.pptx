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304" r:id="rId4"/>
    <p:sldId id="285" r:id="rId5"/>
    <p:sldId id="281" r:id="rId6"/>
    <p:sldId id="293" r:id="rId7"/>
    <p:sldId id="303" r:id="rId8"/>
    <p:sldId id="287" r:id="rId9"/>
    <p:sldId id="290" r:id="rId10"/>
    <p:sldId id="29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09" autoAdjust="0"/>
    <p:restoredTop sz="85332" autoAdjust="0"/>
  </p:normalViewPr>
  <p:slideViewPr>
    <p:cSldViewPr snapToGrid="0">
      <p:cViewPr varScale="1">
        <p:scale>
          <a:sx n="71" d="100"/>
          <a:sy n="71" d="100"/>
        </p:scale>
        <p:origin x="710" y="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ao, Jie" userId="7be6526a-30ba-445c-b3a9-aabf2c8f5828" providerId="ADAL" clId="{DEC740C7-2239-4DCB-A2EC-28D5B021DFB5}"/>
    <pc:docChg chg="modSld">
      <pc:chgData name="Zhao, Jie" userId="7be6526a-30ba-445c-b3a9-aabf2c8f5828" providerId="ADAL" clId="{DEC740C7-2239-4DCB-A2EC-28D5B021DFB5}" dt="2026-03-30T16:58:41.018" v="3" actId="20577"/>
      <pc:docMkLst>
        <pc:docMk/>
      </pc:docMkLst>
      <pc:sldChg chg="modSp mod">
        <pc:chgData name="Zhao, Jie" userId="7be6526a-30ba-445c-b3a9-aabf2c8f5828" providerId="ADAL" clId="{DEC740C7-2239-4DCB-A2EC-28D5B021DFB5}" dt="2026-03-30T16:58:41.018" v="3" actId="20577"/>
        <pc:sldMkLst>
          <pc:docMk/>
          <pc:sldMk cId="2199995263" sldId="256"/>
        </pc:sldMkLst>
        <pc:spChg chg="mod">
          <ac:chgData name="Zhao, Jie" userId="7be6526a-30ba-445c-b3a9-aabf2c8f5828" providerId="ADAL" clId="{DEC740C7-2239-4DCB-A2EC-28D5B021DFB5}" dt="2026-03-30T16:58:41.018" v="3" actId="20577"/>
          <ac:spMkLst>
            <pc:docMk/>
            <pc:sldMk cId="2199995263" sldId="256"/>
            <ac:spMk id="3" creationId="{2C5DF914-4B40-4A23-8AAC-9CFE7F215AC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E94F02-DFE8-47F5-999D-4D065381BD97}" type="datetimeFigureOut">
              <a:rPr lang="en-US" smtClean="0"/>
              <a:t>3/30/2026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9532FC-0C26-41ED-91C4-2A1C58AE2C83}" type="slidenum">
              <a:rPr lang="en-US" smtClean="0"/>
              <a:t>‹#›</a:t>
            </a:fld>
            <a:endParaRPr lang="en-US"/>
          </a:p>
        </p:txBody>
      </p:sp>
    </p:spTree>
    <p:extLst>
      <p:ext uri="{BB962C8B-B14F-4D97-AF65-F5344CB8AC3E}">
        <p14:creationId xmlns:p14="http://schemas.microsoft.com/office/powerpoint/2010/main" val="1653007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1</a:t>
            </a:fld>
            <a:endParaRPr lang="en-US"/>
          </a:p>
        </p:txBody>
      </p:sp>
    </p:spTree>
    <p:extLst>
      <p:ext uri="{BB962C8B-B14F-4D97-AF65-F5344CB8AC3E}">
        <p14:creationId xmlns:p14="http://schemas.microsoft.com/office/powerpoint/2010/main" val="3383317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Reason 1 is on pg6 of Lecture 7; Reason 2 is on pg7&amp;9 of Lecture 2; </a:t>
            </a:r>
          </a:p>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5</a:t>
            </a:fld>
            <a:endParaRPr lang="en-US"/>
          </a:p>
        </p:txBody>
      </p:sp>
    </p:spTree>
    <p:extLst>
      <p:ext uri="{BB962C8B-B14F-4D97-AF65-F5344CB8AC3E}">
        <p14:creationId xmlns:p14="http://schemas.microsoft.com/office/powerpoint/2010/main" val="17594155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counter as the shared data is not the result of running T1, but T2. This means that, if T1 and T2 have different arithmetical operations, T1 won’t get correct results in this trace table.</a:t>
            </a:r>
          </a:p>
        </p:txBody>
      </p:sp>
      <p:sp>
        <p:nvSpPr>
          <p:cNvPr id="4" name="Slide Number Placeholder 3"/>
          <p:cNvSpPr>
            <a:spLocks noGrp="1"/>
          </p:cNvSpPr>
          <p:nvPr>
            <p:ph type="sldNum" sz="quarter" idx="5"/>
          </p:nvPr>
        </p:nvSpPr>
        <p:spPr/>
        <p:txBody>
          <a:bodyPr/>
          <a:lstStyle/>
          <a:p>
            <a:fld id="{7B9532FC-0C26-41ED-91C4-2A1C58AE2C83}" type="slidenum">
              <a:rPr lang="en-US" smtClean="0"/>
              <a:t>7</a:t>
            </a:fld>
            <a:endParaRPr lang="en-US"/>
          </a:p>
        </p:txBody>
      </p:sp>
    </p:spTree>
    <p:extLst>
      <p:ext uri="{BB962C8B-B14F-4D97-AF65-F5344CB8AC3E}">
        <p14:creationId xmlns:p14="http://schemas.microsoft.com/office/powerpoint/2010/main" val="18457720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58CFA-34B8-4985-9EBD-3480D5E1D8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433D6D-E622-4C3B-9F70-ED49553B91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5B9800-BBE3-43F3-954C-1BE89C95AF77}"/>
              </a:ext>
            </a:extLst>
          </p:cNvPr>
          <p:cNvSpPr>
            <a:spLocks noGrp="1"/>
          </p:cNvSpPr>
          <p:nvPr>
            <p:ph type="dt" sz="half" idx="10"/>
          </p:nvPr>
        </p:nvSpPr>
        <p:spPr/>
        <p:txBody>
          <a:bodyPr/>
          <a:lstStyle/>
          <a:p>
            <a:fld id="{5701B579-BE22-4365-9624-3AE1F352F1A7}" type="datetimeFigureOut">
              <a:rPr lang="en-US" smtClean="0"/>
              <a:t>3/30/2026</a:t>
            </a:fld>
            <a:endParaRPr lang="en-US"/>
          </a:p>
        </p:txBody>
      </p:sp>
      <p:sp>
        <p:nvSpPr>
          <p:cNvPr id="5" name="Footer Placeholder 4">
            <a:extLst>
              <a:ext uri="{FF2B5EF4-FFF2-40B4-BE49-F238E27FC236}">
                <a16:creationId xmlns:a16="http://schemas.microsoft.com/office/drawing/2014/main" id="{4549448D-A783-4933-8C87-202B908B19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7A539E-77FB-4784-8F48-40A6E10C521F}"/>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65618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45774-D8FB-4609-AAE6-9DFB9337B9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28BC86-19DE-433A-AC72-8E6E8A93B7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DFEAE9-538F-4540-99B2-F94BBB0C3D78}"/>
              </a:ext>
            </a:extLst>
          </p:cNvPr>
          <p:cNvSpPr>
            <a:spLocks noGrp="1"/>
          </p:cNvSpPr>
          <p:nvPr>
            <p:ph type="dt" sz="half" idx="10"/>
          </p:nvPr>
        </p:nvSpPr>
        <p:spPr/>
        <p:txBody>
          <a:bodyPr/>
          <a:lstStyle/>
          <a:p>
            <a:fld id="{5701B579-BE22-4365-9624-3AE1F352F1A7}" type="datetimeFigureOut">
              <a:rPr lang="en-US" smtClean="0"/>
              <a:t>3/30/2026</a:t>
            </a:fld>
            <a:endParaRPr lang="en-US"/>
          </a:p>
        </p:txBody>
      </p:sp>
      <p:sp>
        <p:nvSpPr>
          <p:cNvPr id="5" name="Footer Placeholder 4">
            <a:extLst>
              <a:ext uri="{FF2B5EF4-FFF2-40B4-BE49-F238E27FC236}">
                <a16:creationId xmlns:a16="http://schemas.microsoft.com/office/drawing/2014/main" id="{0A00FA06-A552-48E9-984C-063D235291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1CB287-478F-4020-BBF4-AE2612E417F8}"/>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897582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65F8E-D378-48F1-982D-606B3160FF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2194D5D-2E6F-4291-B1C6-BBFC0323C9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1AAFD2-28C6-455D-AE60-B9D724863CD9}"/>
              </a:ext>
            </a:extLst>
          </p:cNvPr>
          <p:cNvSpPr>
            <a:spLocks noGrp="1"/>
          </p:cNvSpPr>
          <p:nvPr>
            <p:ph type="dt" sz="half" idx="10"/>
          </p:nvPr>
        </p:nvSpPr>
        <p:spPr/>
        <p:txBody>
          <a:bodyPr/>
          <a:lstStyle/>
          <a:p>
            <a:fld id="{5701B579-BE22-4365-9624-3AE1F352F1A7}" type="datetimeFigureOut">
              <a:rPr lang="en-US" smtClean="0"/>
              <a:t>3/30/2026</a:t>
            </a:fld>
            <a:endParaRPr lang="en-US"/>
          </a:p>
        </p:txBody>
      </p:sp>
      <p:sp>
        <p:nvSpPr>
          <p:cNvPr id="5" name="Footer Placeholder 4">
            <a:extLst>
              <a:ext uri="{FF2B5EF4-FFF2-40B4-BE49-F238E27FC236}">
                <a16:creationId xmlns:a16="http://schemas.microsoft.com/office/drawing/2014/main" id="{7F662756-894F-46FE-B4D3-4C37074401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5C601B-7763-446C-9DC5-9ACF5EE9B233}"/>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59983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285D5-4A70-4523-8C56-7A2F63097D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B50669-8B6D-4573-A65D-5723BE7B81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926AA6-27C3-4956-B4F9-B51F02240F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FCADE07-F788-4954-AC59-F7BCCAD825DE}"/>
              </a:ext>
            </a:extLst>
          </p:cNvPr>
          <p:cNvSpPr>
            <a:spLocks noGrp="1"/>
          </p:cNvSpPr>
          <p:nvPr>
            <p:ph type="dt" sz="half" idx="10"/>
          </p:nvPr>
        </p:nvSpPr>
        <p:spPr/>
        <p:txBody>
          <a:bodyPr/>
          <a:lstStyle/>
          <a:p>
            <a:fld id="{5701B579-BE22-4365-9624-3AE1F352F1A7}" type="datetimeFigureOut">
              <a:rPr lang="en-US" smtClean="0"/>
              <a:t>3/30/2026</a:t>
            </a:fld>
            <a:endParaRPr lang="en-US"/>
          </a:p>
        </p:txBody>
      </p:sp>
      <p:sp>
        <p:nvSpPr>
          <p:cNvPr id="6" name="Footer Placeholder 5">
            <a:extLst>
              <a:ext uri="{FF2B5EF4-FFF2-40B4-BE49-F238E27FC236}">
                <a16:creationId xmlns:a16="http://schemas.microsoft.com/office/drawing/2014/main" id="{D4CEA43F-F602-40EE-B21F-DC7E68CD6E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3D1C2A-9F62-4A54-96AE-3DAD48234391}"/>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578375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693E4-29D2-4052-9C0C-2B12FB9F04A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A1864E-EDC6-4F4B-90E2-73414CCE86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208338-D4D6-46C1-A40B-EBAFA05859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076AB0C-3D87-4B28-A144-FBE1D0F6FE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0639F3-6EB4-4B92-AE38-D411C1AA3A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1005A4-0514-429B-9362-4434E7932694}"/>
              </a:ext>
            </a:extLst>
          </p:cNvPr>
          <p:cNvSpPr>
            <a:spLocks noGrp="1"/>
          </p:cNvSpPr>
          <p:nvPr>
            <p:ph type="dt" sz="half" idx="10"/>
          </p:nvPr>
        </p:nvSpPr>
        <p:spPr/>
        <p:txBody>
          <a:bodyPr/>
          <a:lstStyle/>
          <a:p>
            <a:fld id="{5701B579-BE22-4365-9624-3AE1F352F1A7}" type="datetimeFigureOut">
              <a:rPr lang="en-US" smtClean="0"/>
              <a:t>3/30/2026</a:t>
            </a:fld>
            <a:endParaRPr lang="en-US"/>
          </a:p>
        </p:txBody>
      </p:sp>
      <p:sp>
        <p:nvSpPr>
          <p:cNvPr id="8" name="Footer Placeholder 7">
            <a:extLst>
              <a:ext uri="{FF2B5EF4-FFF2-40B4-BE49-F238E27FC236}">
                <a16:creationId xmlns:a16="http://schemas.microsoft.com/office/drawing/2014/main" id="{41B49C01-7B53-435D-82F7-A1316279CD4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2674F3-601B-4FAC-913E-6356AB82DE52}"/>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83746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8F530-2DDE-4090-B9BA-4E706FE890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24B356-E78B-4416-98FE-2C17AE157F2B}"/>
              </a:ext>
            </a:extLst>
          </p:cNvPr>
          <p:cNvSpPr>
            <a:spLocks noGrp="1"/>
          </p:cNvSpPr>
          <p:nvPr>
            <p:ph type="dt" sz="half" idx="10"/>
          </p:nvPr>
        </p:nvSpPr>
        <p:spPr/>
        <p:txBody>
          <a:bodyPr/>
          <a:lstStyle/>
          <a:p>
            <a:fld id="{5701B579-BE22-4365-9624-3AE1F352F1A7}" type="datetimeFigureOut">
              <a:rPr lang="en-US" smtClean="0"/>
              <a:t>3/30/2026</a:t>
            </a:fld>
            <a:endParaRPr lang="en-US"/>
          </a:p>
        </p:txBody>
      </p:sp>
      <p:sp>
        <p:nvSpPr>
          <p:cNvPr id="4" name="Footer Placeholder 3">
            <a:extLst>
              <a:ext uri="{FF2B5EF4-FFF2-40B4-BE49-F238E27FC236}">
                <a16:creationId xmlns:a16="http://schemas.microsoft.com/office/drawing/2014/main" id="{C15593D8-810C-4035-B5ED-80F9BF0D3A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DF55571-D054-48D1-8803-ADE847A65361}"/>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3453847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7BE268-32AF-41F1-B9BF-76444776383A}"/>
              </a:ext>
            </a:extLst>
          </p:cNvPr>
          <p:cNvSpPr>
            <a:spLocks noGrp="1"/>
          </p:cNvSpPr>
          <p:nvPr>
            <p:ph type="dt" sz="half" idx="10"/>
          </p:nvPr>
        </p:nvSpPr>
        <p:spPr/>
        <p:txBody>
          <a:bodyPr/>
          <a:lstStyle/>
          <a:p>
            <a:fld id="{5701B579-BE22-4365-9624-3AE1F352F1A7}" type="datetimeFigureOut">
              <a:rPr lang="en-US" smtClean="0"/>
              <a:t>3/30/2026</a:t>
            </a:fld>
            <a:endParaRPr lang="en-US"/>
          </a:p>
        </p:txBody>
      </p:sp>
      <p:sp>
        <p:nvSpPr>
          <p:cNvPr id="3" name="Footer Placeholder 2">
            <a:extLst>
              <a:ext uri="{FF2B5EF4-FFF2-40B4-BE49-F238E27FC236}">
                <a16:creationId xmlns:a16="http://schemas.microsoft.com/office/drawing/2014/main" id="{CF581429-1463-423B-A364-3007974280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1A6839-CB05-4AB6-92C3-597FE9B6E568}"/>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876207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70436-DB2A-48F1-B027-49BF16EC76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E8BF08-10D0-4FEE-BD95-9FDFBA2FF0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AA3EEA-BC06-42DA-89F3-9E0D2161B0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35DFBF-2A0A-4BBC-A7A2-C761EAFD3E8C}"/>
              </a:ext>
            </a:extLst>
          </p:cNvPr>
          <p:cNvSpPr>
            <a:spLocks noGrp="1"/>
          </p:cNvSpPr>
          <p:nvPr>
            <p:ph type="dt" sz="half" idx="10"/>
          </p:nvPr>
        </p:nvSpPr>
        <p:spPr/>
        <p:txBody>
          <a:bodyPr/>
          <a:lstStyle/>
          <a:p>
            <a:fld id="{5701B579-BE22-4365-9624-3AE1F352F1A7}" type="datetimeFigureOut">
              <a:rPr lang="en-US" smtClean="0"/>
              <a:t>3/30/2026</a:t>
            </a:fld>
            <a:endParaRPr lang="en-US"/>
          </a:p>
        </p:txBody>
      </p:sp>
      <p:sp>
        <p:nvSpPr>
          <p:cNvPr id="6" name="Footer Placeholder 5">
            <a:extLst>
              <a:ext uri="{FF2B5EF4-FFF2-40B4-BE49-F238E27FC236}">
                <a16:creationId xmlns:a16="http://schemas.microsoft.com/office/drawing/2014/main" id="{34E032EE-DBDF-4DD6-B09C-98EFBACD07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0F9592-0DF4-4888-A204-38DA63D36B25}"/>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253836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C96FA-1210-4D0E-9505-D51795E072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A255D6-880E-44DA-919F-3FCF13B52C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FC7E01-C6FB-46A7-A74A-898E5820E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4E34C9-0AC3-43C3-A654-3FC0164AC92B}"/>
              </a:ext>
            </a:extLst>
          </p:cNvPr>
          <p:cNvSpPr>
            <a:spLocks noGrp="1"/>
          </p:cNvSpPr>
          <p:nvPr>
            <p:ph type="dt" sz="half" idx="10"/>
          </p:nvPr>
        </p:nvSpPr>
        <p:spPr/>
        <p:txBody>
          <a:bodyPr/>
          <a:lstStyle/>
          <a:p>
            <a:fld id="{5701B579-BE22-4365-9624-3AE1F352F1A7}" type="datetimeFigureOut">
              <a:rPr lang="en-US" smtClean="0"/>
              <a:t>3/30/2026</a:t>
            </a:fld>
            <a:endParaRPr lang="en-US"/>
          </a:p>
        </p:txBody>
      </p:sp>
      <p:sp>
        <p:nvSpPr>
          <p:cNvPr id="6" name="Footer Placeholder 5">
            <a:extLst>
              <a:ext uri="{FF2B5EF4-FFF2-40B4-BE49-F238E27FC236}">
                <a16:creationId xmlns:a16="http://schemas.microsoft.com/office/drawing/2014/main" id="{23447480-0FFC-41C2-88A2-0A21C72635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0F4567-0817-4CF6-BD05-B1BDEA799552}"/>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85117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300B9-FC21-406B-B5FA-B60B7DC900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496599-23BC-425D-8BD9-EE0D324D68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89C455-686D-48B4-8DAB-D94E33E0608A}"/>
              </a:ext>
            </a:extLst>
          </p:cNvPr>
          <p:cNvSpPr>
            <a:spLocks noGrp="1"/>
          </p:cNvSpPr>
          <p:nvPr>
            <p:ph type="dt" sz="half" idx="10"/>
          </p:nvPr>
        </p:nvSpPr>
        <p:spPr/>
        <p:txBody>
          <a:bodyPr/>
          <a:lstStyle/>
          <a:p>
            <a:fld id="{5701B579-BE22-4365-9624-3AE1F352F1A7}" type="datetimeFigureOut">
              <a:rPr lang="en-US" smtClean="0"/>
              <a:t>3/30/2026</a:t>
            </a:fld>
            <a:endParaRPr lang="en-US"/>
          </a:p>
        </p:txBody>
      </p:sp>
      <p:sp>
        <p:nvSpPr>
          <p:cNvPr id="5" name="Footer Placeholder 4">
            <a:extLst>
              <a:ext uri="{FF2B5EF4-FFF2-40B4-BE49-F238E27FC236}">
                <a16:creationId xmlns:a16="http://schemas.microsoft.com/office/drawing/2014/main" id="{63AD1942-3ED0-4931-A8CE-6D984F8390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AB5B99-3A43-477C-B42A-3C08D02D7574}"/>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956863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23F515-C31F-4273-9268-3D1EF4F6FB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4BF6F7-9F34-4BB4-8961-A8EDC9D82C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259CB1-7397-4C82-89C9-0693FB2910E9}"/>
              </a:ext>
            </a:extLst>
          </p:cNvPr>
          <p:cNvSpPr>
            <a:spLocks noGrp="1"/>
          </p:cNvSpPr>
          <p:nvPr>
            <p:ph type="dt" sz="half" idx="10"/>
          </p:nvPr>
        </p:nvSpPr>
        <p:spPr/>
        <p:txBody>
          <a:bodyPr/>
          <a:lstStyle/>
          <a:p>
            <a:fld id="{5701B579-BE22-4365-9624-3AE1F352F1A7}" type="datetimeFigureOut">
              <a:rPr lang="en-US" smtClean="0"/>
              <a:t>3/30/2026</a:t>
            </a:fld>
            <a:endParaRPr lang="en-US"/>
          </a:p>
        </p:txBody>
      </p:sp>
      <p:sp>
        <p:nvSpPr>
          <p:cNvPr id="5" name="Footer Placeholder 4">
            <a:extLst>
              <a:ext uri="{FF2B5EF4-FFF2-40B4-BE49-F238E27FC236}">
                <a16:creationId xmlns:a16="http://schemas.microsoft.com/office/drawing/2014/main" id="{5F201C97-2278-43A9-BE35-0AD6126551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15134C-7180-46A6-9627-AECEF8DCC93D}"/>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637311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F26403-82E5-42A1-9D17-51FB8924CA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0F3246-0D43-4E66-B320-0671607BF3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F15B71-0150-43A3-94BD-2B7D0897C0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01B579-BE22-4365-9624-3AE1F352F1A7}" type="datetimeFigureOut">
              <a:rPr lang="en-US" smtClean="0"/>
              <a:t>3/30/2026</a:t>
            </a:fld>
            <a:endParaRPr lang="en-US"/>
          </a:p>
        </p:txBody>
      </p:sp>
      <p:sp>
        <p:nvSpPr>
          <p:cNvPr id="5" name="Footer Placeholder 4">
            <a:extLst>
              <a:ext uri="{FF2B5EF4-FFF2-40B4-BE49-F238E27FC236}">
                <a16:creationId xmlns:a16="http://schemas.microsoft.com/office/drawing/2014/main" id="{E979B45D-F9D5-470F-9240-ABDE82EA29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7AC585F-DBFF-493F-8D4A-16FE923EEA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D7EF8F-CC04-49FF-99A7-DBE4E5B3B38F}" type="slidenum">
              <a:rPr lang="en-US" smtClean="0"/>
              <a:t>‹#›</a:t>
            </a:fld>
            <a:endParaRPr lang="en-US"/>
          </a:p>
        </p:txBody>
      </p:sp>
    </p:spTree>
    <p:extLst>
      <p:ext uri="{BB962C8B-B14F-4D97-AF65-F5344CB8AC3E}">
        <p14:creationId xmlns:p14="http://schemas.microsoft.com/office/powerpoint/2010/main" val="1848083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726434" y="4659359"/>
            <a:ext cx="9144000" cy="1655762"/>
          </a:xfrm>
        </p:spPr>
        <p:txBody>
          <a:bodyPr>
            <a:normAutofit/>
          </a:bodyPr>
          <a:lstStyle/>
          <a:p>
            <a:r>
              <a:rPr lang="en-US" dirty="0"/>
              <a:t>Topic: Concurrency and Race Condition</a:t>
            </a:r>
          </a:p>
          <a:p>
            <a:r>
              <a:rPr lang="en-US" dirty="0"/>
              <a:t>Lecture: Dr. Zhao Jie</a:t>
            </a:r>
          </a:p>
          <a:p>
            <a:r>
              <a:rPr lang="en-US" dirty="0"/>
              <a:t>Date</a:t>
            </a:r>
            <a:r>
              <a:rPr lang="en-US"/>
              <a:t>: 03/30/2026</a:t>
            </a:r>
            <a:endParaRPr lang="en-US" dirty="0"/>
          </a:p>
        </p:txBody>
      </p:sp>
      <p:pic>
        <p:nvPicPr>
          <p:cNvPr id="5" name="Picture 4">
            <a:extLst>
              <a:ext uri="{FF2B5EF4-FFF2-40B4-BE49-F238E27FC236}">
                <a16:creationId xmlns:a16="http://schemas.microsoft.com/office/drawing/2014/main" id="{22F60897-8669-4C6A-9213-A875ED3223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4450" y="237202"/>
            <a:ext cx="9967968" cy="4572000"/>
          </a:xfrm>
          <a:prstGeom prst="rect">
            <a:avLst/>
          </a:prstGeom>
        </p:spPr>
      </p:pic>
    </p:spTree>
    <p:extLst>
      <p:ext uri="{BB962C8B-B14F-4D97-AF65-F5344CB8AC3E}">
        <p14:creationId xmlns:p14="http://schemas.microsoft.com/office/powerpoint/2010/main" val="2199995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524000" y="1122363"/>
            <a:ext cx="9144000" cy="1079299"/>
          </a:xfrm>
        </p:spPr>
        <p:txBody>
          <a:bodyPr/>
          <a:lstStyle/>
          <a:p>
            <a:r>
              <a:rPr lang="en-US" b="0" i="0" dirty="0">
                <a:solidFill>
                  <a:srgbClr val="000000"/>
                </a:solidFill>
                <a:effectLst/>
                <a:latin typeface="Arial" panose="020B0604020202020204" pitchFamily="34" charset="0"/>
              </a:rPr>
              <a:t>Reading Assignment</a:t>
            </a:r>
            <a:endParaRPr lang="en-US" dirty="0"/>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p:txBody>
          <a:bodyPr>
            <a:normAutofit/>
          </a:bodyPr>
          <a:lstStyle/>
          <a:p>
            <a:r>
              <a:rPr lang="en-US" b="0" i="0" dirty="0">
                <a:solidFill>
                  <a:srgbClr val="000000"/>
                </a:solidFill>
                <a:effectLst/>
                <a:latin typeface="Arial" panose="020B0604020202020204" pitchFamily="34" charset="0"/>
              </a:rPr>
              <a:t>Chapters</a:t>
            </a:r>
            <a:r>
              <a:rPr lang="en-US" dirty="0">
                <a:solidFill>
                  <a:srgbClr val="000000"/>
                </a:solidFill>
                <a:latin typeface="Arial" panose="020B0604020202020204" pitchFamily="34" charset="0"/>
              </a:rPr>
              <a:t> 26</a:t>
            </a:r>
            <a:endParaRPr lang="pl-PL" b="0" i="0" dirty="0">
              <a:solidFill>
                <a:srgbClr val="000000"/>
              </a:solidFill>
              <a:effectLst/>
              <a:latin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8DF00F48-9DB0-08EA-42CE-D4E5E667FF9F}"/>
              </a:ext>
            </a:extLst>
          </p:cNvPr>
          <p:cNvSpPr>
            <a:spLocks noGrp="1"/>
          </p:cNvSpPr>
          <p:nvPr>
            <p:ph type="sldNum" sz="quarter" idx="12"/>
          </p:nvPr>
        </p:nvSpPr>
        <p:spPr/>
        <p:txBody>
          <a:bodyPr/>
          <a:lstStyle/>
          <a:p>
            <a:fld id="{07D7EF8F-CC04-49FF-99A7-DBE4E5B3B38F}" type="slidenum">
              <a:rPr lang="en-US" smtClean="0"/>
              <a:t>2</a:t>
            </a:fld>
            <a:endParaRPr lang="en-US"/>
          </a:p>
        </p:txBody>
      </p:sp>
    </p:spTree>
    <p:extLst>
      <p:ext uri="{BB962C8B-B14F-4D97-AF65-F5344CB8AC3E}">
        <p14:creationId xmlns:p14="http://schemas.microsoft.com/office/powerpoint/2010/main" val="4038797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524000" y="776132"/>
            <a:ext cx="9144000" cy="1079299"/>
          </a:xfrm>
        </p:spPr>
        <p:txBody>
          <a:bodyPr/>
          <a:lstStyle/>
          <a:p>
            <a:r>
              <a:rPr lang="en-US" dirty="0">
                <a:solidFill>
                  <a:srgbClr val="000000"/>
                </a:solidFill>
                <a:latin typeface="Arial" panose="020B0604020202020204" pitchFamily="34" charset="0"/>
              </a:rPr>
              <a:t>Agenda</a:t>
            </a:r>
            <a:endParaRPr lang="en-US" dirty="0"/>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859872" y="2363603"/>
            <a:ext cx="8472256" cy="2545748"/>
          </a:xfrm>
        </p:spPr>
        <p:txBody>
          <a:bodyPr>
            <a:normAutofit lnSpcReduction="10000"/>
          </a:bodyPr>
          <a:lstStyle/>
          <a:p>
            <a:pPr marL="342900" indent="-342900" algn="l">
              <a:lnSpc>
                <a:spcPct val="150000"/>
              </a:lnSpc>
              <a:buFont typeface="Arial" panose="020B0604020202020204" pitchFamily="34" charset="0"/>
              <a:buChar char="•"/>
            </a:pPr>
            <a:r>
              <a:rPr lang="en-US" b="0" i="0" dirty="0">
                <a:solidFill>
                  <a:srgbClr val="000000"/>
                </a:solidFill>
                <a:effectLst/>
                <a:latin typeface="Arial" panose="020B0604020202020204" pitchFamily="34" charset="0"/>
              </a:rPr>
              <a:t>Difference between process and thread</a:t>
            </a:r>
          </a:p>
          <a:p>
            <a:pPr marL="342900" indent="-342900" algn="l">
              <a:lnSpc>
                <a:spcPct val="150000"/>
              </a:lnSpc>
              <a:buFont typeface="Arial" panose="020B0604020202020204" pitchFamily="34" charset="0"/>
              <a:buChar char="•"/>
            </a:pPr>
            <a:r>
              <a:rPr lang="en-US" b="0" i="0" dirty="0">
                <a:solidFill>
                  <a:srgbClr val="000000"/>
                </a:solidFill>
                <a:effectLst/>
                <a:latin typeface="Arial" panose="020B0604020202020204" pitchFamily="34" charset="0"/>
              </a:rPr>
              <a:t>Race condition</a:t>
            </a:r>
          </a:p>
          <a:p>
            <a:pPr marL="342900" indent="-342900" algn="l">
              <a:lnSpc>
                <a:spcPct val="150000"/>
              </a:lnSpc>
              <a:buFont typeface="Arial" panose="020B0604020202020204" pitchFamily="34" charset="0"/>
              <a:buChar char="•"/>
            </a:pPr>
            <a:r>
              <a:rPr lang="en-US" b="0" i="0" dirty="0">
                <a:solidFill>
                  <a:srgbClr val="000000"/>
                </a:solidFill>
                <a:effectLst/>
                <a:latin typeface="Arial" panose="020B0604020202020204" pitchFamily="34" charset="0"/>
              </a:rPr>
              <a:t>Deterministic and non-deterministic</a:t>
            </a:r>
          </a:p>
          <a:p>
            <a:pPr marL="342900" indent="-342900" algn="l">
              <a:lnSpc>
                <a:spcPct val="150000"/>
              </a:lnSpc>
              <a:buFont typeface="Arial" panose="020B0604020202020204" pitchFamily="34" charset="0"/>
              <a:buChar char="•"/>
            </a:pPr>
            <a:r>
              <a:rPr lang="en-US" b="0" i="0" dirty="0">
                <a:solidFill>
                  <a:srgbClr val="000000"/>
                </a:solidFill>
                <a:effectLst/>
                <a:latin typeface="Arial" panose="020B0604020202020204" pitchFamily="34" charset="0"/>
              </a:rPr>
              <a:t>Critical section</a:t>
            </a:r>
          </a:p>
        </p:txBody>
      </p:sp>
      <p:sp>
        <p:nvSpPr>
          <p:cNvPr id="4" name="Slide Number Placeholder 3">
            <a:extLst>
              <a:ext uri="{FF2B5EF4-FFF2-40B4-BE49-F238E27FC236}">
                <a16:creationId xmlns:a16="http://schemas.microsoft.com/office/drawing/2014/main" id="{8DF00F48-9DB0-08EA-42CE-D4E5E667FF9F}"/>
              </a:ext>
            </a:extLst>
          </p:cNvPr>
          <p:cNvSpPr>
            <a:spLocks noGrp="1"/>
          </p:cNvSpPr>
          <p:nvPr>
            <p:ph type="sldNum" sz="quarter" idx="12"/>
          </p:nvPr>
        </p:nvSpPr>
        <p:spPr/>
        <p:txBody>
          <a:bodyPr/>
          <a:lstStyle/>
          <a:p>
            <a:fld id="{07D7EF8F-CC04-49FF-99A7-DBE4E5B3B38F}" type="slidenum">
              <a:rPr lang="en-US" smtClean="0"/>
              <a:t>3</a:t>
            </a:fld>
            <a:endParaRPr lang="en-US"/>
          </a:p>
        </p:txBody>
      </p:sp>
    </p:spTree>
    <p:extLst>
      <p:ext uri="{BB962C8B-B14F-4D97-AF65-F5344CB8AC3E}">
        <p14:creationId xmlns:p14="http://schemas.microsoft.com/office/powerpoint/2010/main" val="1582799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10452740" cy="742228"/>
          </a:xfrm>
        </p:spPr>
        <p:txBody>
          <a:bodyPr>
            <a:noAutofit/>
          </a:bodyPr>
          <a:lstStyle/>
          <a:p>
            <a:r>
              <a:rPr lang="en-US" sz="4200" dirty="0">
                <a:solidFill>
                  <a:srgbClr val="C00000"/>
                </a:solidFill>
              </a:rPr>
              <a:t>The difference between processes and threads</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049562" y="1399209"/>
            <a:ext cx="4902916" cy="4535999"/>
          </a:xfrm>
        </p:spPr>
        <p:txBody>
          <a:bodyPr>
            <a:normAutofit/>
          </a:bodyPr>
          <a:lstStyle/>
          <a:p>
            <a:pPr marL="342900" indent="-342900" algn="l">
              <a:lnSpc>
                <a:spcPct val="150000"/>
              </a:lnSpc>
              <a:buFont typeface="Arial" panose="020B0604020202020204" pitchFamily="34" charset="0"/>
              <a:buChar char="•"/>
            </a:pPr>
            <a:r>
              <a:rPr lang="en-US" dirty="0"/>
              <a:t>Multi-threads in a process share the same address space in a process.</a:t>
            </a:r>
          </a:p>
          <a:p>
            <a:pPr marL="342900" indent="-342900" algn="l">
              <a:lnSpc>
                <a:spcPct val="150000"/>
              </a:lnSpc>
              <a:buFont typeface="Arial" panose="020B0604020202020204" pitchFamily="34" charset="0"/>
              <a:buChar char="•"/>
            </a:pPr>
            <a:r>
              <a:rPr lang="en-US" dirty="0"/>
              <a:t>Each thread has its own stack. This means a process may have many stack segments if there are multi-threads in the process.</a:t>
            </a:r>
            <a:endParaRPr lang="en-US" sz="2400" dirty="0"/>
          </a:p>
          <a:p>
            <a:pPr lvl="1" algn="l">
              <a:lnSpc>
                <a:spcPct val="150000"/>
              </a:lnSpc>
            </a:pPr>
            <a:endParaRPr lang="en-US" dirty="0"/>
          </a:p>
        </p:txBody>
      </p:sp>
      <p:pic>
        <p:nvPicPr>
          <p:cNvPr id="8" name="Picture 7">
            <a:extLst>
              <a:ext uri="{FF2B5EF4-FFF2-40B4-BE49-F238E27FC236}">
                <a16:creationId xmlns:a16="http://schemas.microsoft.com/office/drawing/2014/main" id="{0B0D9ADF-46DF-8561-28D5-74B24814E983}"/>
              </a:ext>
            </a:extLst>
          </p:cNvPr>
          <p:cNvPicPr>
            <a:picLocks noChangeAspect="1"/>
          </p:cNvPicPr>
          <p:nvPr/>
        </p:nvPicPr>
        <p:blipFill>
          <a:blip r:embed="rId2"/>
          <a:stretch>
            <a:fillRect/>
          </a:stretch>
        </p:blipFill>
        <p:spPr>
          <a:xfrm>
            <a:off x="6096000" y="1681550"/>
            <a:ext cx="5702532" cy="3657600"/>
          </a:xfrm>
          <a:prstGeom prst="rect">
            <a:avLst/>
          </a:prstGeom>
        </p:spPr>
      </p:pic>
    </p:spTree>
    <p:extLst>
      <p:ext uri="{BB962C8B-B14F-4D97-AF65-F5344CB8AC3E}">
        <p14:creationId xmlns:p14="http://schemas.microsoft.com/office/powerpoint/2010/main" val="3475695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37510"/>
          </a:xfrm>
        </p:spPr>
        <p:txBody>
          <a:bodyPr>
            <a:noAutofit/>
          </a:bodyPr>
          <a:lstStyle/>
          <a:p>
            <a:r>
              <a:rPr lang="en-US" sz="4200" dirty="0">
                <a:solidFill>
                  <a:srgbClr val="C00000"/>
                </a:solidFill>
              </a:rPr>
              <a:t>Why use threads?</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671439" y="1321552"/>
            <a:ext cx="8817527" cy="4649756"/>
          </a:xfrm>
        </p:spPr>
        <p:txBody>
          <a:bodyPr>
            <a:normAutofit/>
          </a:bodyPr>
          <a:lstStyle/>
          <a:p>
            <a:pPr marL="342900" indent="-342900" algn="l">
              <a:lnSpc>
                <a:spcPct val="150000"/>
              </a:lnSpc>
              <a:buFont typeface="Arial" panose="020B0604020202020204" pitchFamily="34" charset="0"/>
              <a:buChar char="•"/>
            </a:pPr>
            <a:r>
              <a:rPr lang="en-US" dirty="0"/>
              <a:t>Parallelism</a:t>
            </a:r>
          </a:p>
          <a:p>
            <a:pPr lvl="1" algn="l">
              <a:lnSpc>
                <a:spcPct val="150000"/>
              </a:lnSpc>
            </a:pPr>
            <a:r>
              <a:rPr lang="en-US" dirty="0"/>
              <a:t>For example, two large arrays are added. Parallelism converts such a task from a single thread to multi-threads working on multiple CPUs.</a:t>
            </a:r>
          </a:p>
          <a:p>
            <a:pPr lvl="1" algn="l">
              <a:lnSpc>
                <a:spcPct val="150000"/>
              </a:lnSpc>
            </a:pPr>
            <a:endParaRPr lang="en-US" dirty="0"/>
          </a:p>
          <a:p>
            <a:pPr marL="342900" indent="-342900" algn="l">
              <a:lnSpc>
                <a:spcPct val="150000"/>
              </a:lnSpc>
              <a:buFont typeface="Arial" panose="020B0604020202020204" pitchFamily="34" charset="0"/>
              <a:buChar char="•"/>
            </a:pPr>
            <a:r>
              <a:rPr lang="en-US" dirty="0"/>
              <a:t>Void blocking program progress due to slow I/O</a:t>
            </a:r>
          </a:p>
          <a:p>
            <a:pPr lvl="1" algn="l">
              <a:lnSpc>
                <a:spcPct val="150000"/>
              </a:lnSpc>
            </a:pPr>
            <a:r>
              <a:rPr lang="en-US" dirty="0"/>
              <a:t>For example, if one thread waits for reading or writing for I/O, the CPU scheduler can switch CPU resources to another thread. </a:t>
            </a:r>
          </a:p>
        </p:txBody>
      </p:sp>
    </p:spTree>
    <p:extLst>
      <p:ext uri="{BB962C8B-B14F-4D97-AF65-F5344CB8AC3E}">
        <p14:creationId xmlns:p14="http://schemas.microsoft.com/office/powerpoint/2010/main" val="3760905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10452740" cy="742228"/>
          </a:xfrm>
        </p:spPr>
        <p:txBody>
          <a:bodyPr>
            <a:noAutofit/>
          </a:bodyPr>
          <a:lstStyle/>
          <a:p>
            <a:r>
              <a:rPr lang="en-US" sz="4200" dirty="0">
                <a:solidFill>
                  <a:srgbClr val="C00000"/>
                </a:solidFill>
              </a:rPr>
              <a:t>An example of </a:t>
            </a:r>
            <a:r>
              <a:rPr lang="en-US" sz="4200" u="sng" dirty="0">
                <a:solidFill>
                  <a:srgbClr val="C00000"/>
                </a:solidFill>
              </a:rPr>
              <a:t>concurrency</a:t>
            </a:r>
          </a:p>
        </p:txBody>
      </p:sp>
      <p:pic>
        <p:nvPicPr>
          <p:cNvPr id="8" name="Picture 7">
            <a:extLst>
              <a:ext uri="{FF2B5EF4-FFF2-40B4-BE49-F238E27FC236}">
                <a16:creationId xmlns:a16="http://schemas.microsoft.com/office/drawing/2014/main" id="{839619BD-CF89-3FD2-E87E-DDAE00803DB6}"/>
              </a:ext>
            </a:extLst>
          </p:cNvPr>
          <p:cNvPicPr>
            <a:picLocks noChangeAspect="1"/>
          </p:cNvPicPr>
          <p:nvPr/>
        </p:nvPicPr>
        <p:blipFill>
          <a:blip r:embed="rId2"/>
          <a:stretch>
            <a:fillRect/>
          </a:stretch>
        </p:blipFill>
        <p:spPr>
          <a:xfrm>
            <a:off x="497755" y="3974308"/>
            <a:ext cx="4824174" cy="2286000"/>
          </a:xfrm>
          <a:prstGeom prst="rect">
            <a:avLst/>
          </a:prstGeom>
        </p:spPr>
      </p:pic>
      <p:pic>
        <p:nvPicPr>
          <p:cNvPr id="10" name="Picture 9">
            <a:extLst>
              <a:ext uri="{FF2B5EF4-FFF2-40B4-BE49-F238E27FC236}">
                <a16:creationId xmlns:a16="http://schemas.microsoft.com/office/drawing/2014/main" id="{00CA1532-4301-D616-B12E-AC3781F2F7B7}"/>
              </a:ext>
            </a:extLst>
          </p:cNvPr>
          <p:cNvPicPr>
            <a:picLocks noChangeAspect="1"/>
          </p:cNvPicPr>
          <p:nvPr/>
        </p:nvPicPr>
        <p:blipFill>
          <a:blip r:embed="rId3"/>
          <a:stretch>
            <a:fillRect/>
          </a:stretch>
        </p:blipFill>
        <p:spPr>
          <a:xfrm>
            <a:off x="497755" y="1374027"/>
            <a:ext cx="7402107" cy="2743200"/>
          </a:xfrm>
          <a:prstGeom prst="rect">
            <a:avLst/>
          </a:prstGeom>
        </p:spPr>
      </p:pic>
      <p:pic>
        <p:nvPicPr>
          <p:cNvPr id="12" name="Picture 11">
            <a:extLst>
              <a:ext uri="{FF2B5EF4-FFF2-40B4-BE49-F238E27FC236}">
                <a16:creationId xmlns:a16="http://schemas.microsoft.com/office/drawing/2014/main" id="{914B614B-C7C0-67BD-4398-FC281B6DFA68}"/>
              </a:ext>
            </a:extLst>
          </p:cNvPr>
          <p:cNvPicPr>
            <a:picLocks noChangeAspect="1"/>
          </p:cNvPicPr>
          <p:nvPr/>
        </p:nvPicPr>
        <p:blipFill>
          <a:blip r:embed="rId4"/>
          <a:stretch>
            <a:fillRect/>
          </a:stretch>
        </p:blipFill>
        <p:spPr>
          <a:xfrm>
            <a:off x="1048414" y="6260308"/>
            <a:ext cx="3150394" cy="274320"/>
          </a:xfrm>
          <a:prstGeom prst="rect">
            <a:avLst/>
          </a:prstGeom>
        </p:spPr>
      </p:pic>
      <p:sp>
        <p:nvSpPr>
          <p:cNvPr id="3" name="Rectangle 2">
            <a:extLst>
              <a:ext uri="{FF2B5EF4-FFF2-40B4-BE49-F238E27FC236}">
                <a16:creationId xmlns:a16="http://schemas.microsoft.com/office/drawing/2014/main" id="{0CEB8FBB-A11F-D34C-B84C-14FDB2687901}"/>
              </a:ext>
            </a:extLst>
          </p:cNvPr>
          <p:cNvSpPr/>
          <p:nvPr/>
        </p:nvSpPr>
        <p:spPr>
          <a:xfrm>
            <a:off x="1301676" y="2221453"/>
            <a:ext cx="4851699" cy="1285539"/>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D189A097-174E-0B6C-8407-D07180580CB5}"/>
              </a:ext>
            </a:extLst>
          </p:cNvPr>
          <p:cNvCxnSpPr/>
          <p:nvPr/>
        </p:nvCxnSpPr>
        <p:spPr>
          <a:xfrm>
            <a:off x="53789" y="4117227"/>
            <a:ext cx="7846073" cy="0"/>
          </a:xfrm>
          <a:prstGeom prst="line">
            <a:avLst/>
          </a:prstGeom>
          <a:ln w="12700"/>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9A7E49CC-44E3-B01F-C71B-3E3C72917D19}"/>
              </a:ext>
            </a:extLst>
          </p:cNvPr>
          <p:cNvPicPr>
            <a:picLocks noChangeAspect="1"/>
          </p:cNvPicPr>
          <p:nvPr/>
        </p:nvPicPr>
        <p:blipFill>
          <a:blip r:embed="rId5"/>
          <a:stretch>
            <a:fillRect/>
          </a:stretch>
        </p:blipFill>
        <p:spPr>
          <a:xfrm>
            <a:off x="5278836" y="4799651"/>
            <a:ext cx="6852400" cy="1097280"/>
          </a:xfrm>
          <a:prstGeom prst="rect">
            <a:avLst/>
          </a:prstGeom>
        </p:spPr>
      </p:pic>
      <p:sp>
        <p:nvSpPr>
          <p:cNvPr id="11" name="Rectangle 10">
            <a:extLst>
              <a:ext uri="{FF2B5EF4-FFF2-40B4-BE49-F238E27FC236}">
                <a16:creationId xmlns:a16="http://schemas.microsoft.com/office/drawing/2014/main" id="{077F3443-48AF-456E-EA5A-A076972448BE}"/>
              </a:ext>
            </a:extLst>
          </p:cNvPr>
          <p:cNvSpPr/>
          <p:nvPr/>
        </p:nvSpPr>
        <p:spPr>
          <a:xfrm>
            <a:off x="5368066" y="4799651"/>
            <a:ext cx="6763170" cy="109727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Down 12">
            <a:extLst>
              <a:ext uri="{FF2B5EF4-FFF2-40B4-BE49-F238E27FC236}">
                <a16:creationId xmlns:a16="http://schemas.microsoft.com/office/drawing/2014/main" id="{43612008-98B1-EF62-506C-BFB0C095506F}"/>
              </a:ext>
            </a:extLst>
          </p:cNvPr>
          <p:cNvSpPr/>
          <p:nvPr/>
        </p:nvSpPr>
        <p:spPr>
          <a:xfrm rot="10800000">
            <a:off x="8536192" y="1143000"/>
            <a:ext cx="142783" cy="3466652"/>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0943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185766"/>
            <a:ext cx="10452740" cy="742228"/>
          </a:xfrm>
        </p:spPr>
        <p:txBody>
          <a:bodyPr>
            <a:noAutofit/>
          </a:bodyPr>
          <a:lstStyle/>
          <a:p>
            <a:r>
              <a:rPr lang="en-US" sz="4200" dirty="0">
                <a:solidFill>
                  <a:srgbClr val="C00000"/>
                </a:solidFill>
              </a:rPr>
              <a:t>Tracking table for running threads</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400082" y="974524"/>
            <a:ext cx="9391836" cy="5175572"/>
          </a:xfrm>
        </p:spPr>
        <p:txBody>
          <a:bodyPr>
            <a:normAutofit/>
          </a:bodyPr>
          <a:lstStyle/>
          <a:p>
            <a:pPr marL="342900" indent="-342900" algn="l">
              <a:lnSpc>
                <a:spcPct val="150000"/>
              </a:lnSpc>
              <a:buFont typeface="Arial" panose="020B0604020202020204" pitchFamily="34" charset="0"/>
              <a:buChar char="•"/>
            </a:pPr>
            <a:r>
              <a:rPr lang="en-US" sz="2200" dirty="0"/>
              <a:t>Assembly code of </a:t>
            </a:r>
          </a:p>
          <a:p>
            <a:pPr algn="l">
              <a:lnSpc>
                <a:spcPct val="150000"/>
              </a:lnSpc>
            </a:pPr>
            <a:endParaRPr lang="en-US" dirty="0"/>
          </a:p>
        </p:txBody>
      </p:sp>
      <p:pic>
        <p:nvPicPr>
          <p:cNvPr id="5" name="Picture 4">
            <a:extLst>
              <a:ext uri="{FF2B5EF4-FFF2-40B4-BE49-F238E27FC236}">
                <a16:creationId xmlns:a16="http://schemas.microsoft.com/office/drawing/2014/main" id="{380B0A90-A204-1A4C-4A81-4E8E32D28279}"/>
              </a:ext>
            </a:extLst>
          </p:cNvPr>
          <p:cNvPicPr>
            <a:picLocks noChangeAspect="1"/>
          </p:cNvPicPr>
          <p:nvPr/>
        </p:nvPicPr>
        <p:blipFill>
          <a:blip r:embed="rId3"/>
          <a:stretch>
            <a:fillRect/>
          </a:stretch>
        </p:blipFill>
        <p:spPr>
          <a:xfrm>
            <a:off x="6096000" y="1036592"/>
            <a:ext cx="2544418" cy="731520"/>
          </a:xfrm>
          <a:prstGeom prst="rect">
            <a:avLst/>
          </a:prstGeom>
        </p:spPr>
      </p:pic>
      <p:pic>
        <p:nvPicPr>
          <p:cNvPr id="7" name="Picture 6">
            <a:extLst>
              <a:ext uri="{FF2B5EF4-FFF2-40B4-BE49-F238E27FC236}">
                <a16:creationId xmlns:a16="http://schemas.microsoft.com/office/drawing/2014/main" id="{84CCBA87-FA1E-3427-3AA5-0A15B80E4344}"/>
              </a:ext>
            </a:extLst>
          </p:cNvPr>
          <p:cNvPicPr>
            <a:picLocks noChangeAspect="1"/>
          </p:cNvPicPr>
          <p:nvPr/>
        </p:nvPicPr>
        <p:blipFill>
          <a:blip r:embed="rId4"/>
          <a:stretch>
            <a:fillRect/>
          </a:stretch>
        </p:blipFill>
        <p:spPr>
          <a:xfrm>
            <a:off x="2469810" y="2020921"/>
            <a:ext cx="7252380" cy="3657600"/>
          </a:xfrm>
          <a:prstGeom prst="rect">
            <a:avLst/>
          </a:prstGeom>
        </p:spPr>
      </p:pic>
      <p:sp>
        <p:nvSpPr>
          <p:cNvPr id="4" name="TextBox 3">
            <a:extLst>
              <a:ext uri="{FF2B5EF4-FFF2-40B4-BE49-F238E27FC236}">
                <a16:creationId xmlns:a16="http://schemas.microsoft.com/office/drawing/2014/main" id="{63C9B8C7-8478-92C0-32F4-7558528DDE1C}"/>
              </a:ext>
            </a:extLst>
          </p:cNvPr>
          <p:cNvSpPr txBox="1"/>
          <p:nvPr/>
        </p:nvSpPr>
        <p:spPr>
          <a:xfrm>
            <a:off x="2091031" y="5994877"/>
            <a:ext cx="8009937" cy="430887"/>
          </a:xfrm>
          <a:prstGeom prst="rect">
            <a:avLst/>
          </a:prstGeom>
          <a:noFill/>
        </p:spPr>
        <p:txBody>
          <a:bodyPr wrap="square" rtlCol="0">
            <a:spAutoFit/>
          </a:bodyPr>
          <a:lstStyle/>
          <a:p>
            <a:r>
              <a:rPr lang="en-US" sz="2200" dirty="0">
                <a:solidFill>
                  <a:srgbClr val="C00000"/>
                </a:solidFill>
              </a:rPr>
              <a:t>Q: What is the issue in this case?</a:t>
            </a:r>
          </a:p>
        </p:txBody>
      </p:sp>
    </p:spTree>
    <p:extLst>
      <p:ext uri="{BB962C8B-B14F-4D97-AF65-F5344CB8AC3E}">
        <p14:creationId xmlns:p14="http://schemas.microsoft.com/office/powerpoint/2010/main" val="926314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10452740" cy="742228"/>
          </a:xfrm>
        </p:spPr>
        <p:txBody>
          <a:bodyPr>
            <a:noAutofit/>
          </a:bodyPr>
          <a:lstStyle/>
          <a:p>
            <a:r>
              <a:rPr lang="en-US" sz="4200" dirty="0">
                <a:solidFill>
                  <a:srgbClr val="C00000"/>
                </a:solidFill>
              </a:rPr>
              <a:t>Race condition</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581704" y="1267560"/>
            <a:ext cx="9391836" cy="5399570"/>
          </a:xfrm>
        </p:spPr>
        <p:txBody>
          <a:bodyPr>
            <a:normAutofit/>
          </a:bodyPr>
          <a:lstStyle/>
          <a:p>
            <a:pPr marL="342900" indent="-342900" algn="l">
              <a:lnSpc>
                <a:spcPct val="150000"/>
              </a:lnSpc>
              <a:buFont typeface="Arial" panose="020B0604020202020204" pitchFamily="34" charset="0"/>
              <a:buChar char="•"/>
            </a:pPr>
            <a:r>
              <a:rPr lang="en-US" sz="2200" dirty="0"/>
              <a:t>Race condition</a:t>
            </a:r>
          </a:p>
          <a:p>
            <a:pPr lvl="1" algn="l">
              <a:lnSpc>
                <a:spcPct val="150000"/>
              </a:lnSpc>
            </a:pPr>
            <a:r>
              <a:rPr lang="en-US" sz="1800" dirty="0"/>
              <a:t>A race condition arises if multiple execution threads enter the </a:t>
            </a:r>
            <a:r>
              <a:rPr lang="en-US" sz="1800" b="1" dirty="0"/>
              <a:t>critical section</a:t>
            </a:r>
            <a:r>
              <a:rPr lang="en-US" sz="1800" dirty="0"/>
              <a:t> at roughly the same time; both attempt to update the shared data structure, leading to a surprising (and perhaps undesirable) outcome.</a:t>
            </a:r>
          </a:p>
          <a:p>
            <a:pPr lvl="1" algn="l">
              <a:lnSpc>
                <a:spcPct val="150000"/>
              </a:lnSpc>
            </a:pPr>
            <a:endParaRPr lang="en-US" sz="1800" dirty="0"/>
          </a:p>
          <a:p>
            <a:pPr marL="342900" indent="-342900" algn="l">
              <a:lnSpc>
                <a:spcPct val="150000"/>
              </a:lnSpc>
              <a:buFont typeface="Arial" panose="020B0604020202020204" pitchFamily="34" charset="0"/>
              <a:buChar char="•"/>
            </a:pPr>
            <a:r>
              <a:rPr lang="en-US" sz="2200" dirty="0"/>
              <a:t>Deterministic and indeterministic</a:t>
            </a:r>
          </a:p>
          <a:p>
            <a:pPr lvl="1" algn="l">
              <a:lnSpc>
                <a:spcPct val="150000"/>
              </a:lnSpc>
            </a:pPr>
            <a:r>
              <a:rPr lang="en-US" sz="1800" dirty="0"/>
              <a:t>An indeterminate program consists of one or more race conditions; the output of the program varies from run to run, depending on which threads ran when. The outcome is thus </a:t>
            </a:r>
            <a:r>
              <a:rPr lang="en-US" sz="1800" b="1" dirty="0"/>
              <a:t>not deterministic</a:t>
            </a:r>
            <a:r>
              <a:rPr lang="en-US" sz="1800" dirty="0"/>
              <a:t>, something we usually expect from computer systems.</a:t>
            </a:r>
          </a:p>
          <a:p>
            <a:pPr lvl="1" algn="l">
              <a:lnSpc>
                <a:spcPct val="150000"/>
              </a:lnSpc>
            </a:pPr>
            <a:endParaRPr lang="en-US" dirty="0"/>
          </a:p>
          <a:p>
            <a:pPr algn="l">
              <a:lnSpc>
                <a:spcPct val="150000"/>
              </a:lnSpc>
            </a:pPr>
            <a:endParaRPr lang="en-US" dirty="0"/>
          </a:p>
          <a:p>
            <a:pPr algn="l">
              <a:lnSpc>
                <a:spcPct val="150000"/>
              </a:lnSpc>
            </a:pPr>
            <a:endParaRPr lang="en-US" dirty="0"/>
          </a:p>
        </p:txBody>
      </p:sp>
    </p:spTree>
    <p:extLst>
      <p:ext uri="{BB962C8B-B14F-4D97-AF65-F5344CB8AC3E}">
        <p14:creationId xmlns:p14="http://schemas.microsoft.com/office/powerpoint/2010/main" val="1344119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185766"/>
            <a:ext cx="10452740" cy="742228"/>
          </a:xfrm>
        </p:spPr>
        <p:txBody>
          <a:bodyPr>
            <a:noAutofit/>
          </a:bodyPr>
          <a:lstStyle/>
          <a:p>
            <a:r>
              <a:rPr lang="en-US" sz="4200" dirty="0">
                <a:solidFill>
                  <a:srgbClr val="C00000"/>
                </a:solidFill>
              </a:rPr>
              <a:t>The solution to race condition</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581704" y="1005670"/>
            <a:ext cx="9391836" cy="5169239"/>
          </a:xfrm>
        </p:spPr>
        <p:txBody>
          <a:bodyPr>
            <a:normAutofit/>
          </a:bodyPr>
          <a:lstStyle/>
          <a:p>
            <a:pPr marL="342900" indent="-342900" algn="l">
              <a:lnSpc>
                <a:spcPct val="150000"/>
              </a:lnSpc>
              <a:buFont typeface="Arial" panose="020B0604020202020204" pitchFamily="34" charset="0"/>
              <a:buChar char="•"/>
            </a:pPr>
            <a:r>
              <a:rPr lang="en-US" sz="2200" dirty="0"/>
              <a:t>Critical section (Atomic Unit)</a:t>
            </a:r>
          </a:p>
          <a:p>
            <a:pPr lvl="1" algn="l">
              <a:lnSpc>
                <a:spcPct val="150000"/>
              </a:lnSpc>
            </a:pPr>
            <a:r>
              <a:rPr lang="en-US" sz="1800" dirty="0"/>
              <a:t>A </a:t>
            </a:r>
            <a:r>
              <a:rPr lang="en-US" sz="1800" b="1" dirty="0"/>
              <a:t>critical section </a:t>
            </a:r>
            <a:r>
              <a:rPr lang="en-US" sz="1800" dirty="0"/>
              <a:t>is a piece of code that accesses a shared resource, usually a variable or data structure. </a:t>
            </a:r>
          </a:p>
          <a:p>
            <a:pPr lvl="1" algn="l">
              <a:lnSpc>
                <a:spcPct val="150000"/>
              </a:lnSpc>
            </a:pPr>
            <a:endParaRPr lang="en-US" sz="1800" dirty="0"/>
          </a:p>
          <a:p>
            <a:pPr lvl="1" algn="l">
              <a:lnSpc>
                <a:spcPct val="150000"/>
              </a:lnSpc>
            </a:pPr>
            <a:endParaRPr lang="en-US" sz="1800" dirty="0"/>
          </a:p>
          <a:p>
            <a:pPr lvl="1" algn="l">
              <a:lnSpc>
                <a:spcPct val="150000"/>
              </a:lnSpc>
            </a:pPr>
            <a:endParaRPr lang="en-US" sz="1800" dirty="0"/>
          </a:p>
          <a:p>
            <a:pPr marL="342900" indent="-342900" algn="l">
              <a:lnSpc>
                <a:spcPct val="150000"/>
              </a:lnSpc>
              <a:buFont typeface="Arial" panose="020B0604020202020204" pitchFamily="34" charset="0"/>
              <a:buChar char="•"/>
            </a:pPr>
            <a:r>
              <a:rPr lang="en-US" sz="2200" dirty="0"/>
              <a:t>Mutual exclusion</a:t>
            </a:r>
          </a:p>
          <a:p>
            <a:pPr lvl="1" algn="l">
              <a:lnSpc>
                <a:spcPct val="150000"/>
              </a:lnSpc>
            </a:pPr>
            <a:r>
              <a:rPr lang="en-US" sz="1800" dirty="0"/>
              <a:t>To avoid these problems, threads should use some kind of mutual exclusion primitives; doing so guarantees that only a single thread ever enters a critical section, thus avoiding races, and resulting in deterministic program outputs.</a:t>
            </a:r>
          </a:p>
          <a:p>
            <a:pPr algn="l">
              <a:lnSpc>
                <a:spcPct val="150000"/>
              </a:lnSpc>
            </a:pPr>
            <a:endParaRPr lang="en-US" sz="2200" dirty="0"/>
          </a:p>
          <a:p>
            <a:pPr algn="l">
              <a:lnSpc>
                <a:spcPct val="150000"/>
              </a:lnSpc>
            </a:pPr>
            <a:endParaRPr lang="en-US" sz="2000" dirty="0"/>
          </a:p>
        </p:txBody>
      </p:sp>
      <p:pic>
        <p:nvPicPr>
          <p:cNvPr id="6" name="Picture 5">
            <a:extLst>
              <a:ext uri="{FF2B5EF4-FFF2-40B4-BE49-F238E27FC236}">
                <a16:creationId xmlns:a16="http://schemas.microsoft.com/office/drawing/2014/main" id="{E0A8E0BA-7CFC-FF30-7C60-DCF274AE03D0}"/>
              </a:ext>
            </a:extLst>
          </p:cNvPr>
          <p:cNvPicPr>
            <a:picLocks noChangeAspect="1"/>
          </p:cNvPicPr>
          <p:nvPr/>
        </p:nvPicPr>
        <p:blipFill>
          <a:blip r:embed="rId2"/>
          <a:stretch>
            <a:fillRect/>
          </a:stretch>
        </p:blipFill>
        <p:spPr>
          <a:xfrm>
            <a:off x="4830607" y="2567477"/>
            <a:ext cx="2894029" cy="914400"/>
          </a:xfrm>
          <a:prstGeom prst="rect">
            <a:avLst/>
          </a:prstGeom>
        </p:spPr>
      </p:pic>
    </p:spTree>
    <p:extLst>
      <p:ext uri="{BB962C8B-B14F-4D97-AF65-F5344CB8AC3E}">
        <p14:creationId xmlns:p14="http://schemas.microsoft.com/office/powerpoint/2010/main" val="1834639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185766"/>
            <a:ext cx="10452740" cy="742228"/>
          </a:xfrm>
        </p:spPr>
        <p:txBody>
          <a:bodyPr>
            <a:noAutofit/>
          </a:bodyPr>
          <a:lstStyle/>
          <a:p>
            <a:r>
              <a:rPr lang="en-US" sz="4200" dirty="0">
                <a:solidFill>
                  <a:srgbClr val="C00000"/>
                </a:solidFill>
              </a:rPr>
              <a:t>Another example of race </a:t>
            </a:r>
            <a:r>
              <a:rPr lang="en-US" sz="4200" dirty="0" err="1">
                <a:solidFill>
                  <a:srgbClr val="C00000"/>
                </a:solidFill>
              </a:rPr>
              <a:t>conditon</a:t>
            </a:r>
            <a:endParaRPr lang="en-US" sz="4200" dirty="0">
              <a:solidFill>
                <a:srgbClr val="C00000"/>
              </a:solidFill>
            </a:endParaRPr>
          </a:p>
        </p:txBody>
      </p:sp>
      <p:pic>
        <p:nvPicPr>
          <p:cNvPr id="6" name="Picture 5">
            <a:extLst>
              <a:ext uri="{FF2B5EF4-FFF2-40B4-BE49-F238E27FC236}">
                <a16:creationId xmlns:a16="http://schemas.microsoft.com/office/drawing/2014/main" id="{126C3402-406A-3A24-F993-955DE2AC4C30}"/>
              </a:ext>
            </a:extLst>
          </p:cNvPr>
          <p:cNvPicPr>
            <a:picLocks noChangeAspect="1"/>
          </p:cNvPicPr>
          <p:nvPr/>
        </p:nvPicPr>
        <p:blipFill>
          <a:blip r:embed="rId2"/>
          <a:stretch>
            <a:fillRect/>
          </a:stretch>
        </p:blipFill>
        <p:spPr>
          <a:xfrm>
            <a:off x="1085968" y="1143000"/>
            <a:ext cx="4189713" cy="2286000"/>
          </a:xfrm>
          <a:prstGeom prst="rect">
            <a:avLst/>
          </a:prstGeom>
        </p:spPr>
      </p:pic>
      <p:pic>
        <p:nvPicPr>
          <p:cNvPr id="9" name="Picture 8">
            <a:extLst>
              <a:ext uri="{FF2B5EF4-FFF2-40B4-BE49-F238E27FC236}">
                <a16:creationId xmlns:a16="http://schemas.microsoft.com/office/drawing/2014/main" id="{28A8B0B0-0747-157F-6B86-504D70F00C99}"/>
              </a:ext>
            </a:extLst>
          </p:cNvPr>
          <p:cNvPicPr>
            <a:picLocks noChangeAspect="1"/>
          </p:cNvPicPr>
          <p:nvPr/>
        </p:nvPicPr>
        <p:blipFill>
          <a:blip r:embed="rId3"/>
          <a:stretch>
            <a:fillRect/>
          </a:stretch>
        </p:blipFill>
        <p:spPr>
          <a:xfrm>
            <a:off x="6681062" y="1280160"/>
            <a:ext cx="4754880" cy="2011680"/>
          </a:xfrm>
          <a:prstGeom prst="rect">
            <a:avLst/>
          </a:prstGeom>
        </p:spPr>
      </p:pic>
      <p:pic>
        <p:nvPicPr>
          <p:cNvPr id="11" name="Picture 10">
            <a:extLst>
              <a:ext uri="{FF2B5EF4-FFF2-40B4-BE49-F238E27FC236}">
                <a16:creationId xmlns:a16="http://schemas.microsoft.com/office/drawing/2014/main" id="{3D803A0A-AAAF-4E3D-41F1-2D1E72E0DA51}"/>
              </a:ext>
            </a:extLst>
          </p:cNvPr>
          <p:cNvPicPr>
            <a:picLocks noChangeAspect="1"/>
          </p:cNvPicPr>
          <p:nvPr/>
        </p:nvPicPr>
        <p:blipFill>
          <a:blip r:embed="rId4"/>
          <a:stretch>
            <a:fillRect/>
          </a:stretch>
        </p:blipFill>
        <p:spPr>
          <a:xfrm>
            <a:off x="3341294" y="3781166"/>
            <a:ext cx="6207072" cy="2743200"/>
          </a:xfrm>
          <a:prstGeom prst="rect">
            <a:avLst/>
          </a:prstGeom>
        </p:spPr>
      </p:pic>
    </p:spTree>
    <p:extLst>
      <p:ext uri="{BB962C8B-B14F-4D97-AF65-F5344CB8AC3E}">
        <p14:creationId xmlns:p14="http://schemas.microsoft.com/office/powerpoint/2010/main" val="36475689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cf48d45-3ddb-4389-a9c1-c115526eb52e}" enabled="0" method="" siteId="{7cf48d45-3ddb-4389-a9c1-c115526eb52e}" removed="1"/>
</clbl:labelList>
</file>

<file path=docProps/app.xml><?xml version="1.0" encoding="utf-8"?>
<Properties xmlns="http://schemas.openxmlformats.org/officeDocument/2006/extended-properties" xmlns:vt="http://schemas.openxmlformats.org/officeDocument/2006/docPropsVTypes">
  <TotalTime>658</TotalTime>
  <Words>397</Words>
  <Application>Microsoft Office PowerPoint</Application>
  <PresentationFormat>Widescreen</PresentationFormat>
  <Paragraphs>46</Paragraphs>
  <Slides>10</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PowerPoint Presentation</vt:lpstr>
      <vt:lpstr>Reading Assignment</vt:lpstr>
      <vt:lpstr>Agenda</vt:lpstr>
      <vt:lpstr>The difference between processes and threads</vt:lpstr>
      <vt:lpstr>Why use threads?</vt:lpstr>
      <vt:lpstr>An example of concurrency</vt:lpstr>
      <vt:lpstr>Tracking table for running threads</vt:lpstr>
      <vt:lpstr>Race condition</vt:lpstr>
      <vt:lpstr>The solution to race condition</vt:lpstr>
      <vt:lpstr>Another example of race conditon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Jie Zhao</dc:creator>
  <cp:lastModifiedBy>Zhao, Jie</cp:lastModifiedBy>
  <cp:revision>7</cp:revision>
  <dcterms:created xsi:type="dcterms:W3CDTF">2023-08-19T20:44:10Z</dcterms:created>
  <dcterms:modified xsi:type="dcterms:W3CDTF">2026-03-30T16:58:43Z</dcterms:modified>
</cp:coreProperties>
</file>