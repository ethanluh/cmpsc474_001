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4"/>
  </p:notesMasterIdLst>
  <p:sldIdLst>
    <p:sldId id="256" r:id="rId2"/>
    <p:sldId id="257" r:id="rId3"/>
    <p:sldId id="310" r:id="rId4"/>
    <p:sldId id="305" r:id="rId5"/>
    <p:sldId id="306" r:id="rId6"/>
    <p:sldId id="304" r:id="rId7"/>
    <p:sldId id="307" r:id="rId8"/>
    <p:sldId id="281" r:id="rId9"/>
    <p:sldId id="293" r:id="rId10"/>
    <p:sldId id="287" r:id="rId11"/>
    <p:sldId id="308" r:id="rId12"/>
    <p:sldId id="309"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09" autoAdjust="0"/>
    <p:restoredTop sz="94660"/>
  </p:normalViewPr>
  <p:slideViewPr>
    <p:cSldViewPr snapToGrid="0">
      <p:cViewPr varScale="1">
        <p:scale>
          <a:sx n="84" d="100"/>
          <a:sy n="84" d="100"/>
        </p:scale>
        <p:origin x="214" y="3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hao, Jie" userId="7be6526a-30ba-445c-b3a9-aabf2c8f5828" providerId="ADAL" clId="{DEC740C7-2239-4DCB-A2EC-28D5B021DFB5}"/>
    <pc:docChg chg="modSld">
      <pc:chgData name="Zhao, Jie" userId="7be6526a-30ba-445c-b3a9-aabf2c8f5828" providerId="ADAL" clId="{DEC740C7-2239-4DCB-A2EC-28D5B021DFB5}" dt="2026-02-22T21:58:00.963" v="11" actId="20577"/>
      <pc:docMkLst>
        <pc:docMk/>
      </pc:docMkLst>
      <pc:sldChg chg="modSp mod">
        <pc:chgData name="Zhao, Jie" userId="7be6526a-30ba-445c-b3a9-aabf2c8f5828" providerId="ADAL" clId="{DEC740C7-2239-4DCB-A2EC-28D5B021DFB5}" dt="2026-02-22T21:58:00.963" v="11" actId="20577"/>
        <pc:sldMkLst>
          <pc:docMk/>
          <pc:sldMk cId="2199995263" sldId="256"/>
        </pc:sldMkLst>
        <pc:spChg chg="mod">
          <ac:chgData name="Zhao, Jie" userId="7be6526a-30ba-445c-b3a9-aabf2c8f5828" providerId="ADAL" clId="{DEC740C7-2239-4DCB-A2EC-28D5B021DFB5}" dt="2026-02-22T21:58:00.963" v="11" actId="20577"/>
          <ac:spMkLst>
            <pc:docMk/>
            <pc:sldMk cId="2199995263" sldId="256"/>
            <ac:spMk id="3" creationId="{2C5DF914-4B40-4A23-8AAC-9CFE7F215ACD}"/>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AE94F02-DFE8-47F5-999D-4D065381BD97}" type="datetimeFigureOut">
              <a:rPr lang="en-US" smtClean="0"/>
              <a:t>2/22/2026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B9532FC-0C26-41ED-91C4-2A1C58AE2C83}" type="slidenum">
              <a:rPr lang="en-US" smtClean="0"/>
              <a:t>‹#›</a:t>
            </a:fld>
            <a:endParaRPr lang="en-US"/>
          </a:p>
        </p:txBody>
      </p:sp>
    </p:spTree>
    <p:extLst>
      <p:ext uri="{BB962C8B-B14F-4D97-AF65-F5344CB8AC3E}">
        <p14:creationId xmlns:p14="http://schemas.microsoft.com/office/powerpoint/2010/main" val="165300716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F58CFA-34B8-4985-9EBD-3480D5E1D8DB}"/>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A433D6D-E622-4C3B-9F70-ED49553B91F0}"/>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45B9800-BBE3-43F3-954C-1BE89C95AF77}"/>
              </a:ext>
            </a:extLst>
          </p:cNvPr>
          <p:cNvSpPr>
            <a:spLocks noGrp="1"/>
          </p:cNvSpPr>
          <p:nvPr>
            <p:ph type="dt" sz="half" idx="10"/>
          </p:nvPr>
        </p:nvSpPr>
        <p:spPr/>
        <p:txBody>
          <a:bodyPr/>
          <a:lstStyle/>
          <a:p>
            <a:fld id="{5701B579-BE22-4365-9624-3AE1F352F1A7}" type="datetimeFigureOut">
              <a:rPr lang="en-US" smtClean="0"/>
              <a:t>2/22/2026</a:t>
            </a:fld>
            <a:endParaRPr lang="en-US"/>
          </a:p>
        </p:txBody>
      </p:sp>
      <p:sp>
        <p:nvSpPr>
          <p:cNvPr id="5" name="Footer Placeholder 4">
            <a:extLst>
              <a:ext uri="{FF2B5EF4-FFF2-40B4-BE49-F238E27FC236}">
                <a16:creationId xmlns:a16="http://schemas.microsoft.com/office/drawing/2014/main" id="{4549448D-A783-4933-8C87-202B908B199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57A539E-77FB-4784-8F48-40A6E10C521F}"/>
              </a:ext>
            </a:extLst>
          </p:cNvPr>
          <p:cNvSpPr>
            <a:spLocks noGrp="1"/>
          </p:cNvSpPr>
          <p:nvPr>
            <p:ph type="sldNum" sz="quarter" idx="12"/>
          </p:nvPr>
        </p:nvSpPr>
        <p:spPr/>
        <p:txBody>
          <a:bodyPr/>
          <a:lstStyle/>
          <a:p>
            <a:fld id="{07D7EF8F-CC04-49FF-99A7-DBE4E5B3B38F}" type="slidenum">
              <a:rPr lang="en-US" smtClean="0"/>
              <a:t>‹#›</a:t>
            </a:fld>
            <a:endParaRPr lang="en-US"/>
          </a:p>
        </p:txBody>
      </p:sp>
    </p:spTree>
    <p:extLst>
      <p:ext uri="{BB962C8B-B14F-4D97-AF65-F5344CB8AC3E}">
        <p14:creationId xmlns:p14="http://schemas.microsoft.com/office/powerpoint/2010/main" val="27656185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245774-D8FB-4609-AAE6-9DFB9337B95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D28BC86-19DE-433A-AC72-8E6E8A93B79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6DFEAE9-538F-4540-99B2-F94BBB0C3D78}"/>
              </a:ext>
            </a:extLst>
          </p:cNvPr>
          <p:cNvSpPr>
            <a:spLocks noGrp="1"/>
          </p:cNvSpPr>
          <p:nvPr>
            <p:ph type="dt" sz="half" idx="10"/>
          </p:nvPr>
        </p:nvSpPr>
        <p:spPr/>
        <p:txBody>
          <a:bodyPr/>
          <a:lstStyle/>
          <a:p>
            <a:fld id="{5701B579-BE22-4365-9624-3AE1F352F1A7}" type="datetimeFigureOut">
              <a:rPr lang="en-US" smtClean="0"/>
              <a:t>2/22/2026</a:t>
            </a:fld>
            <a:endParaRPr lang="en-US"/>
          </a:p>
        </p:txBody>
      </p:sp>
      <p:sp>
        <p:nvSpPr>
          <p:cNvPr id="5" name="Footer Placeholder 4">
            <a:extLst>
              <a:ext uri="{FF2B5EF4-FFF2-40B4-BE49-F238E27FC236}">
                <a16:creationId xmlns:a16="http://schemas.microsoft.com/office/drawing/2014/main" id="{0A00FA06-A552-48E9-984C-063D2352914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81CB287-478F-4020-BBF4-AE2612E417F8}"/>
              </a:ext>
            </a:extLst>
          </p:cNvPr>
          <p:cNvSpPr>
            <a:spLocks noGrp="1"/>
          </p:cNvSpPr>
          <p:nvPr>
            <p:ph type="sldNum" sz="quarter" idx="12"/>
          </p:nvPr>
        </p:nvSpPr>
        <p:spPr/>
        <p:txBody>
          <a:bodyPr/>
          <a:lstStyle/>
          <a:p>
            <a:fld id="{07D7EF8F-CC04-49FF-99A7-DBE4E5B3B38F}" type="slidenum">
              <a:rPr lang="en-US" smtClean="0"/>
              <a:t>‹#›</a:t>
            </a:fld>
            <a:endParaRPr lang="en-US"/>
          </a:p>
        </p:txBody>
      </p:sp>
    </p:spTree>
    <p:extLst>
      <p:ext uri="{BB962C8B-B14F-4D97-AF65-F5344CB8AC3E}">
        <p14:creationId xmlns:p14="http://schemas.microsoft.com/office/powerpoint/2010/main" val="18975822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C65F8E-D378-48F1-982D-606B3160FF4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2194D5D-2E6F-4291-B1C6-BBFC0323C95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C1AAFD2-28C6-455D-AE60-B9D724863CD9}"/>
              </a:ext>
            </a:extLst>
          </p:cNvPr>
          <p:cNvSpPr>
            <a:spLocks noGrp="1"/>
          </p:cNvSpPr>
          <p:nvPr>
            <p:ph type="dt" sz="half" idx="10"/>
          </p:nvPr>
        </p:nvSpPr>
        <p:spPr/>
        <p:txBody>
          <a:bodyPr/>
          <a:lstStyle/>
          <a:p>
            <a:fld id="{5701B579-BE22-4365-9624-3AE1F352F1A7}" type="datetimeFigureOut">
              <a:rPr lang="en-US" smtClean="0"/>
              <a:t>2/22/2026</a:t>
            </a:fld>
            <a:endParaRPr lang="en-US"/>
          </a:p>
        </p:txBody>
      </p:sp>
      <p:sp>
        <p:nvSpPr>
          <p:cNvPr id="5" name="Footer Placeholder 4">
            <a:extLst>
              <a:ext uri="{FF2B5EF4-FFF2-40B4-BE49-F238E27FC236}">
                <a16:creationId xmlns:a16="http://schemas.microsoft.com/office/drawing/2014/main" id="{7F662756-894F-46FE-B4D3-4C370744016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95C601B-7763-446C-9DC5-9ACF5EE9B233}"/>
              </a:ext>
            </a:extLst>
          </p:cNvPr>
          <p:cNvSpPr>
            <a:spLocks noGrp="1"/>
          </p:cNvSpPr>
          <p:nvPr>
            <p:ph type="sldNum" sz="quarter" idx="12"/>
          </p:nvPr>
        </p:nvSpPr>
        <p:spPr/>
        <p:txBody>
          <a:bodyPr/>
          <a:lstStyle/>
          <a:p>
            <a:fld id="{07D7EF8F-CC04-49FF-99A7-DBE4E5B3B38F}" type="slidenum">
              <a:rPr lang="en-US" smtClean="0"/>
              <a:t>‹#›</a:t>
            </a:fld>
            <a:endParaRPr lang="en-US"/>
          </a:p>
        </p:txBody>
      </p:sp>
    </p:spTree>
    <p:extLst>
      <p:ext uri="{BB962C8B-B14F-4D97-AF65-F5344CB8AC3E}">
        <p14:creationId xmlns:p14="http://schemas.microsoft.com/office/powerpoint/2010/main" val="275998330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6285D5-4A70-4523-8C56-7A2F63097DE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6B50669-8B6D-4573-A65D-5723BE7B812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7926AA6-27C3-4956-B4F9-B51F02240F9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FCADE07-F788-4954-AC59-F7BCCAD825DE}"/>
              </a:ext>
            </a:extLst>
          </p:cNvPr>
          <p:cNvSpPr>
            <a:spLocks noGrp="1"/>
          </p:cNvSpPr>
          <p:nvPr>
            <p:ph type="dt" sz="half" idx="10"/>
          </p:nvPr>
        </p:nvSpPr>
        <p:spPr/>
        <p:txBody>
          <a:bodyPr/>
          <a:lstStyle/>
          <a:p>
            <a:fld id="{5701B579-BE22-4365-9624-3AE1F352F1A7}" type="datetimeFigureOut">
              <a:rPr lang="en-US" smtClean="0"/>
              <a:t>2/22/2026</a:t>
            </a:fld>
            <a:endParaRPr lang="en-US"/>
          </a:p>
        </p:txBody>
      </p:sp>
      <p:sp>
        <p:nvSpPr>
          <p:cNvPr id="6" name="Footer Placeholder 5">
            <a:extLst>
              <a:ext uri="{FF2B5EF4-FFF2-40B4-BE49-F238E27FC236}">
                <a16:creationId xmlns:a16="http://schemas.microsoft.com/office/drawing/2014/main" id="{D4CEA43F-F602-40EE-B21F-DC7E68CD6E7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13D1C2A-9F62-4A54-96AE-3DAD48234391}"/>
              </a:ext>
            </a:extLst>
          </p:cNvPr>
          <p:cNvSpPr>
            <a:spLocks noGrp="1"/>
          </p:cNvSpPr>
          <p:nvPr>
            <p:ph type="sldNum" sz="quarter" idx="12"/>
          </p:nvPr>
        </p:nvSpPr>
        <p:spPr/>
        <p:txBody>
          <a:bodyPr/>
          <a:lstStyle/>
          <a:p>
            <a:fld id="{07D7EF8F-CC04-49FF-99A7-DBE4E5B3B38F}" type="slidenum">
              <a:rPr lang="en-US" smtClean="0"/>
              <a:t>‹#›</a:t>
            </a:fld>
            <a:endParaRPr lang="en-US"/>
          </a:p>
        </p:txBody>
      </p:sp>
    </p:spTree>
    <p:extLst>
      <p:ext uri="{BB962C8B-B14F-4D97-AF65-F5344CB8AC3E}">
        <p14:creationId xmlns:p14="http://schemas.microsoft.com/office/powerpoint/2010/main" val="15783751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0693E4-29D2-4052-9C0C-2B12FB9F04A3}"/>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2DA1864E-EDC6-4F4B-90E2-73414CCE860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2208338-D4D6-46C1-A40B-EBAFA05859F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A076AB0C-3D87-4B28-A144-FBE1D0F6FE46}"/>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00639F3-6EB4-4B92-AE38-D411C1AA3AB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21005A4-0514-429B-9362-4434E7932694}"/>
              </a:ext>
            </a:extLst>
          </p:cNvPr>
          <p:cNvSpPr>
            <a:spLocks noGrp="1"/>
          </p:cNvSpPr>
          <p:nvPr>
            <p:ph type="dt" sz="half" idx="10"/>
          </p:nvPr>
        </p:nvSpPr>
        <p:spPr/>
        <p:txBody>
          <a:bodyPr/>
          <a:lstStyle/>
          <a:p>
            <a:fld id="{5701B579-BE22-4365-9624-3AE1F352F1A7}" type="datetimeFigureOut">
              <a:rPr lang="en-US" smtClean="0"/>
              <a:t>2/22/2026</a:t>
            </a:fld>
            <a:endParaRPr lang="en-US"/>
          </a:p>
        </p:txBody>
      </p:sp>
      <p:sp>
        <p:nvSpPr>
          <p:cNvPr id="8" name="Footer Placeholder 7">
            <a:extLst>
              <a:ext uri="{FF2B5EF4-FFF2-40B4-BE49-F238E27FC236}">
                <a16:creationId xmlns:a16="http://schemas.microsoft.com/office/drawing/2014/main" id="{41B49C01-7B53-435D-82F7-A1316279CD4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52674F3-601B-4FAC-913E-6356AB82DE52}"/>
              </a:ext>
            </a:extLst>
          </p:cNvPr>
          <p:cNvSpPr>
            <a:spLocks noGrp="1"/>
          </p:cNvSpPr>
          <p:nvPr>
            <p:ph type="sldNum" sz="quarter" idx="12"/>
          </p:nvPr>
        </p:nvSpPr>
        <p:spPr/>
        <p:txBody>
          <a:bodyPr/>
          <a:lstStyle/>
          <a:p>
            <a:fld id="{07D7EF8F-CC04-49FF-99A7-DBE4E5B3B38F}" type="slidenum">
              <a:rPr lang="en-US" smtClean="0"/>
              <a:t>‹#›</a:t>
            </a:fld>
            <a:endParaRPr lang="en-US"/>
          </a:p>
        </p:txBody>
      </p:sp>
    </p:spTree>
    <p:extLst>
      <p:ext uri="{BB962C8B-B14F-4D97-AF65-F5344CB8AC3E}">
        <p14:creationId xmlns:p14="http://schemas.microsoft.com/office/powerpoint/2010/main" val="837460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58F530-2DDE-4090-B9BA-4E706FE890E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9B24B356-E78B-4416-98FE-2C17AE157F2B}"/>
              </a:ext>
            </a:extLst>
          </p:cNvPr>
          <p:cNvSpPr>
            <a:spLocks noGrp="1"/>
          </p:cNvSpPr>
          <p:nvPr>
            <p:ph type="dt" sz="half" idx="10"/>
          </p:nvPr>
        </p:nvSpPr>
        <p:spPr/>
        <p:txBody>
          <a:bodyPr/>
          <a:lstStyle/>
          <a:p>
            <a:fld id="{5701B579-BE22-4365-9624-3AE1F352F1A7}" type="datetimeFigureOut">
              <a:rPr lang="en-US" smtClean="0"/>
              <a:t>2/22/2026</a:t>
            </a:fld>
            <a:endParaRPr lang="en-US"/>
          </a:p>
        </p:txBody>
      </p:sp>
      <p:sp>
        <p:nvSpPr>
          <p:cNvPr id="4" name="Footer Placeholder 3">
            <a:extLst>
              <a:ext uri="{FF2B5EF4-FFF2-40B4-BE49-F238E27FC236}">
                <a16:creationId xmlns:a16="http://schemas.microsoft.com/office/drawing/2014/main" id="{C15593D8-810C-4035-B5ED-80F9BF0D3A78}"/>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BDF55571-D054-48D1-8803-ADE847A65361}"/>
              </a:ext>
            </a:extLst>
          </p:cNvPr>
          <p:cNvSpPr>
            <a:spLocks noGrp="1"/>
          </p:cNvSpPr>
          <p:nvPr>
            <p:ph type="sldNum" sz="quarter" idx="12"/>
          </p:nvPr>
        </p:nvSpPr>
        <p:spPr/>
        <p:txBody>
          <a:bodyPr/>
          <a:lstStyle/>
          <a:p>
            <a:fld id="{07D7EF8F-CC04-49FF-99A7-DBE4E5B3B38F}" type="slidenum">
              <a:rPr lang="en-US" smtClean="0"/>
              <a:t>‹#›</a:t>
            </a:fld>
            <a:endParaRPr lang="en-US"/>
          </a:p>
        </p:txBody>
      </p:sp>
    </p:spTree>
    <p:extLst>
      <p:ext uri="{BB962C8B-B14F-4D97-AF65-F5344CB8AC3E}">
        <p14:creationId xmlns:p14="http://schemas.microsoft.com/office/powerpoint/2010/main" val="34538476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37BE268-32AF-41F1-B9BF-76444776383A}"/>
              </a:ext>
            </a:extLst>
          </p:cNvPr>
          <p:cNvSpPr>
            <a:spLocks noGrp="1"/>
          </p:cNvSpPr>
          <p:nvPr>
            <p:ph type="dt" sz="half" idx="10"/>
          </p:nvPr>
        </p:nvSpPr>
        <p:spPr/>
        <p:txBody>
          <a:bodyPr/>
          <a:lstStyle/>
          <a:p>
            <a:fld id="{5701B579-BE22-4365-9624-3AE1F352F1A7}" type="datetimeFigureOut">
              <a:rPr lang="en-US" smtClean="0"/>
              <a:t>2/22/2026</a:t>
            </a:fld>
            <a:endParaRPr lang="en-US"/>
          </a:p>
        </p:txBody>
      </p:sp>
      <p:sp>
        <p:nvSpPr>
          <p:cNvPr id="3" name="Footer Placeholder 2">
            <a:extLst>
              <a:ext uri="{FF2B5EF4-FFF2-40B4-BE49-F238E27FC236}">
                <a16:creationId xmlns:a16="http://schemas.microsoft.com/office/drawing/2014/main" id="{CF581429-1463-423B-A364-30079742801E}"/>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51A6839-CB05-4AB6-92C3-597FE9B6E568}"/>
              </a:ext>
            </a:extLst>
          </p:cNvPr>
          <p:cNvSpPr>
            <a:spLocks noGrp="1"/>
          </p:cNvSpPr>
          <p:nvPr>
            <p:ph type="sldNum" sz="quarter" idx="12"/>
          </p:nvPr>
        </p:nvSpPr>
        <p:spPr/>
        <p:txBody>
          <a:bodyPr/>
          <a:lstStyle/>
          <a:p>
            <a:fld id="{07D7EF8F-CC04-49FF-99A7-DBE4E5B3B38F}" type="slidenum">
              <a:rPr lang="en-US" smtClean="0"/>
              <a:t>‹#›</a:t>
            </a:fld>
            <a:endParaRPr lang="en-US"/>
          </a:p>
        </p:txBody>
      </p:sp>
    </p:spTree>
    <p:extLst>
      <p:ext uri="{BB962C8B-B14F-4D97-AF65-F5344CB8AC3E}">
        <p14:creationId xmlns:p14="http://schemas.microsoft.com/office/powerpoint/2010/main" val="8762071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670436-DB2A-48F1-B027-49BF16EC768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E7E8BF08-10D0-4FEE-BD95-9FDFBA2FF0B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3AA3EEA-BC06-42DA-89F3-9E0D2161B0C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C35DFBF-2A0A-4BBC-A7A2-C761EAFD3E8C}"/>
              </a:ext>
            </a:extLst>
          </p:cNvPr>
          <p:cNvSpPr>
            <a:spLocks noGrp="1"/>
          </p:cNvSpPr>
          <p:nvPr>
            <p:ph type="dt" sz="half" idx="10"/>
          </p:nvPr>
        </p:nvSpPr>
        <p:spPr/>
        <p:txBody>
          <a:bodyPr/>
          <a:lstStyle/>
          <a:p>
            <a:fld id="{5701B579-BE22-4365-9624-3AE1F352F1A7}" type="datetimeFigureOut">
              <a:rPr lang="en-US" smtClean="0"/>
              <a:t>2/22/2026</a:t>
            </a:fld>
            <a:endParaRPr lang="en-US"/>
          </a:p>
        </p:txBody>
      </p:sp>
      <p:sp>
        <p:nvSpPr>
          <p:cNvPr id="6" name="Footer Placeholder 5">
            <a:extLst>
              <a:ext uri="{FF2B5EF4-FFF2-40B4-BE49-F238E27FC236}">
                <a16:creationId xmlns:a16="http://schemas.microsoft.com/office/drawing/2014/main" id="{34E032EE-DBDF-4DD6-B09C-98EFBACD07A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70F9592-0DF4-4888-A204-38DA63D36B25}"/>
              </a:ext>
            </a:extLst>
          </p:cNvPr>
          <p:cNvSpPr>
            <a:spLocks noGrp="1"/>
          </p:cNvSpPr>
          <p:nvPr>
            <p:ph type="sldNum" sz="quarter" idx="12"/>
          </p:nvPr>
        </p:nvSpPr>
        <p:spPr/>
        <p:txBody>
          <a:bodyPr/>
          <a:lstStyle/>
          <a:p>
            <a:fld id="{07D7EF8F-CC04-49FF-99A7-DBE4E5B3B38F}" type="slidenum">
              <a:rPr lang="en-US" smtClean="0"/>
              <a:t>‹#›</a:t>
            </a:fld>
            <a:endParaRPr lang="en-US"/>
          </a:p>
        </p:txBody>
      </p:sp>
    </p:spTree>
    <p:extLst>
      <p:ext uri="{BB962C8B-B14F-4D97-AF65-F5344CB8AC3E}">
        <p14:creationId xmlns:p14="http://schemas.microsoft.com/office/powerpoint/2010/main" val="12538369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8C96FA-1210-4D0E-9505-D51795E0722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5A255D6-880E-44DA-919F-3FCF13B52C8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13FC7E01-C6FB-46A7-A74A-898E5820E26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E4E34C9-0AC3-43C3-A654-3FC0164AC92B}"/>
              </a:ext>
            </a:extLst>
          </p:cNvPr>
          <p:cNvSpPr>
            <a:spLocks noGrp="1"/>
          </p:cNvSpPr>
          <p:nvPr>
            <p:ph type="dt" sz="half" idx="10"/>
          </p:nvPr>
        </p:nvSpPr>
        <p:spPr/>
        <p:txBody>
          <a:bodyPr/>
          <a:lstStyle/>
          <a:p>
            <a:fld id="{5701B579-BE22-4365-9624-3AE1F352F1A7}" type="datetimeFigureOut">
              <a:rPr lang="en-US" smtClean="0"/>
              <a:t>2/22/2026</a:t>
            </a:fld>
            <a:endParaRPr lang="en-US"/>
          </a:p>
        </p:txBody>
      </p:sp>
      <p:sp>
        <p:nvSpPr>
          <p:cNvPr id="6" name="Footer Placeholder 5">
            <a:extLst>
              <a:ext uri="{FF2B5EF4-FFF2-40B4-BE49-F238E27FC236}">
                <a16:creationId xmlns:a16="http://schemas.microsoft.com/office/drawing/2014/main" id="{23447480-0FFC-41C2-88A2-0A21C726359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60F4567-0817-4CF6-BD05-B1BDEA799552}"/>
              </a:ext>
            </a:extLst>
          </p:cNvPr>
          <p:cNvSpPr>
            <a:spLocks noGrp="1"/>
          </p:cNvSpPr>
          <p:nvPr>
            <p:ph type="sldNum" sz="quarter" idx="12"/>
          </p:nvPr>
        </p:nvSpPr>
        <p:spPr/>
        <p:txBody>
          <a:bodyPr/>
          <a:lstStyle/>
          <a:p>
            <a:fld id="{07D7EF8F-CC04-49FF-99A7-DBE4E5B3B38F}" type="slidenum">
              <a:rPr lang="en-US" smtClean="0"/>
              <a:t>‹#›</a:t>
            </a:fld>
            <a:endParaRPr lang="en-US"/>
          </a:p>
        </p:txBody>
      </p:sp>
    </p:spTree>
    <p:extLst>
      <p:ext uri="{BB962C8B-B14F-4D97-AF65-F5344CB8AC3E}">
        <p14:creationId xmlns:p14="http://schemas.microsoft.com/office/powerpoint/2010/main" val="278511777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6300B9-FC21-406B-B5FA-B60B7DC900B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E1496599-23BC-425D-8BD9-EE0D324D68A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E89C455-686D-48B4-8DAB-D94E33E0608A}"/>
              </a:ext>
            </a:extLst>
          </p:cNvPr>
          <p:cNvSpPr>
            <a:spLocks noGrp="1"/>
          </p:cNvSpPr>
          <p:nvPr>
            <p:ph type="dt" sz="half" idx="10"/>
          </p:nvPr>
        </p:nvSpPr>
        <p:spPr/>
        <p:txBody>
          <a:bodyPr/>
          <a:lstStyle/>
          <a:p>
            <a:fld id="{5701B579-BE22-4365-9624-3AE1F352F1A7}" type="datetimeFigureOut">
              <a:rPr lang="en-US" smtClean="0"/>
              <a:t>2/22/2026</a:t>
            </a:fld>
            <a:endParaRPr lang="en-US"/>
          </a:p>
        </p:txBody>
      </p:sp>
      <p:sp>
        <p:nvSpPr>
          <p:cNvPr id="5" name="Footer Placeholder 4">
            <a:extLst>
              <a:ext uri="{FF2B5EF4-FFF2-40B4-BE49-F238E27FC236}">
                <a16:creationId xmlns:a16="http://schemas.microsoft.com/office/drawing/2014/main" id="{63AD1942-3ED0-4931-A8CE-6D984F8390B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2AB5B99-3A43-477C-B42A-3C08D02D7574}"/>
              </a:ext>
            </a:extLst>
          </p:cNvPr>
          <p:cNvSpPr>
            <a:spLocks noGrp="1"/>
          </p:cNvSpPr>
          <p:nvPr>
            <p:ph type="sldNum" sz="quarter" idx="12"/>
          </p:nvPr>
        </p:nvSpPr>
        <p:spPr/>
        <p:txBody>
          <a:bodyPr/>
          <a:lstStyle/>
          <a:p>
            <a:fld id="{07D7EF8F-CC04-49FF-99A7-DBE4E5B3B38F}" type="slidenum">
              <a:rPr lang="en-US" smtClean="0"/>
              <a:t>‹#›</a:t>
            </a:fld>
            <a:endParaRPr lang="en-US"/>
          </a:p>
        </p:txBody>
      </p:sp>
    </p:spTree>
    <p:extLst>
      <p:ext uri="{BB962C8B-B14F-4D97-AF65-F5344CB8AC3E}">
        <p14:creationId xmlns:p14="http://schemas.microsoft.com/office/powerpoint/2010/main" val="19568637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923F515-C31F-4273-9268-3D1EF4F6FB3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3E4BF6F7-9F34-4BB4-8961-A8EDC9D82C8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F259CB1-7397-4C82-89C9-0693FB2910E9}"/>
              </a:ext>
            </a:extLst>
          </p:cNvPr>
          <p:cNvSpPr>
            <a:spLocks noGrp="1"/>
          </p:cNvSpPr>
          <p:nvPr>
            <p:ph type="dt" sz="half" idx="10"/>
          </p:nvPr>
        </p:nvSpPr>
        <p:spPr/>
        <p:txBody>
          <a:bodyPr/>
          <a:lstStyle/>
          <a:p>
            <a:fld id="{5701B579-BE22-4365-9624-3AE1F352F1A7}" type="datetimeFigureOut">
              <a:rPr lang="en-US" smtClean="0"/>
              <a:t>2/22/2026</a:t>
            </a:fld>
            <a:endParaRPr lang="en-US"/>
          </a:p>
        </p:txBody>
      </p:sp>
      <p:sp>
        <p:nvSpPr>
          <p:cNvPr id="5" name="Footer Placeholder 4">
            <a:extLst>
              <a:ext uri="{FF2B5EF4-FFF2-40B4-BE49-F238E27FC236}">
                <a16:creationId xmlns:a16="http://schemas.microsoft.com/office/drawing/2014/main" id="{5F201C97-2278-43A9-BE35-0AD6126551F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F15134C-7180-46A6-9627-AECEF8DCC93D}"/>
              </a:ext>
            </a:extLst>
          </p:cNvPr>
          <p:cNvSpPr>
            <a:spLocks noGrp="1"/>
          </p:cNvSpPr>
          <p:nvPr>
            <p:ph type="sldNum" sz="quarter" idx="12"/>
          </p:nvPr>
        </p:nvSpPr>
        <p:spPr/>
        <p:txBody>
          <a:bodyPr/>
          <a:lstStyle/>
          <a:p>
            <a:fld id="{07D7EF8F-CC04-49FF-99A7-DBE4E5B3B38F}" type="slidenum">
              <a:rPr lang="en-US" smtClean="0"/>
              <a:t>‹#›</a:t>
            </a:fld>
            <a:endParaRPr lang="en-US"/>
          </a:p>
        </p:txBody>
      </p:sp>
    </p:spTree>
    <p:extLst>
      <p:ext uri="{BB962C8B-B14F-4D97-AF65-F5344CB8AC3E}">
        <p14:creationId xmlns:p14="http://schemas.microsoft.com/office/powerpoint/2010/main" val="16373118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8F26403-82E5-42A1-9D17-51FB8924CA8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760F3246-0D43-4E66-B320-0671607BF3D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7F15B71-0150-43A3-94BD-2B7D0897C00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701B579-BE22-4365-9624-3AE1F352F1A7}" type="datetimeFigureOut">
              <a:rPr lang="en-US" smtClean="0"/>
              <a:t>2/22/2026</a:t>
            </a:fld>
            <a:endParaRPr lang="en-US"/>
          </a:p>
        </p:txBody>
      </p:sp>
      <p:sp>
        <p:nvSpPr>
          <p:cNvPr id="5" name="Footer Placeholder 4">
            <a:extLst>
              <a:ext uri="{FF2B5EF4-FFF2-40B4-BE49-F238E27FC236}">
                <a16:creationId xmlns:a16="http://schemas.microsoft.com/office/drawing/2014/main" id="{E979B45D-F9D5-470F-9240-ABDE82EA299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B7AC585F-DBFF-493F-8D4A-16FE923EEA4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7D7EF8F-CC04-49FF-99A7-DBE4E5B3B38F}" type="slidenum">
              <a:rPr lang="en-US" smtClean="0"/>
              <a:t>‹#›</a:t>
            </a:fld>
            <a:endParaRPr lang="en-US"/>
          </a:p>
        </p:txBody>
      </p:sp>
    </p:spTree>
    <p:extLst>
      <p:ext uri="{BB962C8B-B14F-4D97-AF65-F5344CB8AC3E}">
        <p14:creationId xmlns:p14="http://schemas.microsoft.com/office/powerpoint/2010/main" val="184808305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2C5DF914-4B40-4A23-8AAC-9CFE7F215ACD}"/>
              </a:ext>
            </a:extLst>
          </p:cNvPr>
          <p:cNvSpPr>
            <a:spLocks noGrp="1"/>
          </p:cNvSpPr>
          <p:nvPr>
            <p:ph type="subTitle" idx="1"/>
          </p:nvPr>
        </p:nvSpPr>
        <p:spPr>
          <a:xfrm>
            <a:off x="1726434" y="4659359"/>
            <a:ext cx="9144000" cy="1655762"/>
          </a:xfrm>
        </p:spPr>
        <p:txBody>
          <a:bodyPr>
            <a:normAutofit/>
          </a:bodyPr>
          <a:lstStyle/>
          <a:p>
            <a:r>
              <a:rPr lang="en-US" dirty="0"/>
              <a:t>Topic: </a:t>
            </a:r>
            <a:r>
              <a:rPr lang="fr-FR" dirty="0"/>
              <a:t>Virtual Memory</a:t>
            </a:r>
            <a:endParaRPr lang="en-US" dirty="0"/>
          </a:p>
          <a:p>
            <a:r>
              <a:rPr lang="en-US" dirty="0"/>
              <a:t>Lecture: Dr. Zhao Jie</a:t>
            </a:r>
          </a:p>
          <a:p>
            <a:r>
              <a:rPr lang="en-US" dirty="0"/>
              <a:t>Date</a:t>
            </a:r>
            <a:r>
              <a:rPr lang="en-US"/>
              <a:t>: 02/23/2026</a:t>
            </a:r>
            <a:endParaRPr lang="en-US" dirty="0"/>
          </a:p>
        </p:txBody>
      </p:sp>
      <p:pic>
        <p:nvPicPr>
          <p:cNvPr id="5" name="Picture 4">
            <a:extLst>
              <a:ext uri="{FF2B5EF4-FFF2-40B4-BE49-F238E27FC236}">
                <a16:creationId xmlns:a16="http://schemas.microsoft.com/office/drawing/2014/main" id="{22F60897-8669-4C6A-9213-A875ED3223C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14450" y="237202"/>
            <a:ext cx="9967968" cy="4572000"/>
          </a:xfrm>
          <a:prstGeom prst="rect">
            <a:avLst/>
          </a:prstGeom>
        </p:spPr>
      </p:pic>
    </p:spTree>
    <p:extLst>
      <p:ext uri="{BB962C8B-B14F-4D97-AF65-F5344CB8AC3E}">
        <p14:creationId xmlns:p14="http://schemas.microsoft.com/office/powerpoint/2010/main" val="21999952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848F5-1552-4316-ADB3-4EE4924B6477}"/>
              </a:ext>
            </a:extLst>
          </p:cNvPr>
          <p:cNvSpPr>
            <a:spLocks noGrp="1"/>
          </p:cNvSpPr>
          <p:nvPr>
            <p:ph type="ctrTitle"/>
          </p:nvPr>
        </p:nvSpPr>
        <p:spPr>
          <a:xfrm>
            <a:off x="1524000" y="1122363"/>
            <a:ext cx="9144000" cy="1079299"/>
          </a:xfrm>
        </p:spPr>
        <p:txBody>
          <a:bodyPr/>
          <a:lstStyle/>
          <a:p>
            <a:r>
              <a:rPr lang="en-US" b="0" i="0" dirty="0">
                <a:solidFill>
                  <a:srgbClr val="000000"/>
                </a:solidFill>
                <a:effectLst/>
                <a:latin typeface="Arial" panose="020B0604020202020204" pitchFamily="34" charset="0"/>
              </a:rPr>
              <a:t>Reading Assignment</a:t>
            </a:r>
            <a:endParaRPr lang="en-US" dirty="0"/>
          </a:p>
        </p:txBody>
      </p:sp>
      <p:sp>
        <p:nvSpPr>
          <p:cNvPr id="3" name="Subtitle 2">
            <a:extLst>
              <a:ext uri="{FF2B5EF4-FFF2-40B4-BE49-F238E27FC236}">
                <a16:creationId xmlns:a16="http://schemas.microsoft.com/office/drawing/2014/main" id="{2C5DF914-4B40-4A23-8AAC-9CFE7F215ACD}"/>
              </a:ext>
            </a:extLst>
          </p:cNvPr>
          <p:cNvSpPr>
            <a:spLocks noGrp="1"/>
          </p:cNvSpPr>
          <p:nvPr>
            <p:ph type="subTitle" idx="1"/>
          </p:nvPr>
        </p:nvSpPr>
        <p:spPr/>
        <p:txBody>
          <a:bodyPr>
            <a:normAutofit/>
          </a:bodyPr>
          <a:lstStyle/>
          <a:p>
            <a:r>
              <a:rPr lang="pl-PL" b="0" i="0" dirty="0">
                <a:solidFill>
                  <a:srgbClr val="000000"/>
                </a:solidFill>
                <a:effectLst/>
                <a:latin typeface="Arial" panose="020B0604020202020204" pitchFamily="34" charset="0"/>
              </a:rPr>
              <a:t>Ch</a:t>
            </a:r>
            <a:r>
              <a:rPr lang="en-US" dirty="0">
                <a:solidFill>
                  <a:srgbClr val="000000"/>
                </a:solidFill>
                <a:latin typeface="Arial" panose="020B0604020202020204" pitchFamily="34" charset="0"/>
              </a:rPr>
              <a:t>apter 13 and 14</a:t>
            </a:r>
            <a:endParaRPr lang="pl-PL" b="0" i="0" dirty="0">
              <a:solidFill>
                <a:srgbClr val="000000"/>
              </a:solidFill>
              <a:effectLst/>
              <a:latin typeface="Arial" panose="020B0604020202020204" pitchFamily="34" charset="0"/>
            </a:endParaRPr>
          </a:p>
          <a:p>
            <a:endParaRPr lang="en-US" dirty="0"/>
          </a:p>
        </p:txBody>
      </p:sp>
      <p:sp>
        <p:nvSpPr>
          <p:cNvPr id="4" name="Slide Number Placeholder 3">
            <a:extLst>
              <a:ext uri="{FF2B5EF4-FFF2-40B4-BE49-F238E27FC236}">
                <a16:creationId xmlns:a16="http://schemas.microsoft.com/office/drawing/2014/main" id="{8DF00F48-9DB0-08EA-42CE-D4E5E667FF9F}"/>
              </a:ext>
            </a:extLst>
          </p:cNvPr>
          <p:cNvSpPr>
            <a:spLocks noGrp="1"/>
          </p:cNvSpPr>
          <p:nvPr>
            <p:ph type="sldNum" sz="quarter" idx="12"/>
          </p:nvPr>
        </p:nvSpPr>
        <p:spPr/>
        <p:txBody>
          <a:bodyPr/>
          <a:lstStyle/>
          <a:p>
            <a:fld id="{07D7EF8F-CC04-49FF-99A7-DBE4E5B3B38F}" type="slidenum">
              <a:rPr lang="en-US" smtClean="0"/>
              <a:t>2</a:t>
            </a:fld>
            <a:endParaRPr lang="en-US"/>
          </a:p>
        </p:txBody>
      </p:sp>
    </p:spTree>
    <p:extLst>
      <p:ext uri="{BB962C8B-B14F-4D97-AF65-F5344CB8AC3E}">
        <p14:creationId xmlns:p14="http://schemas.microsoft.com/office/powerpoint/2010/main" val="40387979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FA44F3-48AD-8722-533F-430BF06CD8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0368DA5-47FE-962A-57B8-DCDC3E54D59C}"/>
              </a:ext>
            </a:extLst>
          </p:cNvPr>
          <p:cNvSpPr>
            <a:spLocks noGrp="1"/>
          </p:cNvSpPr>
          <p:nvPr>
            <p:ph type="ctrTitle"/>
          </p:nvPr>
        </p:nvSpPr>
        <p:spPr>
          <a:xfrm>
            <a:off x="1524000" y="958589"/>
            <a:ext cx="9144000" cy="1079299"/>
          </a:xfrm>
        </p:spPr>
        <p:txBody>
          <a:bodyPr/>
          <a:lstStyle/>
          <a:p>
            <a:r>
              <a:rPr lang="en-US" b="0" i="0" dirty="0">
                <a:solidFill>
                  <a:srgbClr val="000000"/>
                </a:solidFill>
                <a:effectLst/>
                <a:latin typeface="Arial" panose="020B0604020202020204" pitchFamily="34" charset="0"/>
              </a:rPr>
              <a:t>Agenda</a:t>
            </a:r>
            <a:endParaRPr lang="en-US" dirty="0"/>
          </a:p>
        </p:txBody>
      </p:sp>
      <p:sp>
        <p:nvSpPr>
          <p:cNvPr id="3" name="Subtitle 2">
            <a:extLst>
              <a:ext uri="{FF2B5EF4-FFF2-40B4-BE49-F238E27FC236}">
                <a16:creationId xmlns:a16="http://schemas.microsoft.com/office/drawing/2014/main" id="{A2FC48FC-0778-872A-25C0-F2D5D611E400}"/>
              </a:ext>
            </a:extLst>
          </p:cNvPr>
          <p:cNvSpPr>
            <a:spLocks noGrp="1"/>
          </p:cNvSpPr>
          <p:nvPr>
            <p:ph type="subTitle" idx="1"/>
          </p:nvPr>
        </p:nvSpPr>
        <p:spPr>
          <a:xfrm>
            <a:off x="1524000" y="2546610"/>
            <a:ext cx="9144000" cy="2553103"/>
          </a:xfrm>
        </p:spPr>
        <p:txBody>
          <a:bodyPr>
            <a:normAutofit/>
          </a:bodyPr>
          <a:lstStyle/>
          <a:p>
            <a:pPr marL="1257300" lvl="2" indent="-342900" algn="l">
              <a:lnSpc>
                <a:spcPct val="150000"/>
              </a:lnSpc>
              <a:buFont typeface="Arial" panose="020B0604020202020204" pitchFamily="34" charset="0"/>
              <a:buChar char="•"/>
            </a:pPr>
            <a:r>
              <a:rPr lang="en-US" sz="2400" dirty="0">
                <a:solidFill>
                  <a:srgbClr val="000000"/>
                </a:solidFill>
                <a:latin typeface="Arial" panose="020B0604020202020204" pitchFamily="34" charset="0"/>
              </a:rPr>
              <a:t>The Evolution of Memory Design</a:t>
            </a:r>
          </a:p>
          <a:p>
            <a:pPr marL="1257300" lvl="2" indent="-342900" algn="l">
              <a:lnSpc>
                <a:spcPct val="150000"/>
              </a:lnSpc>
              <a:buFont typeface="Arial" panose="020B0604020202020204" pitchFamily="34" charset="0"/>
              <a:buChar char="•"/>
            </a:pPr>
            <a:r>
              <a:rPr lang="en-US" sz="2400" dirty="0">
                <a:solidFill>
                  <a:srgbClr val="000000"/>
                </a:solidFill>
                <a:latin typeface="Arial" panose="020B0604020202020204" pitchFamily="34" charset="0"/>
              </a:rPr>
              <a:t>Memory Abstraction</a:t>
            </a:r>
          </a:p>
          <a:p>
            <a:pPr marL="1257300" lvl="2" indent="-342900" algn="l">
              <a:lnSpc>
                <a:spcPct val="150000"/>
              </a:lnSpc>
              <a:buFont typeface="Arial" panose="020B0604020202020204" pitchFamily="34" charset="0"/>
              <a:buChar char="•"/>
            </a:pPr>
            <a:r>
              <a:rPr lang="en-US" sz="2400" dirty="0"/>
              <a:t>Virtual Memory Components</a:t>
            </a:r>
          </a:p>
          <a:p>
            <a:pPr marL="1257300" lvl="2" indent="-342900" algn="l">
              <a:lnSpc>
                <a:spcPct val="150000"/>
              </a:lnSpc>
              <a:buFont typeface="Arial" panose="020B0604020202020204" pitchFamily="34" charset="0"/>
              <a:buChar char="•"/>
            </a:pPr>
            <a:r>
              <a:rPr lang="en-US" sz="2400" dirty="0"/>
              <a:t>Virtual Memory Address</a:t>
            </a:r>
          </a:p>
        </p:txBody>
      </p:sp>
      <p:sp>
        <p:nvSpPr>
          <p:cNvPr id="4" name="Slide Number Placeholder 3">
            <a:extLst>
              <a:ext uri="{FF2B5EF4-FFF2-40B4-BE49-F238E27FC236}">
                <a16:creationId xmlns:a16="http://schemas.microsoft.com/office/drawing/2014/main" id="{6BC64309-4472-CB2C-D7D8-8AA3C237EB67}"/>
              </a:ext>
            </a:extLst>
          </p:cNvPr>
          <p:cNvSpPr>
            <a:spLocks noGrp="1"/>
          </p:cNvSpPr>
          <p:nvPr>
            <p:ph type="sldNum" sz="quarter" idx="12"/>
          </p:nvPr>
        </p:nvSpPr>
        <p:spPr/>
        <p:txBody>
          <a:bodyPr/>
          <a:lstStyle/>
          <a:p>
            <a:fld id="{07D7EF8F-CC04-49FF-99A7-DBE4E5B3B38F}" type="slidenum">
              <a:rPr lang="en-US" smtClean="0"/>
              <a:t>3</a:t>
            </a:fld>
            <a:endParaRPr lang="en-US"/>
          </a:p>
        </p:txBody>
      </p:sp>
    </p:spTree>
    <p:extLst>
      <p:ext uri="{BB962C8B-B14F-4D97-AF65-F5344CB8AC3E}">
        <p14:creationId xmlns:p14="http://schemas.microsoft.com/office/powerpoint/2010/main" val="309893131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3ADB5-EB48-FF98-1EE3-D9C9E1AA34E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6610D2E-4B96-0236-279C-920FF23C26FB}"/>
              </a:ext>
            </a:extLst>
          </p:cNvPr>
          <p:cNvSpPr>
            <a:spLocks noGrp="1"/>
          </p:cNvSpPr>
          <p:nvPr>
            <p:ph type="ctrTitle"/>
          </p:nvPr>
        </p:nvSpPr>
        <p:spPr>
          <a:xfrm>
            <a:off x="1218460" y="323372"/>
            <a:ext cx="10452740" cy="742228"/>
          </a:xfrm>
        </p:spPr>
        <p:txBody>
          <a:bodyPr>
            <a:noAutofit/>
          </a:bodyPr>
          <a:lstStyle/>
          <a:p>
            <a:r>
              <a:rPr lang="en-US" sz="4200" dirty="0">
                <a:solidFill>
                  <a:srgbClr val="C00000"/>
                </a:solidFill>
              </a:rPr>
              <a:t>OS: The early days</a:t>
            </a:r>
          </a:p>
        </p:txBody>
      </p:sp>
      <p:sp>
        <p:nvSpPr>
          <p:cNvPr id="3" name="Subtitle 2">
            <a:extLst>
              <a:ext uri="{FF2B5EF4-FFF2-40B4-BE49-F238E27FC236}">
                <a16:creationId xmlns:a16="http://schemas.microsoft.com/office/drawing/2014/main" id="{69DE6EA4-E7EA-025E-6BCC-677E986FFD47}"/>
              </a:ext>
            </a:extLst>
          </p:cNvPr>
          <p:cNvSpPr>
            <a:spLocks noGrp="1"/>
          </p:cNvSpPr>
          <p:nvPr>
            <p:ph type="subTitle" idx="1"/>
          </p:nvPr>
        </p:nvSpPr>
        <p:spPr>
          <a:xfrm>
            <a:off x="1049562" y="1703440"/>
            <a:ext cx="5787966" cy="3440006"/>
          </a:xfrm>
        </p:spPr>
        <p:txBody>
          <a:bodyPr>
            <a:normAutofit lnSpcReduction="10000"/>
          </a:bodyPr>
          <a:lstStyle/>
          <a:p>
            <a:pPr marL="342900" indent="-342900" algn="l">
              <a:lnSpc>
                <a:spcPct val="150000"/>
              </a:lnSpc>
              <a:buFont typeface="Arial" panose="020B0604020202020204" pitchFamily="34" charset="0"/>
              <a:buChar char="•"/>
            </a:pPr>
            <a:r>
              <a:rPr lang="en-US" sz="2000" dirty="0"/>
              <a:t>The OS was a set of routines (a library, really) that sat in memory (starting at physical address 0 in this example)</a:t>
            </a:r>
          </a:p>
          <a:p>
            <a:pPr marL="342900" indent="-342900" algn="l">
              <a:lnSpc>
                <a:spcPct val="150000"/>
              </a:lnSpc>
              <a:buFont typeface="Arial" panose="020B0604020202020204" pitchFamily="34" charset="0"/>
              <a:buChar char="•"/>
            </a:pPr>
            <a:r>
              <a:rPr lang="en-US" sz="2000" dirty="0"/>
              <a:t>There would be one running program (a process) that currently sat in physical memory (starting at physical address 64k in this example).</a:t>
            </a:r>
          </a:p>
          <a:p>
            <a:pPr marL="342900" indent="-342900" algn="l">
              <a:lnSpc>
                <a:spcPct val="150000"/>
              </a:lnSpc>
              <a:buFont typeface="Arial" panose="020B0604020202020204" pitchFamily="34" charset="0"/>
              <a:buChar char="•"/>
            </a:pPr>
            <a:r>
              <a:rPr lang="en-US" sz="2000" dirty="0"/>
              <a:t>The rest of the memory is left for the new usage. </a:t>
            </a:r>
          </a:p>
        </p:txBody>
      </p:sp>
      <p:pic>
        <p:nvPicPr>
          <p:cNvPr id="9" name="Picture 8">
            <a:extLst>
              <a:ext uri="{FF2B5EF4-FFF2-40B4-BE49-F238E27FC236}">
                <a16:creationId xmlns:a16="http://schemas.microsoft.com/office/drawing/2014/main" id="{D1F4CAEB-B0AB-1CEE-678C-9F547A538165}"/>
              </a:ext>
            </a:extLst>
          </p:cNvPr>
          <p:cNvPicPr>
            <a:picLocks noChangeAspect="1"/>
          </p:cNvPicPr>
          <p:nvPr/>
        </p:nvPicPr>
        <p:blipFill>
          <a:blip r:embed="rId2"/>
          <a:stretch>
            <a:fillRect/>
          </a:stretch>
        </p:blipFill>
        <p:spPr>
          <a:xfrm>
            <a:off x="8251587" y="1485846"/>
            <a:ext cx="2546432" cy="3657600"/>
          </a:xfrm>
          <a:prstGeom prst="rect">
            <a:avLst/>
          </a:prstGeom>
        </p:spPr>
      </p:pic>
      <p:pic>
        <p:nvPicPr>
          <p:cNvPr id="12" name="Picture 11">
            <a:extLst>
              <a:ext uri="{FF2B5EF4-FFF2-40B4-BE49-F238E27FC236}">
                <a16:creationId xmlns:a16="http://schemas.microsoft.com/office/drawing/2014/main" id="{64AC836E-EA0B-2B0F-347F-AA06DAC6E173}"/>
              </a:ext>
            </a:extLst>
          </p:cNvPr>
          <p:cNvPicPr>
            <a:picLocks noChangeAspect="1"/>
          </p:cNvPicPr>
          <p:nvPr/>
        </p:nvPicPr>
        <p:blipFill>
          <a:blip r:embed="rId3"/>
          <a:stretch>
            <a:fillRect/>
          </a:stretch>
        </p:blipFill>
        <p:spPr>
          <a:xfrm>
            <a:off x="7480104" y="5372154"/>
            <a:ext cx="4089397" cy="320040"/>
          </a:xfrm>
          <a:prstGeom prst="rect">
            <a:avLst/>
          </a:prstGeom>
        </p:spPr>
      </p:pic>
    </p:spTree>
    <p:extLst>
      <p:ext uri="{BB962C8B-B14F-4D97-AF65-F5344CB8AC3E}">
        <p14:creationId xmlns:p14="http://schemas.microsoft.com/office/powerpoint/2010/main" val="353759152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9B43C4-3C14-D193-6B2C-7FF9A3181F2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1504D0-0B0D-69AD-2B7D-AB57AA70B584}"/>
              </a:ext>
            </a:extLst>
          </p:cNvPr>
          <p:cNvSpPr>
            <a:spLocks noGrp="1"/>
          </p:cNvSpPr>
          <p:nvPr>
            <p:ph type="ctrTitle"/>
          </p:nvPr>
        </p:nvSpPr>
        <p:spPr>
          <a:xfrm>
            <a:off x="1218460" y="323372"/>
            <a:ext cx="10452740" cy="742228"/>
          </a:xfrm>
        </p:spPr>
        <p:txBody>
          <a:bodyPr>
            <a:noAutofit/>
          </a:bodyPr>
          <a:lstStyle/>
          <a:p>
            <a:r>
              <a:rPr lang="en-US" sz="4200" dirty="0">
                <a:solidFill>
                  <a:srgbClr val="C00000"/>
                </a:solidFill>
              </a:rPr>
              <a:t>Multiprogram and time-sharing</a:t>
            </a:r>
          </a:p>
        </p:txBody>
      </p:sp>
      <p:sp>
        <p:nvSpPr>
          <p:cNvPr id="3" name="Subtitle 2">
            <a:extLst>
              <a:ext uri="{FF2B5EF4-FFF2-40B4-BE49-F238E27FC236}">
                <a16:creationId xmlns:a16="http://schemas.microsoft.com/office/drawing/2014/main" id="{CB2EFFCD-4E11-99AA-CD10-D28D5CBBA813}"/>
              </a:ext>
            </a:extLst>
          </p:cNvPr>
          <p:cNvSpPr>
            <a:spLocks noGrp="1"/>
          </p:cNvSpPr>
          <p:nvPr>
            <p:ph type="subTitle" idx="1"/>
          </p:nvPr>
        </p:nvSpPr>
        <p:spPr>
          <a:xfrm>
            <a:off x="1323833" y="1284907"/>
            <a:ext cx="9940119" cy="4820189"/>
          </a:xfrm>
        </p:spPr>
        <p:txBody>
          <a:bodyPr>
            <a:normAutofit lnSpcReduction="10000"/>
          </a:bodyPr>
          <a:lstStyle/>
          <a:p>
            <a:pPr marL="342900" indent="-342900" algn="l">
              <a:buFont typeface="Arial" panose="020B0604020202020204" pitchFamily="34" charset="0"/>
              <a:buChar char="•"/>
            </a:pPr>
            <a:r>
              <a:rPr lang="en-US" sz="2000" dirty="0"/>
              <a:t>Over time, as machines became more expensive, people began to think about </a:t>
            </a:r>
            <a:r>
              <a:rPr lang="en-US" sz="2000" b="1" dirty="0"/>
              <a:t>multiprogramming</a:t>
            </a:r>
            <a:r>
              <a:rPr lang="en-US" sz="2000" dirty="0"/>
              <a:t>, in which multiple processes were ready to run simultaneously, and the OS would switch between them. </a:t>
            </a:r>
          </a:p>
          <a:p>
            <a:pPr algn="l"/>
            <a:endParaRPr lang="en-US" sz="2000" dirty="0"/>
          </a:p>
          <a:p>
            <a:pPr marL="342900" indent="-342900" algn="l">
              <a:buFont typeface="Arial" panose="020B0604020202020204" pitchFamily="34" charset="0"/>
              <a:buChar char="•"/>
            </a:pPr>
            <a:r>
              <a:rPr lang="en-US" sz="2000" b="1" dirty="0"/>
              <a:t>Time-sharing</a:t>
            </a:r>
            <a:r>
              <a:rPr lang="en-US" sz="2000" dirty="0"/>
              <a:t> originated from the limitations of batch computing. </a:t>
            </a:r>
          </a:p>
          <a:p>
            <a:pPr algn="l"/>
            <a:endParaRPr lang="en-US" sz="2000" dirty="0"/>
          </a:p>
          <a:p>
            <a:pPr marL="342900" indent="-342900" algn="l">
              <a:buFont typeface="Arial" panose="020B0604020202020204" pitchFamily="34" charset="0"/>
              <a:buChar char="•"/>
            </a:pPr>
            <a:r>
              <a:rPr lang="en-US" sz="2000" dirty="0"/>
              <a:t>One way to implement time sharing would be to run one process for a short while, giving it full access to all memory (as in Figure 13.1), then stop it, save all of its state to some kind of disk (including all of physical memory), load some other process’s state, run it for a while, and thus implement some crude sharing of the machine.</a:t>
            </a:r>
          </a:p>
          <a:p>
            <a:pPr algn="l"/>
            <a:endParaRPr lang="en-US" sz="2000" dirty="0"/>
          </a:p>
          <a:p>
            <a:pPr marL="342900" indent="-342900" algn="l">
              <a:buFont typeface="Arial" panose="020B0604020202020204" pitchFamily="34" charset="0"/>
              <a:buChar char="•"/>
            </a:pPr>
            <a:r>
              <a:rPr lang="en-US" sz="2000" dirty="0"/>
              <a:t>Unfortunately, this approach has a significant problem: it is extremely slow, particularly as memory usage increases. While saving and restoring register-level state (e.g., the PC, general-purpose registers) is relatively fast, saving the entire contents of memory to disk is extremely non-performant. Thus, </a:t>
            </a:r>
            <a:r>
              <a:rPr lang="en-US" sz="2000" u="sng" dirty="0"/>
              <a:t>what we’d rather do is leave processes in memory while switching between them</a:t>
            </a:r>
            <a:r>
              <a:rPr lang="en-US" sz="2000" dirty="0"/>
              <a:t>, allowing the OS to implement time-sharing efficiently</a:t>
            </a:r>
          </a:p>
        </p:txBody>
      </p:sp>
    </p:spTree>
    <p:extLst>
      <p:ext uri="{BB962C8B-B14F-4D97-AF65-F5344CB8AC3E}">
        <p14:creationId xmlns:p14="http://schemas.microsoft.com/office/powerpoint/2010/main" val="21614679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848F5-1552-4316-ADB3-4EE4924B6477}"/>
              </a:ext>
            </a:extLst>
          </p:cNvPr>
          <p:cNvSpPr>
            <a:spLocks noGrp="1"/>
          </p:cNvSpPr>
          <p:nvPr>
            <p:ph type="ctrTitle"/>
          </p:nvPr>
        </p:nvSpPr>
        <p:spPr>
          <a:xfrm>
            <a:off x="1218460" y="323372"/>
            <a:ext cx="10452740" cy="742228"/>
          </a:xfrm>
        </p:spPr>
        <p:txBody>
          <a:bodyPr>
            <a:noAutofit/>
          </a:bodyPr>
          <a:lstStyle/>
          <a:p>
            <a:r>
              <a:rPr lang="en-US" sz="4200" dirty="0">
                <a:solidFill>
                  <a:srgbClr val="C00000"/>
                </a:solidFill>
              </a:rPr>
              <a:t>Residence of all processes in the memory</a:t>
            </a:r>
          </a:p>
        </p:txBody>
      </p:sp>
      <p:sp>
        <p:nvSpPr>
          <p:cNvPr id="3" name="Subtitle 2">
            <a:extLst>
              <a:ext uri="{FF2B5EF4-FFF2-40B4-BE49-F238E27FC236}">
                <a16:creationId xmlns:a16="http://schemas.microsoft.com/office/drawing/2014/main" id="{2C5DF914-4B40-4A23-8AAC-9CFE7F215ACD}"/>
              </a:ext>
            </a:extLst>
          </p:cNvPr>
          <p:cNvSpPr>
            <a:spLocks noGrp="1"/>
          </p:cNvSpPr>
          <p:nvPr>
            <p:ph type="subTitle" idx="1"/>
          </p:nvPr>
        </p:nvSpPr>
        <p:spPr>
          <a:xfrm>
            <a:off x="699555" y="1494113"/>
            <a:ext cx="7575190" cy="4413547"/>
          </a:xfrm>
        </p:spPr>
        <p:txBody>
          <a:bodyPr>
            <a:normAutofit/>
          </a:bodyPr>
          <a:lstStyle/>
          <a:p>
            <a:pPr marL="800100" lvl="1" indent="-342900" algn="l">
              <a:lnSpc>
                <a:spcPct val="150000"/>
              </a:lnSpc>
              <a:buFont typeface="Arial" panose="020B0604020202020204" pitchFamily="34" charset="0"/>
              <a:buChar char="•"/>
            </a:pPr>
            <a:r>
              <a:rPr lang="en-US" dirty="0"/>
              <a:t>Residence of all processes in the memory is necessary. </a:t>
            </a:r>
          </a:p>
          <a:p>
            <a:pPr lvl="2" algn="l">
              <a:lnSpc>
                <a:spcPct val="150000"/>
              </a:lnSpc>
            </a:pPr>
            <a:r>
              <a:rPr lang="en-US" dirty="0"/>
              <a:t>- Swapping the processes between the memory and the hard disk is too slow. </a:t>
            </a:r>
          </a:p>
          <a:p>
            <a:pPr marL="800100" lvl="1" indent="-342900" algn="l">
              <a:lnSpc>
                <a:spcPct val="150000"/>
              </a:lnSpc>
              <a:buFont typeface="Arial" panose="020B0604020202020204" pitchFamily="34" charset="0"/>
              <a:buChar char="•"/>
            </a:pPr>
            <a:r>
              <a:rPr lang="en-US" dirty="0"/>
              <a:t>However, the residence of all processes in the memory brings a challenge. </a:t>
            </a:r>
          </a:p>
          <a:p>
            <a:pPr lvl="2" algn="l">
              <a:lnSpc>
                <a:spcPct val="150000"/>
              </a:lnSpc>
            </a:pPr>
            <a:r>
              <a:rPr lang="en-US" dirty="0"/>
              <a:t>- Since the occurrence of the processes is random, the allocation of processes to memory space is not sequential. Thus, the processes are not consecutive. This makes the memory not easy to use. Nobody wants to remember the arbitrary memory address.</a:t>
            </a:r>
          </a:p>
        </p:txBody>
      </p:sp>
      <p:pic>
        <p:nvPicPr>
          <p:cNvPr id="8" name="Picture 7">
            <a:extLst>
              <a:ext uri="{FF2B5EF4-FFF2-40B4-BE49-F238E27FC236}">
                <a16:creationId xmlns:a16="http://schemas.microsoft.com/office/drawing/2014/main" id="{2F273FDF-3E3E-AB7E-9483-B5498D541A25}"/>
              </a:ext>
            </a:extLst>
          </p:cNvPr>
          <p:cNvPicPr>
            <a:picLocks noChangeAspect="1"/>
          </p:cNvPicPr>
          <p:nvPr/>
        </p:nvPicPr>
        <p:blipFill>
          <a:blip r:embed="rId2"/>
          <a:stretch>
            <a:fillRect/>
          </a:stretch>
        </p:blipFill>
        <p:spPr>
          <a:xfrm>
            <a:off x="8804620" y="1545072"/>
            <a:ext cx="2494946" cy="4114800"/>
          </a:xfrm>
          <a:prstGeom prst="rect">
            <a:avLst/>
          </a:prstGeom>
        </p:spPr>
      </p:pic>
      <p:pic>
        <p:nvPicPr>
          <p:cNvPr id="11" name="Picture 10">
            <a:extLst>
              <a:ext uri="{FF2B5EF4-FFF2-40B4-BE49-F238E27FC236}">
                <a16:creationId xmlns:a16="http://schemas.microsoft.com/office/drawing/2014/main" id="{FE928FD5-E325-0D2F-7E27-A3074C9C19DA}"/>
              </a:ext>
            </a:extLst>
          </p:cNvPr>
          <p:cNvPicPr>
            <a:picLocks noChangeAspect="1"/>
          </p:cNvPicPr>
          <p:nvPr/>
        </p:nvPicPr>
        <p:blipFill>
          <a:blip r:embed="rId3"/>
          <a:stretch>
            <a:fillRect/>
          </a:stretch>
        </p:blipFill>
        <p:spPr>
          <a:xfrm>
            <a:off x="8274745" y="5907660"/>
            <a:ext cx="3631000" cy="365760"/>
          </a:xfrm>
          <a:prstGeom prst="rect">
            <a:avLst/>
          </a:prstGeom>
        </p:spPr>
      </p:pic>
    </p:spTree>
    <p:extLst>
      <p:ext uri="{BB962C8B-B14F-4D97-AF65-F5344CB8AC3E}">
        <p14:creationId xmlns:p14="http://schemas.microsoft.com/office/powerpoint/2010/main" val="58480720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9D3533-2D9A-6C7C-7087-7C7FAE38039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3E2714-06A8-DB61-3272-AC70E840F78C}"/>
              </a:ext>
            </a:extLst>
          </p:cNvPr>
          <p:cNvSpPr>
            <a:spLocks noGrp="1"/>
          </p:cNvSpPr>
          <p:nvPr>
            <p:ph type="ctrTitle"/>
          </p:nvPr>
        </p:nvSpPr>
        <p:spPr>
          <a:xfrm>
            <a:off x="1218460" y="323372"/>
            <a:ext cx="9755080" cy="737510"/>
          </a:xfrm>
        </p:spPr>
        <p:txBody>
          <a:bodyPr>
            <a:noAutofit/>
          </a:bodyPr>
          <a:lstStyle/>
          <a:p>
            <a:r>
              <a:rPr lang="en-US" sz="4200" dirty="0">
                <a:solidFill>
                  <a:srgbClr val="C00000"/>
                </a:solidFill>
              </a:rPr>
              <a:t>Abstraction: (Virtual) Address Space - 1</a:t>
            </a:r>
          </a:p>
        </p:txBody>
      </p:sp>
      <p:sp>
        <p:nvSpPr>
          <p:cNvPr id="3" name="Subtitle 2">
            <a:extLst>
              <a:ext uri="{FF2B5EF4-FFF2-40B4-BE49-F238E27FC236}">
                <a16:creationId xmlns:a16="http://schemas.microsoft.com/office/drawing/2014/main" id="{5136D246-036E-EDA0-4248-3F04014ABFAE}"/>
              </a:ext>
            </a:extLst>
          </p:cNvPr>
          <p:cNvSpPr>
            <a:spLocks noGrp="1"/>
          </p:cNvSpPr>
          <p:nvPr>
            <p:ph type="subTitle" idx="1"/>
          </p:nvPr>
        </p:nvSpPr>
        <p:spPr>
          <a:xfrm>
            <a:off x="976312" y="1712788"/>
            <a:ext cx="7387036" cy="3509755"/>
          </a:xfrm>
        </p:spPr>
        <p:txBody>
          <a:bodyPr>
            <a:normAutofit/>
          </a:bodyPr>
          <a:lstStyle/>
          <a:p>
            <a:pPr marL="342900" indent="-342900" algn="l">
              <a:lnSpc>
                <a:spcPct val="150000"/>
              </a:lnSpc>
              <a:buFont typeface="Arial" panose="020B0604020202020204" pitchFamily="34" charset="0"/>
              <a:buChar char="•"/>
            </a:pPr>
            <a:r>
              <a:rPr lang="en-US" sz="2000" dirty="0"/>
              <a:t>As the processes allocated physical memory is not consecutive, (virtual) address space is introduced.</a:t>
            </a:r>
          </a:p>
          <a:p>
            <a:pPr marL="342900" indent="-342900" algn="l">
              <a:lnSpc>
                <a:spcPct val="150000"/>
              </a:lnSpc>
              <a:buFont typeface="Arial" panose="020B0604020202020204" pitchFamily="34" charset="0"/>
              <a:buChar char="•"/>
            </a:pPr>
            <a:r>
              <a:rPr lang="en-US" sz="2000" dirty="0"/>
              <a:t>Address space: abstraction of physical memory</a:t>
            </a:r>
          </a:p>
          <a:p>
            <a:pPr marL="342900" indent="-342900" algn="l">
              <a:lnSpc>
                <a:spcPct val="150000"/>
              </a:lnSpc>
              <a:buFont typeface="Arial" panose="020B0604020202020204" pitchFamily="34" charset="0"/>
              <a:buChar char="•"/>
            </a:pPr>
            <a:r>
              <a:rPr lang="en-US" sz="2000" dirty="0"/>
              <a:t>Every process assumes it has access to a large space of memory from 0 to a MAX</a:t>
            </a:r>
          </a:p>
          <a:p>
            <a:pPr marL="342900" indent="-342900" algn="l">
              <a:lnSpc>
                <a:spcPct val="150000"/>
              </a:lnSpc>
              <a:buFont typeface="Arial" panose="020B0604020202020204" pitchFamily="34" charset="0"/>
              <a:buChar char="•"/>
            </a:pPr>
            <a:r>
              <a:rPr lang="en-US" sz="2000" dirty="0"/>
              <a:t>CPU issues loads and stores to virtual addresses</a:t>
            </a:r>
          </a:p>
          <a:p>
            <a:pPr marL="342900" indent="-342900" algn="l">
              <a:lnSpc>
                <a:spcPct val="150000"/>
              </a:lnSpc>
              <a:buFont typeface="Arial" panose="020B0604020202020204" pitchFamily="34" charset="0"/>
              <a:buChar char="•"/>
            </a:pPr>
            <a:endParaRPr lang="en-US" sz="2000" dirty="0"/>
          </a:p>
        </p:txBody>
      </p:sp>
      <p:pic>
        <p:nvPicPr>
          <p:cNvPr id="6" name="Picture 5">
            <a:extLst>
              <a:ext uri="{FF2B5EF4-FFF2-40B4-BE49-F238E27FC236}">
                <a16:creationId xmlns:a16="http://schemas.microsoft.com/office/drawing/2014/main" id="{C2A51C39-DE05-0CB5-4535-5838B11C6336}"/>
              </a:ext>
            </a:extLst>
          </p:cNvPr>
          <p:cNvPicPr>
            <a:picLocks noChangeAspect="1"/>
          </p:cNvPicPr>
          <p:nvPr/>
        </p:nvPicPr>
        <p:blipFill>
          <a:blip r:embed="rId2"/>
          <a:stretch>
            <a:fillRect/>
          </a:stretch>
        </p:blipFill>
        <p:spPr>
          <a:xfrm>
            <a:off x="7307055" y="5711339"/>
            <a:ext cx="4429743" cy="447737"/>
          </a:xfrm>
          <a:prstGeom prst="rect">
            <a:avLst/>
          </a:prstGeom>
        </p:spPr>
      </p:pic>
      <p:pic>
        <p:nvPicPr>
          <p:cNvPr id="8" name="Picture 7">
            <a:extLst>
              <a:ext uri="{FF2B5EF4-FFF2-40B4-BE49-F238E27FC236}">
                <a16:creationId xmlns:a16="http://schemas.microsoft.com/office/drawing/2014/main" id="{07F2A30E-7658-EC21-3BF5-50304C3BDE1C}"/>
              </a:ext>
            </a:extLst>
          </p:cNvPr>
          <p:cNvPicPr>
            <a:picLocks noChangeAspect="1"/>
          </p:cNvPicPr>
          <p:nvPr/>
        </p:nvPicPr>
        <p:blipFill>
          <a:blip r:embed="rId3"/>
          <a:stretch>
            <a:fillRect/>
          </a:stretch>
        </p:blipFill>
        <p:spPr>
          <a:xfrm>
            <a:off x="8945747" y="1496376"/>
            <a:ext cx="2269941" cy="3657600"/>
          </a:xfrm>
          <a:prstGeom prst="rect">
            <a:avLst/>
          </a:prstGeom>
        </p:spPr>
      </p:pic>
    </p:spTree>
    <p:extLst>
      <p:ext uri="{BB962C8B-B14F-4D97-AF65-F5344CB8AC3E}">
        <p14:creationId xmlns:p14="http://schemas.microsoft.com/office/powerpoint/2010/main" val="29976159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848F5-1552-4316-ADB3-4EE4924B6477}"/>
              </a:ext>
            </a:extLst>
          </p:cNvPr>
          <p:cNvSpPr>
            <a:spLocks noGrp="1"/>
          </p:cNvSpPr>
          <p:nvPr>
            <p:ph type="ctrTitle"/>
          </p:nvPr>
        </p:nvSpPr>
        <p:spPr>
          <a:xfrm>
            <a:off x="1218460" y="464399"/>
            <a:ext cx="9755080" cy="737510"/>
          </a:xfrm>
        </p:spPr>
        <p:txBody>
          <a:bodyPr>
            <a:noAutofit/>
          </a:bodyPr>
          <a:lstStyle/>
          <a:p>
            <a:r>
              <a:rPr lang="en-US" sz="4200" dirty="0">
                <a:solidFill>
                  <a:srgbClr val="C00000"/>
                </a:solidFill>
              </a:rPr>
              <a:t>Abstraction: (Virtual) Address Space - 2</a:t>
            </a:r>
          </a:p>
        </p:txBody>
      </p:sp>
      <p:sp>
        <p:nvSpPr>
          <p:cNvPr id="3" name="Subtitle 2">
            <a:extLst>
              <a:ext uri="{FF2B5EF4-FFF2-40B4-BE49-F238E27FC236}">
                <a16:creationId xmlns:a16="http://schemas.microsoft.com/office/drawing/2014/main" id="{2C5DF914-4B40-4A23-8AAC-9CFE7F215ACD}"/>
              </a:ext>
            </a:extLst>
          </p:cNvPr>
          <p:cNvSpPr>
            <a:spLocks noGrp="1"/>
          </p:cNvSpPr>
          <p:nvPr>
            <p:ph type="subTitle" idx="1"/>
          </p:nvPr>
        </p:nvSpPr>
        <p:spPr>
          <a:xfrm>
            <a:off x="970377" y="1535365"/>
            <a:ext cx="10251246" cy="4028373"/>
          </a:xfrm>
        </p:spPr>
        <p:txBody>
          <a:bodyPr>
            <a:normAutofit/>
          </a:bodyPr>
          <a:lstStyle/>
          <a:p>
            <a:pPr marL="342900" indent="-342900" algn="l">
              <a:buFont typeface="Arial" panose="020B0604020202020204" pitchFamily="34" charset="0"/>
              <a:buChar char="•"/>
            </a:pPr>
            <a:r>
              <a:rPr lang="en-US" sz="2000" dirty="0"/>
              <a:t>The address space of a process contains all of the memory state of the running program. </a:t>
            </a:r>
          </a:p>
          <a:p>
            <a:pPr marL="342900" indent="-342900" algn="l">
              <a:buFont typeface="Arial" panose="020B0604020202020204" pitchFamily="34" charset="0"/>
              <a:buChar char="•"/>
            </a:pPr>
            <a:endParaRPr lang="en-US" sz="2000" dirty="0"/>
          </a:p>
          <a:p>
            <a:pPr marL="342900" indent="-342900" algn="l">
              <a:buFont typeface="Arial" panose="020B0604020202020204" pitchFamily="34" charset="0"/>
              <a:buChar char="•"/>
            </a:pPr>
            <a:r>
              <a:rPr lang="en-US" sz="2000" dirty="0"/>
              <a:t>For example, the </a:t>
            </a:r>
            <a:r>
              <a:rPr lang="en-US" sz="2000" b="1" dirty="0"/>
              <a:t>code </a:t>
            </a:r>
            <a:r>
              <a:rPr lang="en-US" sz="2000" dirty="0"/>
              <a:t>of the program (the instructions) have to live in memory somewhere, and thus they are in the address space. </a:t>
            </a:r>
            <a:br>
              <a:rPr lang="en-US" sz="2000" dirty="0"/>
            </a:br>
            <a:endParaRPr lang="en-US" sz="2000" dirty="0"/>
          </a:p>
          <a:p>
            <a:pPr marL="342900" indent="-342900" algn="l">
              <a:buFont typeface="Arial" panose="020B0604020202020204" pitchFamily="34" charset="0"/>
              <a:buChar char="•"/>
            </a:pPr>
            <a:r>
              <a:rPr lang="en-US" sz="2000" dirty="0"/>
              <a:t>The program, while it is running, uses a </a:t>
            </a:r>
            <a:r>
              <a:rPr lang="en-US" sz="2000" b="1" dirty="0"/>
              <a:t>stack </a:t>
            </a:r>
            <a:r>
              <a:rPr lang="en-US" sz="2000" dirty="0"/>
              <a:t>to keep track of where it is in the function call chain as well as to allocate local variables and pass parameters and return values to and from routines. </a:t>
            </a:r>
          </a:p>
          <a:p>
            <a:pPr marL="342900" indent="-342900" algn="l">
              <a:buFont typeface="Arial" panose="020B0604020202020204" pitchFamily="34" charset="0"/>
              <a:buChar char="•"/>
            </a:pPr>
            <a:endParaRPr lang="en-US" sz="2000" dirty="0"/>
          </a:p>
          <a:p>
            <a:pPr marL="342900" indent="-342900" algn="l">
              <a:buFont typeface="Arial" panose="020B0604020202020204" pitchFamily="34" charset="0"/>
              <a:buChar char="•"/>
            </a:pPr>
            <a:r>
              <a:rPr lang="en-US" sz="2000" dirty="0"/>
              <a:t>Finally, the </a:t>
            </a:r>
            <a:r>
              <a:rPr lang="en-US" sz="2000" b="1" dirty="0"/>
              <a:t>heap </a:t>
            </a:r>
            <a:r>
              <a:rPr lang="en-US" sz="2000" dirty="0"/>
              <a:t>is used for dynamically-allocated, user-managed memory, such as that you might receive from a call to malloc() in C or new in an object oriented language such as C++ or Java.</a:t>
            </a:r>
          </a:p>
        </p:txBody>
      </p:sp>
    </p:spTree>
    <p:extLst>
      <p:ext uri="{BB962C8B-B14F-4D97-AF65-F5344CB8AC3E}">
        <p14:creationId xmlns:p14="http://schemas.microsoft.com/office/powerpoint/2010/main" val="37609053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848F5-1552-4316-ADB3-4EE4924B6477}"/>
              </a:ext>
            </a:extLst>
          </p:cNvPr>
          <p:cNvSpPr>
            <a:spLocks noGrp="1"/>
          </p:cNvSpPr>
          <p:nvPr>
            <p:ph type="ctrTitle"/>
          </p:nvPr>
        </p:nvSpPr>
        <p:spPr>
          <a:xfrm>
            <a:off x="1218460" y="323372"/>
            <a:ext cx="10452740" cy="742228"/>
          </a:xfrm>
        </p:spPr>
        <p:txBody>
          <a:bodyPr>
            <a:noAutofit/>
          </a:bodyPr>
          <a:lstStyle/>
          <a:p>
            <a:r>
              <a:rPr lang="en-US" sz="4200" dirty="0">
                <a:solidFill>
                  <a:srgbClr val="C00000"/>
                </a:solidFill>
              </a:rPr>
              <a:t>How is actual memory reached? </a:t>
            </a:r>
          </a:p>
        </p:txBody>
      </p:sp>
      <p:sp>
        <p:nvSpPr>
          <p:cNvPr id="3" name="Subtitle 2">
            <a:extLst>
              <a:ext uri="{FF2B5EF4-FFF2-40B4-BE49-F238E27FC236}">
                <a16:creationId xmlns:a16="http://schemas.microsoft.com/office/drawing/2014/main" id="{2C5DF914-4B40-4A23-8AAC-9CFE7F215ACD}"/>
              </a:ext>
            </a:extLst>
          </p:cNvPr>
          <p:cNvSpPr>
            <a:spLocks noGrp="1"/>
          </p:cNvSpPr>
          <p:nvPr>
            <p:ph type="subTitle" idx="1"/>
          </p:nvPr>
        </p:nvSpPr>
        <p:spPr>
          <a:xfrm>
            <a:off x="889242" y="1560866"/>
            <a:ext cx="5657296" cy="4585295"/>
          </a:xfrm>
        </p:spPr>
        <p:txBody>
          <a:bodyPr>
            <a:normAutofit/>
          </a:bodyPr>
          <a:lstStyle/>
          <a:p>
            <a:pPr marL="342900" indent="-342900" algn="l">
              <a:lnSpc>
                <a:spcPct val="150000"/>
              </a:lnSpc>
              <a:buFont typeface="Arial" panose="020B0604020202020204" pitchFamily="34" charset="0"/>
              <a:buChar char="•"/>
            </a:pPr>
            <a:r>
              <a:rPr lang="en-US" sz="1800" dirty="0"/>
              <a:t>Address translation from virtual address (VA) to physical address (PA)</a:t>
            </a:r>
          </a:p>
          <a:p>
            <a:pPr lvl="1" algn="l">
              <a:lnSpc>
                <a:spcPct val="150000"/>
              </a:lnSpc>
            </a:pPr>
            <a:r>
              <a:rPr lang="en-US" sz="1800" dirty="0"/>
              <a:t>--- CPU issues loads/stores to VA, but memory hardware access PA</a:t>
            </a:r>
          </a:p>
          <a:p>
            <a:pPr marL="342900" indent="-342900" algn="l">
              <a:lnSpc>
                <a:spcPct val="150000"/>
              </a:lnSpc>
              <a:buFont typeface="Arial" panose="020B0604020202020204" pitchFamily="34" charset="0"/>
              <a:buChar char="•"/>
            </a:pPr>
            <a:r>
              <a:rPr lang="en-US" sz="1800" dirty="0"/>
              <a:t>OS allocates memory and tracks the location of processes</a:t>
            </a:r>
          </a:p>
          <a:p>
            <a:pPr marL="342900" indent="-342900" algn="l">
              <a:lnSpc>
                <a:spcPct val="150000"/>
              </a:lnSpc>
              <a:buFont typeface="Arial" panose="020B0604020202020204" pitchFamily="34" charset="0"/>
              <a:buChar char="•"/>
            </a:pPr>
            <a:r>
              <a:rPr lang="en-US" sz="1800" dirty="0"/>
              <a:t>Translation done by memory hardware called Memory Management Unit (MMU)</a:t>
            </a:r>
          </a:p>
          <a:p>
            <a:pPr lvl="1" algn="l">
              <a:lnSpc>
                <a:spcPct val="150000"/>
              </a:lnSpc>
            </a:pPr>
            <a:r>
              <a:rPr lang="en-US" sz="1800" dirty="0"/>
              <a:t>--- OS makes the necessary information available</a:t>
            </a:r>
          </a:p>
          <a:p>
            <a:pPr algn="l">
              <a:lnSpc>
                <a:spcPct val="150000"/>
              </a:lnSpc>
            </a:pPr>
            <a:endParaRPr lang="en-US" sz="1800" dirty="0"/>
          </a:p>
          <a:p>
            <a:pPr lvl="1" algn="l">
              <a:lnSpc>
                <a:spcPct val="150000"/>
              </a:lnSpc>
            </a:pPr>
            <a:endParaRPr lang="en-US" sz="1800" dirty="0"/>
          </a:p>
          <a:p>
            <a:pPr lvl="1" algn="l">
              <a:lnSpc>
                <a:spcPct val="150000"/>
              </a:lnSpc>
            </a:pPr>
            <a:endParaRPr lang="en-US" sz="1800" dirty="0"/>
          </a:p>
          <a:p>
            <a:pPr marL="342900" indent="-342900" algn="l">
              <a:lnSpc>
                <a:spcPct val="150000"/>
              </a:lnSpc>
              <a:buFont typeface="Arial" panose="020B0604020202020204" pitchFamily="34" charset="0"/>
              <a:buChar char="•"/>
            </a:pPr>
            <a:endParaRPr lang="en-US" sz="1800" dirty="0"/>
          </a:p>
        </p:txBody>
      </p:sp>
      <p:pic>
        <p:nvPicPr>
          <p:cNvPr id="7" name="Picture 6">
            <a:extLst>
              <a:ext uri="{FF2B5EF4-FFF2-40B4-BE49-F238E27FC236}">
                <a16:creationId xmlns:a16="http://schemas.microsoft.com/office/drawing/2014/main" id="{5EA353A6-8000-E090-36F3-B0C3E591339E}"/>
              </a:ext>
            </a:extLst>
          </p:cNvPr>
          <p:cNvPicPr>
            <a:picLocks noChangeAspect="1"/>
          </p:cNvPicPr>
          <p:nvPr/>
        </p:nvPicPr>
        <p:blipFill>
          <a:blip r:embed="rId2"/>
          <a:stretch>
            <a:fillRect/>
          </a:stretch>
        </p:blipFill>
        <p:spPr>
          <a:xfrm>
            <a:off x="7116169" y="1475128"/>
            <a:ext cx="2476846" cy="4182059"/>
          </a:xfrm>
          <a:prstGeom prst="rect">
            <a:avLst/>
          </a:prstGeom>
        </p:spPr>
      </p:pic>
      <p:pic>
        <p:nvPicPr>
          <p:cNvPr id="9" name="Picture 8">
            <a:extLst>
              <a:ext uri="{FF2B5EF4-FFF2-40B4-BE49-F238E27FC236}">
                <a16:creationId xmlns:a16="http://schemas.microsoft.com/office/drawing/2014/main" id="{F823D292-F65C-EC3C-83F8-12BB3321C06B}"/>
              </a:ext>
            </a:extLst>
          </p:cNvPr>
          <p:cNvPicPr>
            <a:picLocks noChangeAspect="1"/>
          </p:cNvPicPr>
          <p:nvPr/>
        </p:nvPicPr>
        <p:blipFill>
          <a:blip r:embed="rId3"/>
          <a:stretch>
            <a:fillRect/>
          </a:stretch>
        </p:blipFill>
        <p:spPr>
          <a:xfrm>
            <a:off x="9984979" y="1560866"/>
            <a:ext cx="1714739" cy="4010585"/>
          </a:xfrm>
          <a:prstGeom prst="rect">
            <a:avLst/>
          </a:prstGeom>
        </p:spPr>
      </p:pic>
      <p:cxnSp>
        <p:nvCxnSpPr>
          <p:cNvPr id="11" name="Straight Arrow Connector 10">
            <a:extLst>
              <a:ext uri="{FF2B5EF4-FFF2-40B4-BE49-F238E27FC236}">
                <a16:creationId xmlns:a16="http://schemas.microsoft.com/office/drawing/2014/main" id="{81EEF2A0-AE15-E4F6-0374-40D9197ED251}"/>
              </a:ext>
            </a:extLst>
          </p:cNvPr>
          <p:cNvCxnSpPr/>
          <p:nvPr/>
        </p:nvCxnSpPr>
        <p:spPr>
          <a:xfrm flipH="1">
            <a:off x="9531709" y="1699260"/>
            <a:ext cx="453270" cy="2537460"/>
          </a:xfrm>
          <a:prstGeom prst="straightConnector1">
            <a:avLst/>
          </a:prstGeom>
          <a:ln w="12700">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5" name="Straight Arrow Connector 14">
            <a:extLst>
              <a:ext uri="{FF2B5EF4-FFF2-40B4-BE49-F238E27FC236}">
                <a16:creationId xmlns:a16="http://schemas.microsoft.com/office/drawing/2014/main" id="{F672AB31-D6AD-D22E-9F82-0F9E5E5DE5C2}"/>
              </a:ext>
            </a:extLst>
          </p:cNvPr>
          <p:cNvCxnSpPr/>
          <p:nvPr/>
        </p:nvCxnSpPr>
        <p:spPr>
          <a:xfrm flipH="1" flipV="1">
            <a:off x="9562362" y="4556760"/>
            <a:ext cx="422617" cy="929640"/>
          </a:xfrm>
          <a:prstGeom prst="straightConnector1">
            <a:avLst/>
          </a:prstGeom>
          <a:ln w="12700">
            <a:tailEnd type="triangle"/>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16009430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848F5-1552-4316-ADB3-4EE4924B6477}"/>
              </a:ext>
            </a:extLst>
          </p:cNvPr>
          <p:cNvSpPr>
            <a:spLocks noGrp="1"/>
          </p:cNvSpPr>
          <p:nvPr>
            <p:ph type="ctrTitle"/>
          </p:nvPr>
        </p:nvSpPr>
        <p:spPr>
          <a:xfrm>
            <a:off x="1056801" y="179991"/>
            <a:ext cx="10452740" cy="742228"/>
          </a:xfrm>
        </p:spPr>
        <p:txBody>
          <a:bodyPr>
            <a:noAutofit/>
          </a:bodyPr>
          <a:lstStyle/>
          <a:p>
            <a:r>
              <a:rPr lang="en-US" sz="4200" dirty="0">
                <a:solidFill>
                  <a:srgbClr val="C00000"/>
                </a:solidFill>
              </a:rPr>
              <a:t>An example</a:t>
            </a:r>
          </a:p>
        </p:txBody>
      </p:sp>
      <p:sp>
        <p:nvSpPr>
          <p:cNvPr id="8" name="Subtitle 7">
            <a:extLst>
              <a:ext uri="{FF2B5EF4-FFF2-40B4-BE49-F238E27FC236}">
                <a16:creationId xmlns:a16="http://schemas.microsoft.com/office/drawing/2014/main" id="{0794F433-5CC3-C584-4C7F-3A44B1BFF096}"/>
              </a:ext>
            </a:extLst>
          </p:cNvPr>
          <p:cNvSpPr>
            <a:spLocks noGrp="1"/>
          </p:cNvSpPr>
          <p:nvPr>
            <p:ph type="subTitle" idx="1"/>
          </p:nvPr>
        </p:nvSpPr>
        <p:spPr>
          <a:xfrm>
            <a:off x="1524000" y="1018059"/>
            <a:ext cx="9144000" cy="819837"/>
          </a:xfrm>
        </p:spPr>
        <p:txBody>
          <a:bodyPr/>
          <a:lstStyle/>
          <a:p>
            <a:pPr algn="l"/>
            <a:r>
              <a:rPr lang="en-US" dirty="0">
                <a:solidFill>
                  <a:srgbClr val="C00000"/>
                </a:solidFill>
              </a:rPr>
              <a:t>Question: What are the outputs? Are there physical or virtual memory addresses?</a:t>
            </a:r>
          </a:p>
        </p:txBody>
      </p:sp>
      <p:pic>
        <p:nvPicPr>
          <p:cNvPr id="11" name="Picture 10">
            <a:extLst>
              <a:ext uri="{FF2B5EF4-FFF2-40B4-BE49-F238E27FC236}">
                <a16:creationId xmlns:a16="http://schemas.microsoft.com/office/drawing/2014/main" id="{95CDA85A-EBB8-CF5A-47FF-17746B0C8C70}"/>
              </a:ext>
            </a:extLst>
          </p:cNvPr>
          <p:cNvPicPr>
            <a:picLocks noChangeAspect="1"/>
          </p:cNvPicPr>
          <p:nvPr/>
        </p:nvPicPr>
        <p:blipFill>
          <a:blip r:embed="rId2"/>
          <a:stretch>
            <a:fillRect/>
          </a:stretch>
        </p:blipFill>
        <p:spPr>
          <a:xfrm>
            <a:off x="3493936" y="1933736"/>
            <a:ext cx="5204128" cy="2011680"/>
          </a:xfrm>
          <a:prstGeom prst="rect">
            <a:avLst/>
          </a:prstGeom>
        </p:spPr>
      </p:pic>
      <p:sp>
        <p:nvSpPr>
          <p:cNvPr id="13" name="Subtitle 7">
            <a:extLst>
              <a:ext uri="{FF2B5EF4-FFF2-40B4-BE49-F238E27FC236}">
                <a16:creationId xmlns:a16="http://schemas.microsoft.com/office/drawing/2014/main" id="{AAA64267-CFC6-016F-3646-6B874F7D0027}"/>
              </a:ext>
            </a:extLst>
          </p:cNvPr>
          <p:cNvSpPr txBox="1">
            <a:spLocks/>
          </p:cNvSpPr>
          <p:nvPr/>
        </p:nvSpPr>
        <p:spPr>
          <a:xfrm>
            <a:off x="1523999" y="4127500"/>
            <a:ext cx="9144000" cy="558232"/>
          </a:xfrm>
          <a:prstGeom prst="rect">
            <a:avLst/>
          </a:prstGeom>
        </p:spPr>
        <p:txBody>
          <a:bodyPr vert="horz" lIns="91440" tIns="45720" rIns="91440" bIns="45720" rtlCol="0">
            <a:norm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en-US" dirty="0"/>
              <a:t>Outputs:</a:t>
            </a:r>
          </a:p>
        </p:txBody>
      </p:sp>
      <p:pic>
        <p:nvPicPr>
          <p:cNvPr id="15" name="Picture 14">
            <a:extLst>
              <a:ext uri="{FF2B5EF4-FFF2-40B4-BE49-F238E27FC236}">
                <a16:creationId xmlns:a16="http://schemas.microsoft.com/office/drawing/2014/main" id="{FFDBC884-F42F-058C-A50E-296114EF6F73}"/>
              </a:ext>
            </a:extLst>
          </p:cNvPr>
          <p:cNvPicPr>
            <a:picLocks noChangeAspect="1"/>
          </p:cNvPicPr>
          <p:nvPr/>
        </p:nvPicPr>
        <p:blipFill>
          <a:blip r:embed="rId3"/>
          <a:stretch>
            <a:fillRect/>
          </a:stretch>
        </p:blipFill>
        <p:spPr>
          <a:xfrm>
            <a:off x="4307552" y="4745347"/>
            <a:ext cx="3951238" cy="731520"/>
          </a:xfrm>
          <a:prstGeom prst="rect">
            <a:avLst/>
          </a:prstGeom>
        </p:spPr>
      </p:pic>
    </p:spTree>
    <p:extLst>
      <p:ext uri="{BB962C8B-B14F-4D97-AF65-F5344CB8AC3E}">
        <p14:creationId xmlns:p14="http://schemas.microsoft.com/office/powerpoint/2010/main" val="13441195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7D224A-BE75-DA74-8FDD-5A1B1347E2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FD97C7C-523C-DBAC-87EF-CDC3AEDC7D65}"/>
              </a:ext>
            </a:extLst>
          </p:cNvPr>
          <p:cNvSpPr>
            <a:spLocks noGrp="1"/>
          </p:cNvSpPr>
          <p:nvPr>
            <p:ph type="ctrTitle"/>
          </p:nvPr>
        </p:nvSpPr>
        <p:spPr>
          <a:xfrm>
            <a:off x="1056801" y="512088"/>
            <a:ext cx="10452740" cy="742228"/>
          </a:xfrm>
        </p:spPr>
        <p:txBody>
          <a:bodyPr>
            <a:noAutofit/>
          </a:bodyPr>
          <a:lstStyle/>
          <a:p>
            <a:r>
              <a:rPr lang="en-US" sz="4200" dirty="0">
                <a:solidFill>
                  <a:srgbClr val="C00000"/>
                </a:solidFill>
              </a:rPr>
              <a:t>Checking the memory map of a process - 1</a:t>
            </a:r>
          </a:p>
        </p:txBody>
      </p:sp>
      <p:sp>
        <p:nvSpPr>
          <p:cNvPr id="8" name="Subtitle 7">
            <a:extLst>
              <a:ext uri="{FF2B5EF4-FFF2-40B4-BE49-F238E27FC236}">
                <a16:creationId xmlns:a16="http://schemas.microsoft.com/office/drawing/2014/main" id="{EE919E46-7ECC-2AAC-25C8-FBAC33803D3D}"/>
              </a:ext>
            </a:extLst>
          </p:cNvPr>
          <p:cNvSpPr>
            <a:spLocks noGrp="1"/>
          </p:cNvSpPr>
          <p:nvPr>
            <p:ph type="subTitle" idx="1"/>
          </p:nvPr>
        </p:nvSpPr>
        <p:spPr>
          <a:xfrm>
            <a:off x="1524000" y="1996151"/>
            <a:ext cx="9144000" cy="1834322"/>
          </a:xfrm>
        </p:spPr>
        <p:txBody>
          <a:bodyPr/>
          <a:lstStyle/>
          <a:p>
            <a:pPr marL="342900" indent="-342900" algn="l">
              <a:buFont typeface="Arial" panose="020B0604020202020204" pitchFamily="34" charset="0"/>
              <a:buChar char="•"/>
            </a:pPr>
            <a:r>
              <a:rPr lang="en-US" dirty="0"/>
              <a:t>The </a:t>
            </a:r>
            <a:r>
              <a:rPr lang="en-US" b="1" dirty="0" err="1"/>
              <a:t>pmap</a:t>
            </a:r>
            <a:r>
              <a:rPr lang="en-US" dirty="0"/>
              <a:t> command in Linux is a powerful utility used to display the memory map of a process.</a:t>
            </a:r>
          </a:p>
          <a:p>
            <a:pPr algn="l"/>
            <a:endParaRPr lang="en-US" dirty="0"/>
          </a:p>
          <a:p>
            <a:pPr marL="342900" indent="-342900" algn="l">
              <a:buFont typeface="Arial" panose="020B0604020202020204" pitchFamily="34" charset="0"/>
              <a:buChar char="•"/>
            </a:pPr>
            <a:r>
              <a:rPr lang="en-US" dirty="0"/>
              <a:t>Syntax</a:t>
            </a:r>
          </a:p>
          <a:p>
            <a:pPr marL="342900" indent="-342900" algn="l">
              <a:buFont typeface="Arial" panose="020B0604020202020204" pitchFamily="34" charset="0"/>
              <a:buChar char="•"/>
            </a:pPr>
            <a:endParaRPr lang="en-US" dirty="0"/>
          </a:p>
          <a:p>
            <a:pPr algn="l"/>
            <a:endParaRPr lang="en-US" dirty="0"/>
          </a:p>
        </p:txBody>
      </p:sp>
      <p:pic>
        <p:nvPicPr>
          <p:cNvPr id="9" name="Picture 8">
            <a:extLst>
              <a:ext uri="{FF2B5EF4-FFF2-40B4-BE49-F238E27FC236}">
                <a16:creationId xmlns:a16="http://schemas.microsoft.com/office/drawing/2014/main" id="{EB631679-7627-9938-41FC-9155373D1851}"/>
              </a:ext>
            </a:extLst>
          </p:cNvPr>
          <p:cNvPicPr>
            <a:picLocks noChangeAspect="1"/>
          </p:cNvPicPr>
          <p:nvPr/>
        </p:nvPicPr>
        <p:blipFill>
          <a:blip r:embed="rId2"/>
          <a:stretch>
            <a:fillRect/>
          </a:stretch>
        </p:blipFill>
        <p:spPr>
          <a:xfrm>
            <a:off x="696760" y="3657908"/>
            <a:ext cx="11172822" cy="914400"/>
          </a:xfrm>
          <a:prstGeom prst="rect">
            <a:avLst/>
          </a:prstGeom>
        </p:spPr>
      </p:pic>
    </p:spTree>
    <p:extLst>
      <p:ext uri="{BB962C8B-B14F-4D97-AF65-F5344CB8AC3E}">
        <p14:creationId xmlns:p14="http://schemas.microsoft.com/office/powerpoint/2010/main" val="206391209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8D23EB-A25D-D952-E6A4-670B4AD920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CFF150-27E1-AF62-A6E9-5C31B12137EA}"/>
              </a:ext>
            </a:extLst>
          </p:cNvPr>
          <p:cNvSpPr>
            <a:spLocks noGrp="1"/>
          </p:cNvSpPr>
          <p:nvPr>
            <p:ph type="ctrTitle"/>
          </p:nvPr>
        </p:nvSpPr>
        <p:spPr>
          <a:xfrm>
            <a:off x="1070449" y="334666"/>
            <a:ext cx="10452740" cy="506946"/>
          </a:xfrm>
        </p:spPr>
        <p:txBody>
          <a:bodyPr>
            <a:noAutofit/>
          </a:bodyPr>
          <a:lstStyle/>
          <a:p>
            <a:r>
              <a:rPr lang="en-US" sz="3600" dirty="0">
                <a:solidFill>
                  <a:srgbClr val="C00000"/>
                </a:solidFill>
              </a:rPr>
              <a:t>Checking the memory map of a process - 2</a:t>
            </a:r>
          </a:p>
        </p:txBody>
      </p:sp>
      <p:sp>
        <p:nvSpPr>
          <p:cNvPr id="8" name="Subtitle 7">
            <a:extLst>
              <a:ext uri="{FF2B5EF4-FFF2-40B4-BE49-F238E27FC236}">
                <a16:creationId xmlns:a16="http://schemas.microsoft.com/office/drawing/2014/main" id="{43C859E3-279E-881E-ACA8-59760786DF32}"/>
              </a:ext>
            </a:extLst>
          </p:cNvPr>
          <p:cNvSpPr>
            <a:spLocks noGrp="1"/>
          </p:cNvSpPr>
          <p:nvPr>
            <p:ph type="subTitle" idx="1"/>
          </p:nvPr>
        </p:nvSpPr>
        <p:spPr>
          <a:xfrm>
            <a:off x="1481682" y="841612"/>
            <a:ext cx="9639869" cy="1124637"/>
          </a:xfrm>
        </p:spPr>
        <p:txBody>
          <a:bodyPr>
            <a:normAutofit/>
          </a:bodyPr>
          <a:lstStyle/>
          <a:p>
            <a:pPr marL="342900" indent="-342900" algn="l">
              <a:buFont typeface="Arial" panose="020B0604020202020204" pitchFamily="34" charset="0"/>
              <a:buChar char="•"/>
            </a:pPr>
            <a:r>
              <a:rPr lang="en-US" sz="2200" dirty="0"/>
              <a:t>Example, -x</a:t>
            </a:r>
          </a:p>
          <a:p>
            <a:pPr lvl="1" algn="l"/>
            <a:r>
              <a:rPr lang="en-US" sz="1800" dirty="0"/>
              <a:t>This option displays the memory map in an extended format, which provides additional details such as the resident memory size (RSS), shared memory size, private memory size, and more.</a:t>
            </a:r>
          </a:p>
          <a:p>
            <a:pPr algn="l"/>
            <a:endParaRPr lang="en-US" dirty="0"/>
          </a:p>
        </p:txBody>
      </p:sp>
      <p:pic>
        <p:nvPicPr>
          <p:cNvPr id="4" name="Picture 3">
            <a:extLst>
              <a:ext uri="{FF2B5EF4-FFF2-40B4-BE49-F238E27FC236}">
                <a16:creationId xmlns:a16="http://schemas.microsoft.com/office/drawing/2014/main" id="{49EA7813-9720-BFC3-53D4-7C4AAB8470D5}"/>
              </a:ext>
            </a:extLst>
          </p:cNvPr>
          <p:cNvPicPr>
            <a:picLocks noChangeAspect="1"/>
          </p:cNvPicPr>
          <p:nvPr/>
        </p:nvPicPr>
        <p:blipFill>
          <a:blip r:embed="rId2"/>
          <a:stretch>
            <a:fillRect/>
          </a:stretch>
        </p:blipFill>
        <p:spPr>
          <a:xfrm>
            <a:off x="1822194" y="1897039"/>
            <a:ext cx="8949250" cy="4754880"/>
          </a:xfrm>
          <a:prstGeom prst="rect">
            <a:avLst/>
          </a:prstGeom>
        </p:spPr>
      </p:pic>
    </p:spTree>
    <p:extLst>
      <p:ext uri="{BB962C8B-B14F-4D97-AF65-F5344CB8AC3E}">
        <p14:creationId xmlns:p14="http://schemas.microsoft.com/office/powerpoint/2010/main" val="349462417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695</TotalTime>
  <Words>747</Words>
  <Application>Microsoft Office PowerPoint</Application>
  <PresentationFormat>Widescreen</PresentationFormat>
  <Paragraphs>59</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Calibri Light</vt:lpstr>
      <vt:lpstr>Office Theme</vt:lpstr>
      <vt:lpstr>PowerPoint Presentation</vt:lpstr>
      <vt:lpstr>Reading Assignment</vt:lpstr>
      <vt:lpstr>Agenda</vt:lpstr>
      <vt:lpstr>OS: The early days</vt:lpstr>
      <vt:lpstr>Multiprogram and time-sharing</vt:lpstr>
      <vt:lpstr>Residence of all processes in the memory</vt:lpstr>
      <vt:lpstr>Abstraction: (Virtual) Address Space - 1</vt:lpstr>
      <vt:lpstr>Abstraction: (Virtual) Address Space - 2</vt:lpstr>
      <vt:lpstr>How is actual memory reached? </vt:lpstr>
      <vt:lpstr>An example</vt:lpstr>
      <vt:lpstr>Checking the memory map of a process - 1</vt:lpstr>
      <vt:lpstr>Checking the memory map of a process - 2</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Jie Zhao</dc:creator>
  <cp:lastModifiedBy>Zhao, Jie</cp:lastModifiedBy>
  <cp:revision>7</cp:revision>
  <dcterms:created xsi:type="dcterms:W3CDTF">2023-08-19T20:44:10Z</dcterms:created>
  <dcterms:modified xsi:type="dcterms:W3CDTF">2026-02-22T21:58:04Z</dcterms:modified>
</cp:coreProperties>
</file>